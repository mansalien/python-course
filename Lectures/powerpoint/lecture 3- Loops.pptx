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7" r:id="rId2"/>
    <p:sldId id="345" r:id="rId3"/>
    <p:sldId id="335" r:id="rId4"/>
    <p:sldId id="336" r:id="rId5"/>
    <p:sldId id="337" r:id="rId6"/>
    <p:sldId id="338" r:id="rId7"/>
    <p:sldId id="258" r:id="rId8"/>
    <p:sldId id="320" r:id="rId9"/>
    <p:sldId id="339" r:id="rId10"/>
    <p:sldId id="303" r:id="rId11"/>
    <p:sldId id="270" r:id="rId12"/>
    <p:sldId id="271" r:id="rId13"/>
    <p:sldId id="273" r:id="rId14"/>
    <p:sldId id="340" r:id="rId15"/>
    <p:sldId id="341" r:id="rId16"/>
    <p:sldId id="346" r:id="rId17"/>
    <p:sldId id="342" r:id="rId18"/>
    <p:sldId id="348" r:id="rId19"/>
    <p:sldId id="343" r:id="rId20"/>
    <p:sldId id="349" r:id="rId21"/>
    <p:sldId id="344" r:id="rId22"/>
    <p:sldId id="350" r:id="rId23"/>
    <p:sldId id="35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4375"/>
  </p:normalViewPr>
  <p:slideViewPr>
    <p:cSldViewPr snapToGrid="0">
      <p:cViewPr>
        <p:scale>
          <a:sx n="66" d="100"/>
          <a:sy n="66" d="100"/>
        </p:scale>
        <p:origin x="10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71B64D-6CF6-4422-AF39-79AC4536332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73AA86-C367-4A35-8D54-EBF3354B7124}">
      <dgm:prSet/>
      <dgm:spPr/>
      <dgm:t>
        <a:bodyPr/>
        <a:lstStyle/>
        <a:p>
          <a:r>
            <a:rPr lang="en-US" dirty="0"/>
            <a:t>• Introduction to loops: </a:t>
          </a:r>
        </a:p>
        <a:p>
          <a:r>
            <a:rPr lang="en-US" dirty="0"/>
            <a:t>`for` and `while` loops </a:t>
          </a:r>
        </a:p>
      </dgm:t>
    </dgm:pt>
    <dgm:pt modelId="{C6DD2D01-A84A-4DC3-A623-055620415BA1}" type="parTrans" cxnId="{D42DCE1D-D5AD-44FD-B504-F7B50EEA4ADB}">
      <dgm:prSet/>
      <dgm:spPr/>
      <dgm:t>
        <a:bodyPr/>
        <a:lstStyle/>
        <a:p>
          <a:endParaRPr lang="en-US"/>
        </a:p>
      </dgm:t>
    </dgm:pt>
    <dgm:pt modelId="{1CFBCA66-2CC0-4013-9170-1BD902A7C81E}" type="sibTrans" cxnId="{D42DCE1D-D5AD-44FD-B504-F7B50EEA4ADB}">
      <dgm:prSet/>
      <dgm:spPr/>
      <dgm:t>
        <a:bodyPr/>
        <a:lstStyle/>
        <a:p>
          <a:endParaRPr lang="en-US"/>
        </a:p>
      </dgm:t>
    </dgm:pt>
    <dgm:pt modelId="{E3FFF834-57ED-418B-BD3B-82AC36026472}">
      <dgm:prSet/>
      <dgm:spPr/>
      <dgm:t>
        <a:bodyPr/>
        <a:lstStyle/>
        <a:p>
          <a:r>
            <a:rPr lang="en-US"/>
            <a:t>• Using `range()` with `for` loops </a:t>
          </a:r>
        </a:p>
      </dgm:t>
    </dgm:pt>
    <dgm:pt modelId="{42867E48-9831-44E7-81C4-D3B1C20220A4}" type="parTrans" cxnId="{BBCCB266-648B-46F6-BD99-BFA0A5170A8A}">
      <dgm:prSet/>
      <dgm:spPr/>
      <dgm:t>
        <a:bodyPr/>
        <a:lstStyle/>
        <a:p>
          <a:endParaRPr lang="en-US"/>
        </a:p>
      </dgm:t>
    </dgm:pt>
    <dgm:pt modelId="{6D34B8B9-CA26-46F6-A15D-7A600595C086}" type="sibTrans" cxnId="{BBCCB266-648B-46F6-BD99-BFA0A5170A8A}">
      <dgm:prSet/>
      <dgm:spPr/>
      <dgm:t>
        <a:bodyPr/>
        <a:lstStyle/>
        <a:p>
          <a:endParaRPr lang="en-US"/>
        </a:p>
      </dgm:t>
    </dgm:pt>
    <dgm:pt modelId="{278A29AA-9693-4E0A-966E-87F8D0AA0BCF}">
      <dgm:prSet/>
      <dgm:spPr/>
      <dgm:t>
        <a:bodyPr/>
        <a:lstStyle/>
        <a:p>
          <a:r>
            <a:rPr lang="en-US" dirty="0"/>
            <a:t>• Infinite loops and loop control with `break`, `continue`, and `else`</a:t>
          </a:r>
        </a:p>
      </dgm:t>
    </dgm:pt>
    <dgm:pt modelId="{6D4C92D1-555A-48BF-A7C3-79D1DE530ADC}" type="parTrans" cxnId="{707C5CCD-E4EA-4F6C-8C48-8FA2256AA170}">
      <dgm:prSet/>
      <dgm:spPr/>
      <dgm:t>
        <a:bodyPr/>
        <a:lstStyle/>
        <a:p>
          <a:endParaRPr lang="en-US"/>
        </a:p>
      </dgm:t>
    </dgm:pt>
    <dgm:pt modelId="{91A6618F-1DF3-43FB-8B9D-4F3579D1B976}" type="sibTrans" cxnId="{707C5CCD-E4EA-4F6C-8C48-8FA2256AA170}">
      <dgm:prSet/>
      <dgm:spPr/>
      <dgm:t>
        <a:bodyPr/>
        <a:lstStyle/>
        <a:p>
          <a:endParaRPr lang="en-US"/>
        </a:p>
      </dgm:t>
    </dgm:pt>
    <dgm:pt modelId="{3A5DDFC3-8571-4485-A969-224094878DBC}" type="pres">
      <dgm:prSet presAssocID="{2171B64D-6CF6-4422-AF39-79AC4536332C}" presName="root" presStyleCnt="0">
        <dgm:presLayoutVars>
          <dgm:dir/>
          <dgm:resizeHandles val="exact"/>
        </dgm:presLayoutVars>
      </dgm:prSet>
      <dgm:spPr/>
    </dgm:pt>
    <dgm:pt modelId="{9616DAED-1C1A-4B8F-B023-985006007CD9}" type="pres">
      <dgm:prSet presAssocID="{1873AA86-C367-4A35-8D54-EBF3354B7124}" presName="compNode" presStyleCnt="0"/>
      <dgm:spPr/>
    </dgm:pt>
    <dgm:pt modelId="{F7E51C7E-89E4-493A-BFAA-018691FD7523}" type="pres">
      <dgm:prSet presAssocID="{1873AA86-C367-4A35-8D54-EBF3354B7124}" presName="bgRect" presStyleLbl="bgShp" presStyleIdx="0" presStyleCnt="3"/>
      <dgm:spPr/>
    </dgm:pt>
    <dgm:pt modelId="{1795200F-9AAE-470D-ADAA-5784BD27B96F}" type="pres">
      <dgm:prSet presAssocID="{1873AA86-C367-4A35-8D54-EBF3354B71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A78B23B-2012-4E10-AB98-21532269A497}" type="pres">
      <dgm:prSet presAssocID="{1873AA86-C367-4A35-8D54-EBF3354B7124}" presName="spaceRect" presStyleCnt="0"/>
      <dgm:spPr/>
    </dgm:pt>
    <dgm:pt modelId="{DABBB8E0-2303-4244-8A56-863862F034C6}" type="pres">
      <dgm:prSet presAssocID="{1873AA86-C367-4A35-8D54-EBF3354B7124}" presName="parTx" presStyleLbl="revTx" presStyleIdx="0" presStyleCnt="3">
        <dgm:presLayoutVars>
          <dgm:chMax val="0"/>
          <dgm:chPref val="0"/>
        </dgm:presLayoutVars>
      </dgm:prSet>
      <dgm:spPr/>
    </dgm:pt>
    <dgm:pt modelId="{3007AC5C-9B21-47DD-A5CA-F2D9D4EF7296}" type="pres">
      <dgm:prSet presAssocID="{1CFBCA66-2CC0-4013-9170-1BD902A7C81E}" presName="sibTrans" presStyleCnt="0"/>
      <dgm:spPr/>
    </dgm:pt>
    <dgm:pt modelId="{8F4A89E3-D92B-4BBF-BE85-B01E0BE84427}" type="pres">
      <dgm:prSet presAssocID="{E3FFF834-57ED-418B-BD3B-82AC36026472}" presName="compNode" presStyleCnt="0"/>
      <dgm:spPr/>
    </dgm:pt>
    <dgm:pt modelId="{9A613992-C56C-491A-8C6B-21D250C53D37}" type="pres">
      <dgm:prSet presAssocID="{E3FFF834-57ED-418B-BD3B-82AC36026472}" presName="bgRect" presStyleLbl="bgShp" presStyleIdx="1" presStyleCnt="3"/>
      <dgm:spPr/>
    </dgm:pt>
    <dgm:pt modelId="{6FB2F508-BCFB-4682-90DE-22C424EC52F1}" type="pres">
      <dgm:prSet presAssocID="{E3FFF834-57ED-418B-BD3B-82AC360264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5EA347CC-2401-4EAC-BA96-D2CAC4362FD0}" type="pres">
      <dgm:prSet presAssocID="{E3FFF834-57ED-418B-BD3B-82AC36026472}" presName="spaceRect" presStyleCnt="0"/>
      <dgm:spPr/>
    </dgm:pt>
    <dgm:pt modelId="{AECDA536-E20F-4F00-843E-4FC62B09BFC8}" type="pres">
      <dgm:prSet presAssocID="{E3FFF834-57ED-418B-BD3B-82AC36026472}" presName="parTx" presStyleLbl="revTx" presStyleIdx="1" presStyleCnt="3">
        <dgm:presLayoutVars>
          <dgm:chMax val="0"/>
          <dgm:chPref val="0"/>
        </dgm:presLayoutVars>
      </dgm:prSet>
      <dgm:spPr/>
    </dgm:pt>
    <dgm:pt modelId="{D547CD45-9208-49A2-8983-3628D9BB9633}" type="pres">
      <dgm:prSet presAssocID="{6D34B8B9-CA26-46F6-A15D-7A600595C086}" presName="sibTrans" presStyleCnt="0"/>
      <dgm:spPr/>
    </dgm:pt>
    <dgm:pt modelId="{A79497FB-CAF7-4464-8417-726758DE6762}" type="pres">
      <dgm:prSet presAssocID="{278A29AA-9693-4E0A-966E-87F8D0AA0BCF}" presName="compNode" presStyleCnt="0"/>
      <dgm:spPr/>
    </dgm:pt>
    <dgm:pt modelId="{168A40AB-8B41-49E1-96A5-D67D92C2377D}" type="pres">
      <dgm:prSet presAssocID="{278A29AA-9693-4E0A-966E-87F8D0AA0BCF}" presName="bgRect" presStyleLbl="bgShp" presStyleIdx="2" presStyleCnt="3"/>
      <dgm:spPr/>
    </dgm:pt>
    <dgm:pt modelId="{DFA0774C-59C6-472A-BF41-F9682A1352CB}" type="pres">
      <dgm:prSet presAssocID="{278A29AA-9693-4E0A-966E-87F8D0AA0BC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76EDC211-E0B2-4D37-A46B-C2BEA71FBF38}" type="pres">
      <dgm:prSet presAssocID="{278A29AA-9693-4E0A-966E-87F8D0AA0BCF}" presName="spaceRect" presStyleCnt="0"/>
      <dgm:spPr/>
    </dgm:pt>
    <dgm:pt modelId="{4A50EB02-9E2B-4348-8757-8610C15E6AC4}" type="pres">
      <dgm:prSet presAssocID="{278A29AA-9693-4E0A-966E-87F8D0AA0BC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36E2C18-9B99-4CC1-8E03-FDDDF70DE254}" type="presOf" srcId="{278A29AA-9693-4E0A-966E-87F8D0AA0BCF}" destId="{4A50EB02-9E2B-4348-8757-8610C15E6AC4}" srcOrd="0" destOrd="0" presId="urn:microsoft.com/office/officeart/2018/2/layout/IconVerticalSolidList"/>
    <dgm:cxn modelId="{D42DCE1D-D5AD-44FD-B504-F7B50EEA4ADB}" srcId="{2171B64D-6CF6-4422-AF39-79AC4536332C}" destId="{1873AA86-C367-4A35-8D54-EBF3354B7124}" srcOrd="0" destOrd="0" parTransId="{C6DD2D01-A84A-4DC3-A623-055620415BA1}" sibTransId="{1CFBCA66-2CC0-4013-9170-1BD902A7C81E}"/>
    <dgm:cxn modelId="{BBCCB266-648B-46F6-BD99-BFA0A5170A8A}" srcId="{2171B64D-6CF6-4422-AF39-79AC4536332C}" destId="{E3FFF834-57ED-418B-BD3B-82AC36026472}" srcOrd="1" destOrd="0" parTransId="{42867E48-9831-44E7-81C4-D3B1C20220A4}" sibTransId="{6D34B8B9-CA26-46F6-A15D-7A600595C086}"/>
    <dgm:cxn modelId="{3E8376AF-6C65-4476-B26A-65F648A8A5EC}" type="presOf" srcId="{2171B64D-6CF6-4422-AF39-79AC4536332C}" destId="{3A5DDFC3-8571-4485-A969-224094878DBC}" srcOrd="0" destOrd="0" presId="urn:microsoft.com/office/officeart/2018/2/layout/IconVerticalSolidList"/>
    <dgm:cxn modelId="{2BDDFDC5-C953-4019-A729-0F6D6B99F833}" type="presOf" srcId="{E3FFF834-57ED-418B-BD3B-82AC36026472}" destId="{AECDA536-E20F-4F00-843E-4FC62B09BFC8}" srcOrd="0" destOrd="0" presId="urn:microsoft.com/office/officeart/2018/2/layout/IconVerticalSolidList"/>
    <dgm:cxn modelId="{707C5CCD-E4EA-4F6C-8C48-8FA2256AA170}" srcId="{2171B64D-6CF6-4422-AF39-79AC4536332C}" destId="{278A29AA-9693-4E0A-966E-87F8D0AA0BCF}" srcOrd="2" destOrd="0" parTransId="{6D4C92D1-555A-48BF-A7C3-79D1DE530ADC}" sibTransId="{91A6618F-1DF3-43FB-8B9D-4F3579D1B976}"/>
    <dgm:cxn modelId="{4DA9D1D2-87CE-45D7-BA3F-6C6CBFC09046}" type="presOf" srcId="{1873AA86-C367-4A35-8D54-EBF3354B7124}" destId="{DABBB8E0-2303-4244-8A56-863862F034C6}" srcOrd="0" destOrd="0" presId="urn:microsoft.com/office/officeart/2018/2/layout/IconVerticalSolidList"/>
    <dgm:cxn modelId="{80990139-E631-49D5-B7F7-9AC0FCBC45C1}" type="presParOf" srcId="{3A5DDFC3-8571-4485-A969-224094878DBC}" destId="{9616DAED-1C1A-4B8F-B023-985006007CD9}" srcOrd="0" destOrd="0" presId="urn:microsoft.com/office/officeart/2018/2/layout/IconVerticalSolidList"/>
    <dgm:cxn modelId="{DFEB16FF-4F59-4904-A68D-B643E49B2614}" type="presParOf" srcId="{9616DAED-1C1A-4B8F-B023-985006007CD9}" destId="{F7E51C7E-89E4-493A-BFAA-018691FD7523}" srcOrd="0" destOrd="0" presId="urn:microsoft.com/office/officeart/2018/2/layout/IconVerticalSolidList"/>
    <dgm:cxn modelId="{889AAACC-0EE1-4975-9DDD-07651CC48A6F}" type="presParOf" srcId="{9616DAED-1C1A-4B8F-B023-985006007CD9}" destId="{1795200F-9AAE-470D-ADAA-5784BD27B96F}" srcOrd="1" destOrd="0" presId="urn:microsoft.com/office/officeart/2018/2/layout/IconVerticalSolidList"/>
    <dgm:cxn modelId="{C508C2AE-208D-4CCC-A138-2C12BB63F611}" type="presParOf" srcId="{9616DAED-1C1A-4B8F-B023-985006007CD9}" destId="{6A78B23B-2012-4E10-AB98-21532269A497}" srcOrd="2" destOrd="0" presId="urn:microsoft.com/office/officeart/2018/2/layout/IconVerticalSolidList"/>
    <dgm:cxn modelId="{31CB6F0C-870C-459E-AA63-21A243C5A17F}" type="presParOf" srcId="{9616DAED-1C1A-4B8F-B023-985006007CD9}" destId="{DABBB8E0-2303-4244-8A56-863862F034C6}" srcOrd="3" destOrd="0" presId="urn:microsoft.com/office/officeart/2018/2/layout/IconVerticalSolidList"/>
    <dgm:cxn modelId="{C2FDB9BD-FD73-4B6E-8F5B-789554F64CD3}" type="presParOf" srcId="{3A5DDFC3-8571-4485-A969-224094878DBC}" destId="{3007AC5C-9B21-47DD-A5CA-F2D9D4EF7296}" srcOrd="1" destOrd="0" presId="urn:microsoft.com/office/officeart/2018/2/layout/IconVerticalSolidList"/>
    <dgm:cxn modelId="{ACFAB88C-26DF-48E4-A1EA-EF07EEA69502}" type="presParOf" srcId="{3A5DDFC3-8571-4485-A969-224094878DBC}" destId="{8F4A89E3-D92B-4BBF-BE85-B01E0BE84427}" srcOrd="2" destOrd="0" presId="urn:microsoft.com/office/officeart/2018/2/layout/IconVerticalSolidList"/>
    <dgm:cxn modelId="{F51FE3D9-DCE1-44CC-8057-168593702300}" type="presParOf" srcId="{8F4A89E3-D92B-4BBF-BE85-B01E0BE84427}" destId="{9A613992-C56C-491A-8C6B-21D250C53D37}" srcOrd="0" destOrd="0" presId="urn:microsoft.com/office/officeart/2018/2/layout/IconVerticalSolidList"/>
    <dgm:cxn modelId="{B451F187-481F-4039-93E5-150D3727500A}" type="presParOf" srcId="{8F4A89E3-D92B-4BBF-BE85-B01E0BE84427}" destId="{6FB2F508-BCFB-4682-90DE-22C424EC52F1}" srcOrd="1" destOrd="0" presId="urn:microsoft.com/office/officeart/2018/2/layout/IconVerticalSolidList"/>
    <dgm:cxn modelId="{C790616A-8C73-4183-AF6A-CBD94112CDDB}" type="presParOf" srcId="{8F4A89E3-D92B-4BBF-BE85-B01E0BE84427}" destId="{5EA347CC-2401-4EAC-BA96-D2CAC4362FD0}" srcOrd="2" destOrd="0" presId="urn:microsoft.com/office/officeart/2018/2/layout/IconVerticalSolidList"/>
    <dgm:cxn modelId="{46AD5CA3-3584-44D3-A394-F4C9B13FE3E9}" type="presParOf" srcId="{8F4A89E3-D92B-4BBF-BE85-B01E0BE84427}" destId="{AECDA536-E20F-4F00-843E-4FC62B09BFC8}" srcOrd="3" destOrd="0" presId="urn:microsoft.com/office/officeart/2018/2/layout/IconVerticalSolidList"/>
    <dgm:cxn modelId="{B2DC690A-7BAA-47BE-ABC3-B1B55AEBFF78}" type="presParOf" srcId="{3A5DDFC3-8571-4485-A969-224094878DBC}" destId="{D547CD45-9208-49A2-8983-3628D9BB9633}" srcOrd="3" destOrd="0" presId="urn:microsoft.com/office/officeart/2018/2/layout/IconVerticalSolidList"/>
    <dgm:cxn modelId="{3B00BBAE-0E7E-468C-8604-3E574723D142}" type="presParOf" srcId="{3A5DDFC3-8571-4485-A969-224094878DBC}" destId="{A79497FB-CAF7-4464-8417-726758DE6762}" srcOrd="4" destOrd="0" presId="urn:microsoft.com/office/officeart/2018/2/layout/IconVerticalSolidList"/>
    <dgm:cxn modelId="{3A4530CB-4FE9-4465-88C2-0F48875862DF}" type="presParOf" srcId="{A79497FB-CAF7-4464-8417-726758DE6762}" destId="{168A40AB-8B41-49E1-96A5-D67D92C2377D}" srcOrd="0" destOrd="0" presId="urn:microsoft.com/office/officeart/2018/2/layout/IconVerticalSolidList"/>
    <dgm:cxn modelId="{A136DACE-4494-4168-9A81-BAB0CEF5411F}" type="presParOf" srcId="{A79497FB-CAF7-4464-8417-726758DE6762}" destId="{DFA0774C-59C6-472A-BF41-F9682A1352CB}" srcOrd="1" destOrd="0" presId="urn:microsoft.com/office/officeart/2018/2/layout/IconVerticalSolidList"/>
    <dgm:cxn modelId="{CCCF8535-977C-40B3-BDC0-78B012F6D7C5}" type="presParOf" srcId="{A79497FB-CAF7-4464-8417-726758DE6762}" destId="{76EDC211-E0B2-4D37-A46B-C2BEA71FBF38}" srcOrd="2" destOrd="0" presId="urn:microsoft.com/office/officeart/2018/2/layout/IconVerticalSolidList"/>
    <dgm:cxn modelId="{6A7DD1C2-76F6-4C50-9864-F4EB2132F63C}" type="presParOf" srcId="{A79497FB-CAF7-4464-8417-726758DE6762}" destId="{4A50EB02-9E2B-4348-8757-8610C15E6A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E2D187-A65C-465A-A456-339B62F3210C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B56D55-DD68-427F-8473-101F9BB76EB4}">
      <dgm:prSet/>
      <dgm:spPr/>
      <dgm:t>
        <a:bodyPr/>
        <a:lstStyle/>
        <a:p>
          <a:r>
            <a:rPr lang="en-GB"/>
            <a:t>A loop lets you run the same section of code over and over again until a specific condition is met</a:t>
          </a:r>
          <a:endParaRPr lang="en-US"/>
        </a:p>
      </dgm:t>
    </dgm:pt>
    <dgm:pt modelId="{7EF77407-AB19-4444-BA6F-EF74D44DC1A6}" type="parTrans" cxnId="{A86AA2CB-5927-4E35-B62C-8646119572D1}">
      <dgm:prSet/>
      <dgm:spPr/>
      <dgm:t>
        <a:bodyPr/>
        <a:lstStyle/>
        <a:p>
          <a:endParaRPr lang="en-US"/>
        </a:p>
      </dgm:t>
    </dgm:pt>
    <dgm:pt modelId="{E72F900A-3E8A-45BE-9254-02A5C268ED58}" type="sibTrans" cxnId="{A86AA2CB-5927-4E35-B62C-8646119572D1}">
      <dgm:prSet/>
      <dgm:spPr/>
      <dgm:t>
        <a:bodyPr/>
        <a:lstStyle/>
        <a:p>
          <a:endParaRPr lang="en-US"/>
        </a:p>
      </dgm:t>
    </dgm:pt>
    <dgm:pt modelId="{A4A821B8-0958-41C1-9CA5-91478B5A9623}">
      <dgm:prSet/>
      <dgm:spPr/>
      <dgm:t>
        <a:bodyPr/>
        <a:lstStyle/>
        <a:p>
          <a:r>
            <a:rPr lang="en-GB" b="1"/>
            <a:t>In python, we have looping statements such as:</a:t>
          </a:r>
          <a:endParaRPr lang="en-US"/>
        </a:p>
      </dgm:t>
    </dgm:pt>
    <dgm:pt modelId="{4F2CBD78-A98D-4971-BAC9-95EADD80CAC3}" type="parTrans" cxnId="{A1C0A966-2754-408D-AA0E-6EF1546B0B39}">
      <dgm:prSet/>
      <dgm:spPr/>
      <dgm:t>
        <a:bodyPr/>
        <a:lstStyle/>
        <a:p>
          <a:endParaRPr lang="en-US"/>
        </a:p>
      </dgm:t>
    </dgm:pt>
    <dgm:pt modelId="{4EE3E4BA-EA4C-4AAA-A9EB-3B298D94AABE}" type="sibTrans" cxnId="{A1C0A966-2754-408D-AA0E-6EF1546B0B39}">
      <dgm:prSet/>
      <dgm:spPr/>
      <dgm:t>
        <a:bodyPr/>
        <a:lstStyle/>
        <a:p>
          <a:endParaRPr lang="en-US"/>
        </a:p>
      </dgm:t>
    </dgm:pt>
    <dgm:pt modelId="{08E3D6FF-1765-40E0-9A53-A1CBB23EC61E}">
      <dgm:prSet/>
      <dgm:spPr/>
      <dgm:t>
        <a:bodyPr/>
        <a:lstStyle/>
        <a:p>
          <a:r>
            <a:rPr lang="en-GB"/>
            <a:t>While</a:t>
          </a:r>
          <a:endParaRPr lang="en-US"/>
        </a:p>
      </dgm:t>
    </dgm:pt>
    <dgm:pt modelId="{F3BF719B-EBEB-49E9-A456-0F9437707F1C}" type="parTrans" cxnId="{A5AC7E3A-15F7-48DF-989B-0AFFB87B580F}">
      <dgm:prSet/>
      <dgm:spPr/>
      <dgm:t>
        <a:bodyPr/>
        <a:lstStyle/>
        <a:p>
          <a:endParaRPr lang="en-US"/>
        </a:p>
      </dgm:t>
    </dgm:pt>
    <dgm:pt modelId="{3D2ABB37-AFBF-4619-8FEF-F305A6ED847B}" type="sibTrans" cxnId="{A5AC7E3A-15F7-48DF-989B-0AFFB87B580F}">
      <dgm:prSet/>
      <dgm:spPr/>
      <dgm:t>
        <a:bodyPr/>
        <a:lstStyle/>
        <a:p>
          <a:endParaRPr lang="en-US"/>
        </a:p>
      </dgm:t>
    </dgm:pt>
    <dgm:pt modelId="{568895D9-7A5D-42BE-9B5B-C0A4A6572A13}">
      <dgm:prSet/>
      <dgm:spPr/>
      <dgm:t>
        <a:bodyPr/>
        <a:lstStyle/>
        <a:p>
          <a:r>
            <a:rPr lang="en-GB"/>
            <a:t>for</a:t>
          </a:r>
          <a:endParaRPr lang="en-US"/>
        </a:p>
      </dgm:t>
    </dgm:pt>
    <dgm:pt modelId="{9F5EC6D6-C652-4436-812D-66ACF96AC2C0}" type="parTrans" cxnId="{90080E30-F706-40A7-AF8C-C79468E3A4E7}">
      <dgm:prSet/>
      <dgm:spPr/>
      <dgm:t>
        <a:bodyPr/>
        <a:lstStyle/>
        <a:p>
          <a:endParaRPr lang="en-US"/>
        </a:p>
      </dgm:t>
    </dgm:pt>
    <dgm:pt modelId="{0A6CF34F-7E86-4D2C-BFB9-A2B9D9351A89}" type="sibTrans" cxnId="{90080E30-F706-40A7-AF8C-C79468E3A4E7}">
      <dgm:prSet/>
      <dgm:spPr/>
      <dgm:t>
        <a:bodyPr/>
        <a:lstStyle/>
        <a:p>
          <a:endParaRPr lang="en-US"/>
        </a:p>
      </dgm:t>
    </dgm:pt>
    <dgm:pt modelId="{FFF40271-D0C6-3B47-B510-8F524E501473}" type="pres">
      <dgm:prSet presAssocID="{C2E2D187-A65C-465A-A456-339B62F3210C}" presName="Name0" presStyleCnt="0">
        <dgm:presLayoutVars>
          <dgm:dir/>
          <dgm:resizeHandles val="exact"/>
        </dgm:presLayoutVars>
      </dgm:prSet>
      <dgm:spPr/>
    </dgm:pt>
    <dgm:pt modelId="{C73178C9-EABC-5B4F-8D5E-6C44A044F61C}" type="pres">
      <dgm:prSet presAssocID="{8CB56D55-DD68-427F-8473-101F9BB76EB4}" presName="node" presStyleLbl="node1" presStyleIdx="0" presStyleCnt="2">
        <dgm:presLayoutVars>
          <dgm:bulletEnabled val="1"/>
        </dgm:presLayoutVars>
      </dgm:prSet>
      <dgm:spPr/>
    </dgm:pt>
    <dgm:pt modelId="{39654132-D766-2041-B6F4-D1FBB85E98F1}" type="pres">
      <dgm:prSet presAssocID="{E72F900A-3E8A-45BE-9254-02A5C268ED58}" presName="sibTrans" presStyleLbl="sibTrans2D1" presStyleIdx="0" presStyleCnt="1"/>
      <dgm:spPr/>
    </dgm:pt>
    <dgm:pt modelId="{118A5644-6998-A844-B403-70C69EEB8822}" type="pres">
      <dgm:prSet presAssocID="{E72F900A-3E8A-45BE-9254-02A5C268ED58}" presName="connectorText" presStyleLbl="sibTrans2D1" presStyleIdx="0" presStyleCnt="1"/>
      <dgm:spPr/>
    </dgm:pt>
    <dgm:pt modelId="{BEB91B52-8167-1E41-B459-EED44922277C}" type="pres">
      <dgm:prSet presAssocID="{A4A821B8-0958-41C1-9CA5-91478B5A9623}" presName="node" presStyleLbl="node1" presStyleIdx="1" presStyleCnt="2">
        <dgm:presLayoutVars>
          <dgm:bulletEnabled val="1"/>
        </dgm:presLayoutVars>
      </dgm:prSet>
      <dgm:spPr/>
    </dgm:pt>
  </dgm:ptLst>
  <dgm:cxnLst>
    <dgm:cxn modelId="{09C48902-56EF-1545-B317-6738E1755DAC}" type="presOf" srcId="{08E3D6FF-1765-40E0-9A53-A1CBB23EC61E}" destId="{BEB91B52-8167-1E41-B459-EED44922277C}" srcOrd="0" destOrd="1" presId="urn:microsoft.com/office/officeart/2005/8/layout/process1"/>
    <dgm:cxn modelId="{545E9F14-93CD-5941-A7CD-3286243A20DE}" type="presOf" srcId="{C2E2D187-A65C-465A-A456-339B62F3210C}" destId="{FFF40271-D0C6-3B47-B510-8F524E501473}" srcOrd="0" destOrd="0" presId="urn:microsoft.com/office/officeart/2005/8/layout/process1"/>
    <dgm:cxn modelId="{D1D3D928-E2A0-FE44-A6E7-0D5074761A29}" type="presOf" srcId="{8CB56D55-DD68-427F-8473-101F9BB76EB4}" destId="{C73178C9-EABC-5B4F-8D5E-6C44A044F61C}" srcOrd="0" destOrd="0" presId="urn:microsoft.com/office/officeart/2005/8/layout/process1"/>
    <dgm:cxn modelId="{90080E30-F706-40A7-AF8C-C79468E3A4E7}" srcId="{A4A821B8-0958-41C1-9CA5-91478B5A9623}" destId="{568895D9-7A5D-42BE-9B5B-C0A4A6572A13}" srcOrd="1" destOrd="0" parTransId="{9F5EC6D6-C652-4436-812D-66ACF96AC2C0}" sibTransId="{0A6CF34F-7E86-4D2C-BFB9-A2B9D9351A89}"/>
    <dgm:cxn modelId="{A5AC7E3A-15F7-48DF-989B-0AFFB87B580F}" srcId="{A4A821B8-0958-41C1-9CA5-91478B5A9623}" destId="{08E3D6FF-1765-40E0-9A53-A1CBB23EC61E}" srcOrd="0" destOrd="0" parTransId="{F3BF719B-EBEB-49E9-A456-0F9437707F1C}" sibTransId="{3D2ABB37-AFBF-4619-8FEF-F305A6ED847B}"/>
    <dgm:cxn modelId="{A1C0A966-2754-408D-AA0E-6EF1546B0B39}" srcId="{C2E2D187-A65C-465A-A456-339B62F3210C}" destId="{A4A821B8-0958-41C1-9CA5-91478B5A9623}" srcOrd="1" destOrd="0" parTransId="{4F2CBD78-A98D-4971-BAC9-95EADD80CAC3}" sibTransId="{4EE3E4BA-EA4C-4AAA-A9EB-3B298D94AABE}"/>
    <dgm:cxn modelId="{A86AA2CB-5927-4E35-B62C-8646119572D1}" srcId="{C2E2D187-A65C-465A-A456-339B62F3210C}" destId="{8CB56D55-DD68-427F-8473-101F9BB76EB4}" srcOrd="0" destOrd="0" parTransId="{7EF77407-AB19-4444-BA6F-EF74D44DC1A6}" sibTransId="{E72F900A-3E8A-45BE-9254-02A5C268ED58}"/>
    <dgm:cxn modelId="{237882D6-4FAC-B742-94AE-5280465956D6}" type="presOf" srcId="{E72F900A-3E8A-45BE-9254-02A5C268ED58}" destId="{118A5644-6998-A844-B403-70C69EEB8822}" srcOrd="1" destOrd="0" presId="urn:microsoft.com/office/officeart/2005/8/layout/process1"/>
    <dgm:cxn modelId="{C416A0DB-1829-B84B-AFE8-1D0455A88103}" type="presOf" srcId="{568895D9-7A5D-42BE-9B5B-C0A4A6572A13}" destId="{BEB91B52-8167-1E41-B459-EED44922277C}" srcOrd="0" destOrd="2" presId="urn:microsoft.com/office/officeart/2005/8/layout/process1"/>
    <dgm:cxn modelId="{12702AE5-1F8A-1B45-814D-67F569C44FC4}" type="presOf" srcId="{A4A821B8-0958-41C1-9CA5-91478B5A9623}" destId="{BEB91B52-8167-1E41-B459-EED44922277C}" srcOrd="0" destOrd="0" presId="urn:microsoft.com/office/officeart/2005/8/layout/process1"/>
    <dgm:cxn modelId="{3D3CE4EA-F850-2A47-8028-62BDFAC331E0}" type="presOf" srcId="{E72F900A-3E8A-45BE-9254-02A5C268ED58}" destId="{39654132-D766-2041-B6F4-D1FBB85E98F1}" srcOrd="0" destOrd="0" presId="urn:microsoft.com/office/officeart/2005/8/layout/process1"/>
    <dgm:cxn modelId="{1C2DD1CD-9F22-7648-BFB6-01A329BE9F00}" type="presParOf" srcId="{FFF40271-D0C6-3B47-B510-8F524E501473}" destId="{C73178C9-EABC-5B4F-8D5E-6C44A044F61C}" srcOrd="0" destOrd="0" presId="urn:microsoft.com/office/officeart/2005/8/layout/process1"/>
    <dgm:cxn modelId="{4D07D93F-72CC-1041-959A-11BE6140275B}" type="presParOf" srcId="{FFF40271-D0C6-3B47-B510-8F524E501473}" destId="{39654132-D766-2041-B6F4-D1FBB85E98F1}" srcOrd="1" destOrd="0" presId="urn:microsoft.com/office/officeart/2005/8/layout/process1"/>
    <dgm:cxn modelId="{FB70AF4E-0852-3D41-9203-687B65D96470}" type="presParOf" srcId="{39654132-D766-2041-B6F4-D1FBB85E98F1}" destId="{118A5644-6998-A844-B403-70C69EEB8822}" srcOrd="0" destOrd="0" presId="urn:microsoft.com/office/officeart/2005/8/layout/process1"/>
    <dgm:cxn modelId="{2D44D052-0B58-EB48-974F-2B52AA96984E}" type="presParOf" srcId="{FFF40271-D0C6-3B47-B510-8F524E501473}" destId="{BEB91B52-8167-1E41-B459-EED44922277C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476BB9-BB4A-4BE4-887D-69DF4EE686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B10E44-4F4A-47CC-A4E2-7CA2D6DD9446}">
      <dgm:prSet/>
      <dgm:spPr/>
      <dgm:t>
        <a:bodyPr/>
        <a:lstStyle/>
        <a:p>
          <a:r>
            <a:rPr lang="en-GB"/>
            <a:t>The </a:t>
          </a:r>
          <a:r>
            <a:rPr lang="en-GB" b="1"/>
            <a:t>break</a:t>
          </a:r>
          <a:r>
            <a:rPr lang="en-GB"/>
            <a:t> statement can stop the loop even if the condition is true</a:t>
          </a:r>
          <a:endParaRPr lang="en-US"/>
        </a:p>
      </dgm:t>
    </dgm:pt>
    <dgm:pt modelId="{E3040CDA-F480-451A-A65F-C6CD00550D7F}" type="parTrans" cxnId="{F17CFE4A-4DC0-4B50-B32F-1DD264A6D8C4}">
      <dgm:prSet/>
      <dgm:spPr/>
      <dgm:t>
        <a:bodyPr/>
        <a:lstStyle/>
        <a:p>
          <a:endParaRPr lang="en-US"/>
        </a:p>
      </dgm:t>
    </dgm:pt>
    <dgm:pt modelId="{24FDB99C-9D90-4818-A3B1-32F97FF8ACD5}" type="sibTrans" cxnId="{F17CFE4A-4DC0-4B50-B32F-1DD264A6D8C4}">
      <dgm:prSet/>
      <dgm:spPr/>
      <dgm:t>
        <a:bodyPr/>
        <a:lstStyle/>
        <a:p>
          <a:endParaRPr lang="en-US"/>
        </a:p>
      </dgm:t>
    </dgm:pt>
    <dgm:pt modelId="{550B4C8D-D152-48B6-BF8A-F98464B7E1C7}">
      <dgm:prSet/>
      <dgm:spPr/>
      <dgm:t>
        <a:bodyPr/>
        <a:lstStyle/>
        <a:p>
          <a:r>
            <a:rPr lang="en-GB"/>
            <a:t>The </a:t>
          </a:r>
          <a:r>
            <a:rPr lang="en-GB" b="1"/>
            <a:t>continue</a:t>
          </a:r>
          <a:r>
            <a:rPr lang="en-GB"/>
            <a:t> statement can stop the current iteration, and continue with the next</a:t>
          </a:r>
          <a:endParaRPr lang="en-US"/>
        </a:p>
      </dgm:t>
    </dgm:pt>
    <dgm:pt modelId="{F2A7FB35-A3FE-4219-AED9-FC4A1FCBED62}" type="parTrans" cxnId="{9BC46838-E3B0-425D-914B-2807D8543E9D}">
      <dgm:prSet/>
      <dgm:spPr/>
      <dgm:t>
        <a:bodyPr/>
        <a:lstStyle/>
        <a:p>
          <a:endParaRPr lang="en-US"/>
        </a:p>
      </dgm:t>
    </dgm:pt>
    <dgm:pt modelId="{C3C2A822-05EC-420D-B84C-1130169ADD45}" type="sibTrans" cxnId="{9BC46838-E3B0-425D-914B-2807D8543E9D}">
      <dgm:prSet/>
      <dgm:spPr/>
      <dgm:t>
        <a:bodyPr/>
        <a:lstStyle/>
        <a:p>
          <a:endParaRPr lang="en-US"/>
        </a:p>
      </dgm:t>
    </dgm:pt>
    <dgm:pt modelId="{21383F0D-3DCD-634C-9E41-13169CEAB292}" type="pres">
      <dgm:prSet presAssocID="{47476BB9-BB4A-4BE4-887D-69DF4EE6862F}" presName="linear" presStyleCnt="0">
        <dgm:presLayoutVars>
          <dgm:animLvl val="lvl"/>
          <dgm:resizeHandles val="exact"/>
        </dgm:presLayoutVars>
      </dgm:prSet>
      <dgm:spPr/>
    </dgm:pt>
    <dgm:pt modelId="{1ADE3083-4331-8A47-9A1A-82716FF72E77}" type="pres">
      <dgm:prSet presAssocID="{04B10E44-4F4A-47CC-A4E2-7CA2D6DD944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4DDF24-DED6-8046-8A01-1FD364341C2D}" type="pres">
      <dgm:prSet presAssocID="{24FDB99C-9D90-4818-A3B1-32F97FF8ACD5}" presName="spacer" presStyleCnt="0"/>
      <dgm:spPr/>
    </dgm:pt>
    <dgm:pt modelId="{351AD793-D0EA-4248-B903-E05C0B396087}" type="pres">
      <dgm:prSet presAssocID="{550B4C8D-D152-48B6-BF8A-F98464B7E1C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15F1038-9D67-F847-B5B1-A4F9915F693A}" type="presOf" srcId="{550B4C8D-D152-48B6-BF8A-F98464B7E1C7}" destId="{351AD793-D0EA-4248-B903-E05C0B396087}" srcOrd="0" destOrd="0" presId="urn:microsoft.com/office/officeart/2005/8/layout/vList2"/>
    <dgm:cxn modelId="{9BC46838-E3B0-425D-914B-2807D8543E9D}" srcId="{47476BB9-BB4A-4BE4-887D-69DF4EE6862F}" destId="{550B4C8D-D152-48B6-BF8A-F98464B7E1C7}" srcOrd="1" destOrd="0" parTransId="{F2A7FB35-A3FE-4219-AED9-FC4A1FCBED62}" sibTransId="{C3C2A822-05EC-420D-B84C-1130169ADD45}"/>
    <dgm:cxn modelId="{7A3F4746-8DB7-5144-8C7D-F8E7EDEC9A4F}" type="presOf" srcId="{04B10E44-4F4A-47CC-A4E2-7CA2D6DD9446}" destId="{1ADE3083-4331-8A47-9A1A-82716FF72E77}" srcOrd="0" destOrd="0" presId="urn:microsoft.com/office/officeart/2005/8/layout/vList2"/>
    <dgm:cxn modelId="{F17CFE4A-4DC0-4B50-B32F-1DD264A6D8C4}" srcId="{47476BB9-BB4A-4BE4-887D-69DF4EE6862F}" destId="{04B10E44-4F4A-47CC-A4E2-7CA2D6DD9446}" srcOrd="0" destOrd="0" parTransId="{E3040CDA-F480-451A-A65F-C6CD00550D7F}" sibTransId="{24FDB99C-9D90-4818-A3B1-32F97FF8ACD5}"/>
    <dgm:cxn modelId="{8CE78F51-9B9E-7A48-9D75-25CB87D17339}" type="presOf" srcId="{47476BB9-BB4A-4BE4-887D-69DF4EE6862F}" destId="{21383F0D-3DCD-634C-9E41-13169CEAB292}" srcOrd="0" destOrd="0" presId="urn:microsoft.com/office/officeart/2005/8/layout/vList2"/>
    <dgm:cxn modelId="{CE776EC8-39C5-5047-AF73-9C90D73C464E}" type="presParOf" srcId="{21383F0D-3DCD-634C-9E41-13169CEAB292}" destId="{1ADE3083-4331-8A47-9A1A-82716FF72E77}" srcOrd="0" destOrd="0" presId="urn:microsoft.com/office/officeart/2005/8/layout/vList2"/>
    <dgm:cxn modelId="{7A6DF94D-2517-8D4C-B324-52C16D7B9FC0}" type="presParOf" srcId="{21383F0D-3DCD-634C-9E41-13169CEAB292}" destId="{054DDF24-DED6-8046-8A01-1FD364341C2D}" srcOrd="1" destOrd="0" presId="urn:microsoft.com/office/officeart/2005/8/layout/vList2"/>
    <dgm:cxn modelId="{644CE029-1206-4942-BE53-34B04AF19078}" type="presParOf" srcId="{21383F0D-3DCD-634C-9E41-13169CEAB292}" destId="{351AD793-D0EA-4248-B903-E05C0B39608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E51C7E-89E4-493A-BFAA-018691FD7523}">
      <dsp:nvSpPr>
        <dsp:cNvPr id="0" name=""/>
        <dsp:cNvSpPr/>
      </dsp:nvSpPr>
      <dsp:spPr>
        <a:xfrm>
          <a:off x="0" y="675"/>
          <a:ext cx="6900512" cy="15813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5200F-9AAE-470D-ADAA-5784BD27B96F}">
      <dsp:nvSpPr>
        <dsp:cNvPr id="0" name=""/>
        <dsp:cNvSpPr/>
      </dsp:nvSpPr>
      <dsp:spPr>
        <a:xfrm>
          <a:off x="478363" y="356483"/>
          <a:ext cx="869752" cy="869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BB8E0-2303-4244-8A56-863862F034C6}">
      <dsp:nvSpPr>
        <dsp:cNvPr id="0" name=""/>
        <dsp:cNvSpPr/>
      </dsp:nvSpPr>
      <dsp:spPr>
        <a:xfrm>
          <a:off x="1826480" y="675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Introduction to loops: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`for` and `while` loops </a:t>
          </a:r>
        </a:p>
      </dsp:txBody>
      <dsp:txXfrm>
        <a:off x="1826480" y="675"/>
        <a:ext cx="5074031" cy="1581368"/>
      </dsp:txXfrm>
    </dsp:sp>
    <dsp:sp modelId="{9A613992-C56C-491A-8C6B-21D250C53D37}">
      <dsp:nvSpPr>
        <dsp:cNvPr id="0" name=""/>
        <dsp:cNvSpPr/>
      </dsp:nvSpPr>
      <dsp:spPr>
        <a:xfrm>
          <a:off x="0" y="1977386"/>
          <a:ext cx="6900512" cy="15813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2F508-BCFB-4682-90DE-22C424EC52F1}">
      <dsp:nvSpPr>
        <dsp:cNvPr id="0" name=""/>
        <dsp:cNvSpPr/>
      </dsp:nvSpPr>
      <dsp:spPr>
        <a:xfrm>
          <a:off x="478363" y="2333194"/>
          <a:ext cx="869752" cy="869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CDA536-E20F-4F00-843E-4FC62B09BFC8}">
      <dsp:nvSpPr>
        <dsp:cNvPr id="0" name=""/>
        <dsp:cNvSpPr/>
      </dsp:nvSpPr>
      <dsp:spPr>
        <a:xfrm>
          <a:off x="1826480" y="197738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Using `range()` with `for` loops </a:t>
          </a:r>
        </a:p>
      </dsp:txBody>
      <dsp:txXfrm>
        <a:off x="1826480" y="1977386"/>
        <a:ext cx="5074031" cy="1581368"/>
      </dsp:txXfrm>
    </dsp:sp>
    <dsp:sp modelId="{168A40AB-8B41-49E1-96A5-D67D92C2377D}">
      <dsp:nvSpPr>
        <dsp:cNvPr id="0" name=""/>
        <dsp:cNvSpPr/>
      </dsp:nvSpPr>
      <dsp:spPr>
        <a:xfrm>
          <a:off x="0" y="3954096"/>
          <a:ext cx="6900512" cy="15813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A0774C-59C6-472A-BF41-F9682A1352CB}">
      <dsp:nvSpPr>
        <dsp:cNvPr id="0" name=""/>
        <dsp:cNvSpPr/>
      </dsp:nvSpPr>
      <dsp:spPr>
        <a:xfrm>
          <a:off x="478363" y="4309904"/>
          <a:ext cx="869752" cy="869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0EB02-9E2B-4348-8757-8610C15E6AC4}">
      <dsp:nvSpPr>
        <dsp:cNvPr id="0" name=""/>
        <dsp:cNvSpPr/>
      </dsp:nvSpPr>
      <dsp:spPr>
        <a:xfrm>
          <a:off x="1826480" y="395409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Infinite loops and loop control with `break`, `continue`, and `else`</a:t>
          </a:r>
        </a:p>
      </dsp:txBody>
      <dsp:txXfrm>
        <a:off x="1826480" y="3954096"/>
        <a:ext cx="5074031" cy="15813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178C9-EABC-5B4F-8D5E-6C44A044F61C}">
      <dsp:nvSpPr>
        <dsp:cNvPr id="0" name=""/>
        <dsp:cNvSpPr/>
      </dsp:nvSpPr>
      <dsp:spPr>
        <a:xfrm>
          <a:off x="2053" y="861732"/>
          <a:ext cx="4379788" cy="26278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A loop lets you run the same section of code over and over again until a specific condition is met</a:t>
          </a:r>
          <a:endParaRPr lang="en-US" sz="3100" kern="1200"/>
        </a:p>
      </dsp:txBody>
      <dsp:txXfrm>
        <a:off x="79021" y="938700"/>
        <a:ext cx="4225852" cy="2473937"/>
      </dsp:txXfrm>
    </dsp:sp>
    <dsp:sp modelId="{39654132-D766-2041-B6F4-D1FBB85E98F1}">
      <dsp:nvSpPr>
        <dsp:cNvPr id="0" name=""/>
        <dsp:cNvSpPr/>
      </dsp:nvSpPr>
      <dsp:spPr>
        <a:xfrm>
          <a:off x="4819821" y="1632575"/>
          <a:ext cx="928515" cy="10861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4819821" y="1849812"/>
        <a:ext cx="649961" cy="651713"/>
      </dsp:txXfrm>
    </dsp:sp>
    <dsp:sp modelId="{BEB91B52-8167-1E41-B459-EED44922277C}">
      <dsp:nvSpPr>
        <dsp:cNvPr id="0" name=""/>
        <dsp:cNvSpPr/>
      </dsp:nvSpPr>
      <dsp:spPr>
        <a:xfrm>
          <a:off x="6133757" y="861732"/>
          <a:ext cx="4379788" cy="2627873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/>
            <a:t>In python, we have looping statements such as:</a:t>
          </a:r>
          <a:endParaRPr lang="en-US" sz="31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While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for</a:t>
          </a:r>
          <a:endParaRPr lang="en-US" sz="2400" kern="1200"/>
        </a:p>
      </dsp:txBody>
      <dsp:txXfrm>
        <a:off x="6210725" y="938700"/>
        <a:ext cx="4225852" cy="24739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E3083-4331-8A47-9A1A-82716FF72E77}">
      <dsp:nvSpPr>
        <dsp:cNvPr id="0" name=""/>
        <dsp:cNvSpPr/>
      </dsp:nvSpPr>
      <dsp:spPr>
        <a:xfrm>
          <a:off x="0" y="521262"/>
          <a:ext cx="5916603" cy="19246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/>
            <a:t>The </a:t>
          </a:r>
          <a:r>
            <a:rPr lang="en-GB" sz="3500" b="1" kern="1200"/>
            <a:t>break</a:t>
          </a:r>
          <a:r>
            <a:rPr lang="en-GB" sz="3500" kern="1200"/>
            <a:t> statement can stop the loop even if the condition is true</a:t>
          </a:r>
          <a:endParaRPr lang="en-US" sz="3500" kern="1200"/>
        </a:p>
      </dsp:txBody>
      <dsp:txXfrm>
        <a:off x="93954" y="615216"/>
        <a:ext cx="5728695" cy="1736741"/>
      </dsp:txXfrm>
    </dsp:sp>
    <dsp:sp modelId="{351AD793-D0EA-4248-B903-E05C0B396087}">
      <dsp:nvSpPr>
        <dsp:cNvPr id="0" name=""/>
        <dsp:cNvSpPr/>
      </dsp:nvSpPr>
      <dsp:spPr>
        <a:xfrm>
          <a:off x="0" y="2546711"/>
          <a:ext cx="5916603" cy="19246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/>
            <a:t>The </a:t>
          </a:r>
          <a:r>
            <a:rPr lang="en-GB" sz="3500" b="1" kern="1200"/>
            <a:t>continue</a:t>
          </a:r>
          <a:r>
            <a:rPr lang="en-GB" sz="3500" kern="1200"/>
            <a:t> statement can stop the current iteration, and continue with the next</a:t>
          </a:r>
          <a:endParaRPr lang="en-US" sz="3500" kern="1200"/>
        </a:p>
      </dsp:txBody>
      <dsp:txXfrm>
        <a:off x="93954" y="2640665"/>
        <a:ext cx="5728695" cy="17367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24C7D9-368D-5E4C-8127-1ADD63EC81E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0A775-D17A-C64A-8525-35922DAA83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8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4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6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34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31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-AU" dirty="0"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5382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/>
              <a:t>Python Programming, 3/e</a:t>
            </a:r>
          </a:p>
        </p:txBody>
      </p:sp>
      <p:sp>
        <p:nvSpPr>
          <p:cNvPr id="10240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3D5BEAD3-2A52-4188-A259-373165213D80}" type="slidenum">
              <a:rPr lang="en-US" altLang="en-US" sz="1300"/>
              <a:pPr eaLnBrk="1" hangingPunct="1"/>
              <a:t>8</a:t>
            </a:fld>
            <a:endParaRPr lang="en-US" altLang="en-US" sz="1300"/>
          </a:p>
        </p:txBody>
      </p:sp>
      <p:sp>
        <p:nvSpPr>
          <p:cNvPr id="1024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512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04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75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414" name="Shape 4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9343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4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8" name="Shape 4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5413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4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5779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99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37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A775-D17A-C64A-8525-35922DAA832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04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73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A775-D17A-C64A-8525-35922DAA832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80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838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A775-D17A-C64A-8525-35922DAA832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75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125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A775-D17A-C64A-8525-35922DAA832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106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A775-D17A-C64A-8525-35922DAA832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93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A791-B6A9-250E-25DB-642651BF7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EE6DB-377E-6B3D-F03C-E25056682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A5F2C-7532-D38E-B30C-83157DFCC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9932-DC8D-5E46-AB48-594473240A75}" type="datetime1">
              <a:rPr lang="en-AU" smtClean="0"/>
              <a:t>13/09/2025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04643-5270-7DDA-F0CB-2C4FFF258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7A292-2291-6182-5CFE-37204CF0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27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6F9E-6E88-7FDE-B418-955C9580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ED13D-D0D4-615C-A1D4-928976BA6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D1F14-AED6-A458-5413-B38131CD7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41407-1D96-CF4B-A195-C8A67C79D82D}" type="datetime1">
              <a:rPr lang="en-AU" smtClean="0"/>
              <a:t>13/09/2025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7F13F-1A06-4D70-A181-FD98C26B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3910-0A11-494F-2FB6-C31A9E76C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1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C1245-A2A2-5D6E-4D07-67C42DB0B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C3FC9-0B28-07E4-3C84-117DF29F1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CF4EF-BD5F-7F11-3D3C-4E65C59B3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C89A-3BF4-814F-A12E-4493562D691D}" type="datetime1">
              <a:rPr lang="en-AU" smtClean="0"/>
              <a:t>13/09/2025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A3865-4C3A-A078-00D3-D5636DEB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536E9-C138-567F-5766-A82E6420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374F8-09A4-F553-5F82-7272B859A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793F-CA15-BBCA-91D8-C75A3E822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2B733-4158-BB4F-F297-53DC671E9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A0EB-567E-F1DF-83FC-A39F8C8F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F4C9-63BF-2142-9490-441F07AEA6E5}" type="datetime1">
              <a:rPr lang="en-AU" smtClean="0"/>
              <a:t>13/09/2025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74A7F-F2D1-9D5F-C4C3-CF355A7A6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497CF-8A9A-19A5-9D48-E8B40BF96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87BCF-DF36-F063-D808-7C0B39D91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914AB-126C-B8DA-EB15-00B205543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09847-7AFC-412A-219B-C925A3113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E0DB7-EB71-3E06-5C20-31454A04B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AFB8E-82CF-D018-7096-15181EAFF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9F6178-9FC5-6141-6F26-8902D5C1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5745-AD58-0B45-B873-CCF8BA4DDCAA}" type="datetime1">
              <a:rPr lang="en-AU" smtClean="0"/>
              <a:t>13/09/2025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4C2EF-1142-12E9-9897-92BC3A28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678C54-255C-3A4A-5001-ADFA37E93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8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5418-6C15-8515-81EC-5640C409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B8E9A-C3AC-839E-9675-C5813AE9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4FBE-B508-EB40-A1BE-319434CBD152}" type="datetime1">
              <a:rPr lang="en-AU" smtClean="0"/>
              <a:t>13/09/2025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1DC8D-1C58-7A5E-7D0B-06787890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51A1B-4080-9D1C-A632-0FA9B756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81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73C813-F15D-2F88-0792-B1C2E3FE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12D5-A85B-E544-BD16-51D7B45CAC70}" type="datetime1">
              <a:rPr lang="en-AU" smtClean="0"/>
              <a:t>13/09/2025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407E59-BAB9-5F42-2FD6-DEA2AF5F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860C9-2BAF-F8B0-233F-8AA73097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9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6CC3-AEEE-338C-C39D-A259675D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03AFF-F499-9FB2-1D05-018102AE4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50C1F-7F9C-3818-98FF-2E319D5A3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1CAD2-925D-9A89-D72D-E0ED1C006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9100B-E7AC-B345-937B-1AF46BEF3BF2}" type="datetime1">
              <a:rPr lang="en-AU" smtClean="0"/>
              <a:t>13/09/2025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63A9E-AFB9-17B6-E2C4-1117CF29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1A0C9-7710-BAC1-0679-88E5E0C4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8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A4C2-D342-2737-4C51-CACFDB1A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552088-9EC9-3860-A2E1-C1046066F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E09AE-8255-A716-0F91-CB36316B4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ACA4C-CEC7-7065-4B16-7D17F6F2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098-0CB3-0247-A240-D51F3A842084}" type="datetime1">
              <a:rPr lang="en-AU" smtClean="0"/>
              <a:t>13/09/2025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59887-63CB-B56C-6911-E1EC1334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C3F3A-CDF8-2862-4FCE-951E34B2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36E0-3CA9-B880-F8E4-3D367DAB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DB59A-8FDE-F07E-ED07-225221D59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0EB4B-B28F-D519-677E-578CD17B4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93EC-9194-014D-8166-051E4E28C74C}" type="datetime1">
              <a:rPr lang="en-AU" smtClean="0"/>
              <a:t>13/09/2025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38CB1-35C9-44E7-E04C-A3276CE0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1B0D1-B55C-21C1-3A2B-D50029D0D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2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0DEF4D-0130-51DD-5A3A-EAE79437C0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59FEB-2127-788D-15ED-211619560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58CA8-4F89-3896-3065-761B92D7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3E51-5AFE-254E-AB32-17590788A332}" type="datetime1">
              <a:rPr lang="en-AU" smtClean="0"/>
              <a:t>13/09/2025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3FCEA-6C2B-1BDA-C8E0-43D18F03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CD195-2605-87D5-D875-3872DE2E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1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866775" y="613063"/>
            <a:ext cx="10449000" cy="12918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>
                <a:solidFill>
                  <a:srgbClr val="FFFF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3429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6858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0287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3716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207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E8414-6AF4-6EDD-F7D7-8A3168134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233F1-07AA-DB87-2917-B75566715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74E37-E095-A6D0-8157-4606171AD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0D8B9-FB90-F340-AF08-A58D33A19788}" type="datetime1">
              <a:rPr lang="en-AU" smtClean="0"/>
              <a:t>13/09/2025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C5534-2CB9-9E1D-66FE-8EAF93DED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72383-7BB3-9319-C098-BE3327D5D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472F36-33E8-9845-A640-9E56E43EA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9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reference/compound_stmts.html#for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python.org/3/reference/simple_stmts.html#break" TargetMode="External"/><Relationship Id="rId4" Type="http://schemas.openxmlformats.org/officeDocument/2006/relationships/hyperlink" Target="https://docs.python.org/3/reference/compound_stmts.html#while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539A-B563-CE1C-1D06-669518C00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900" dirty="0"/>
              <a:t>CS1011  Computer Programming in Python</a:t>
            </a:r>
            <a:br>
              <a:rPr lang="en-US" sz="4900" dirty="0"/>
            </a:br>
            <a:r>
              <a:rPr lang="en-US" sz="4900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0F1A1-39CF-01DD-3BFC-72C97EA23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717" y="4667710"/>
            <a:ext cx="4681337" cy="972532"/>
          </a:xfrm>
        </p:spPr>
        <p:txBody>
          <a:bodyPr anchor="t">
            <a:noAutofit/>
          </a:bodyPr>
          <a:lstStyle/>
          <a:p>
            <a:pPr algn="l"/>
            <a:r>
              <a:rPr lang="en-US" altLang="en-US" dirty="0">
                <a:latin typeface="Times" pitchFamily="2" charset="0"/>
              </a:rPr>
              <a:t>Lecture 3:Loops (For and While)</a:t>
            </a:r>
          </a:p>
        </p:txBody>
      </p:sp>
      <p:pic>
        <p:nvPicPr>
          <p:cNvPr id="20" name="Picture 19" descr="Computer script on a screen">
            <a:extLst>
              <a:ext uri="{FF2B5EF4-FFF2-40B4-BE49-F238E27FC236}">
                <a16:creationId xmlns:a16="http://schemas.microsoft.com/office/drawing/2014/main" id="{E390D1CD-49D5-5EE4-DE3C-4D573BE52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548" b="-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5865F-F60E-51A8-55C7-B1AB74C7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9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E9FE7-8DE5-CD8D-E6AA-DA3736F1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spc="-1">
                <a:uFill>
                  <a:solidFill>
                    <a:srgbClr val="FFFFFF"/>
                  </a:solidFill>
                </a:uFill>
                <a:latin typeface="Times" pitchFamily="2" charset="0"/>
                <a:ea typeface="+mn-ea"/>
                <a:cs typeface="+mn-cs"/>
              </a:rPr>
              <a:t>Objectives</a:t>
            </a:r>
            <a:br>
              <a:rPr lang="en-US" sz="5400" b="0" strike="noStrike" spc="-1">
                <a:uFill>
                  <a:solidFill>
                    <a:srgbClr val="FFFFFF"/>
                  </a:solidFill>
                </a:uFill>
                <a:latin typeface="Tahoma"/>
              </a:rPr>
            </a:br>
            <a:endParaRPr lang="en-US" sz="54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9A77F3F7-AE1D-D451-D3DF-093F19308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38145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CD6E8-8E9A-8514-B625-D4107707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83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pPr rtl="0"/>
            <a:r>
              <a:rPr lang="en-US" altLang="en-US" sz="4300" b="1">
                <a:latin typeface="+mn-lt"/>
              </a:rPr>
              <a:t>Loops</a:t>
            </a:r>
            <a:br>
              <a:rPr lang="en-US" altLang="en-US" sz="4300" b="1">
                <a:latin typeface="+mn-lt"/>
              </a:rPr>
            </a:br>
            <a:endParaRPr lang="en-US" sz="4300" b="1"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01CF334-2D5C-4859-84A6-CA7E6E43FAEB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F743344-BC2F-3308-8214-A62CD55294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527229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822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rtl="0"/>
            <a:r>
              <a:rPr lang="en-US" altLang="en-US" sz="3700" b="1" dirty="0">
                <a:latin typeface="+mn-lt"/>
              </a:rPr>
              <a:t>Loops: While</a:t>
            </a:r>
            <a:br>
              <a:rPr lang="en-US" altLang="en-US" sz="3700" b="1" dirty="0">
                <a:latin typeface="+mn-lt"/>
              </a:rPr>
            </a:br>
            <a:endParaRPr lang="en-US" altLang="en-US" sz="3700" b="1" dirty="0"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Autofit/>
          </a:bodyPr>
          <a:lstStyle/>
          <a:p>
            <a:pPr marL="365760" lvl="1" indent="-256032" rtl="0"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dirty="0"/>
              <a:t>It loops through a section of code as long as the specified condition is true.</a:t>
            </a:r>
          </a:p>
          <a:p>
            <a:r>
              <a:rPr lang="en-US" altLang="en-US" sz="2400" dirty="0"/>
              <a:t>The indefinite or conditional loop keeps iterating until certain conditions are met.</a:t>
            </a:r>
          </a:p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</a:rPr>
              <a:t>while &lt;condition&gt;: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&lt;body&gt;</a:t>
            </a:r>
          </a:p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</a:rPr>
              <a:t>condition </a:t>
            </a:r>
            <a:r>
              <a:rPr lang="en-US" altLang="en-US" sz="2400" dirty="0"/>
              <a:t>is a Boolean expression, just like in </a:t>
            </a:r>
            <a:r>
              <a:rPr lang="en-US" altLang="en-US" sz="2400" dirty="0">
                <a:latin typeface="Courier New" panose="02070309020205020404" pitchFamily="49" charset="0"/>
              </a:rPr>
              <a:t>if</a:t>
            </a:r>
            <a:r>
              <a:rPr lang="en-US" altLang="en-US" sz="2400" dirty="0"/>
              <a:t> statements. The body is a sequence of one or more statements.</a:t>
            </a:r>
          </a:p>
          <a:p>
            <a:pPr eaLnBrk="1" hangingPunct="1"/>
            <a:r>
              <a:rPr lang="en-US" altLang="en-US" sz="2400" dirty="0"/>
              <a:t>Semantically, the body of the loop executes repeatedly as long as the condition remains true. When the condition is false, the loop terminates.</a:t>
            </a:r>
            <a:endParaRPr lang="en-US" altLang="en-US" sz="2400" dirty="0">
              <a:latin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01CF334-2D5C-4859-84A6-CA7E6E43FAE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6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Loops: while</a:t>
            </a:r>
            <a:br>
              <a:rPr lang="en-US" alt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altLang="en-US" sz="50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470CB-28AC-E07E-276E-B9BFD75F109D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200"/>
              <a:t>The condition is tested at the top of the loop. This is known as a </a:t>
            </a:r>
            <a:r>
              <a:rPr lang="en-US" altLang="en-US" sz="2200" i="1"/>
              <a:t>pre-test</a:t>
            </a:r>
            <a:r>
              <a:rPr lang="en-US" altLang="en-US" sz="2200"/>
              <a:t> loop. If the condition is initially false, the loop body will not execute at all.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0E4B5-C5BE-436E-9289-4294C9E67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979289"/>
            <a:ext cx="5458968" cy="489942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01CF334-2D5C-4859-84A6-CA7E6E43FAEB}" type="slidenum">
              <a:rPr lang="en-US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906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 fontScale="90000"/>
          </a:bodyPr>
          <a:lstStyle/>
          <a:p>
            <a:pPr rtl="0"/>
            <a:r>
              <a:rPr lang="en-AU" sz="3200" b="1" dirty="0">
                <a:latin typeface="+mn-lt"/>
              </a:rPr>
              <a:t>Indefinite Loop</a:t>
            </a:r>
            <a:r>
              <a:rPr lang="en-AU" sz="3200" dirty="0"/>
              <a:t> </a:t>
            </a:r>
            <a:r>
              <a:rPr lang="en-US" altLang="en-US" sz="3200" b="1" dirty="0">
                <a:latin typeface="+mn-lt"/>
              </a:rPr>
              <a:t>while (example)</a:t>
            </a:r>
            <a:br>
              <a:rPr lang="en-US" altLang="en-US" sz="3200" b="1" dirty="0">
                <a:latin typeface="+mn-lt"/>
              </a:rPr>
            </a:br>
            <a:br>
              <a:rPr lang="en-US" altLang="en-US" sz="3200" b="1" dirty="0">
                <a:latin typeface="+mn-lt"/>
              </a:rPr>
            </a:br>
            <a:endParaRPr lang="en-US" altLang="en-US" sz="3200" b="1" dirty="0"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365760" lvl="1" indent="-256032" rtl="0"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dirty="0">
                <a:cs typeface="Courier New" panose="02070309020205020404" pitchFamily="49" charset="0"/>
              </a:rPr>
              <a:t>Print the numbers 1-5 proceeded with the sentence "the number is: " using a while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56215-D7E9-4E40-812B-4407FF4234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078"/>
          <a:stretch>
            <a:fillRect/>
          </a:stretch>
        </p:blipFill>
        <p:spPr>
          <a:xfrm>
            <a:off x="557039" y="3199041"/>
            <a:ext cx="11164824" cy="22366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01CF334-2D5C-4859-84A6-CA7E6E43FAE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139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3550420" y="613064"/>
            <a:ext cx="7765355" cy="899108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ct val="25000"/>
            </a:pPr>
            <a:r>
              <a:rPr lang="en-US" altLang="en-US" sz="4000" b="1" dirty="0">
                <a:solidFill>
                  <a:schemeClr val="tx1"/>
                </a:solidFill>
                <a:latin typeface="+mn-lt"/>
              </a:rPr>
              <a:t>Loops: while (example)</a:t>
            </a:r>
            <a:endParaRPr lang="en-US" sz="40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13" name="Shape 213"/>
          <p:cNvSpPr txBox="1"/>
          <p:nvPr/>
        </p:nvSpPr>
        <p:spPr>
          <a:xfrm>
            <a:off x="5764999" y="1627585"/>
            <a:ext cx="3173178" cy="33241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700" b="1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algn="ctr"/>
            <a:endParaRPr sz="2700" b="1" dirty="0">
              <a:solidFill>
                <a:srgbClr val="FF7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>
              <a:buClr>
                <a:srgbClr val="00FF00"/>
              </a:buClr>
              <a:buSzPct val="25000"/>
            </a:pPr>
            <a:r>
              <a:rPr lang="en-US" sz="225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5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25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25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25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225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25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–</a:t>
            </a:r>
            <a:r>
              <a:rPr lang="en-US" sz="225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25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25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b="1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225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25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25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25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225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cxnSp>
        <p:nvCxnSpPr>
          <p:cNvPr id="214" name="Shape 214"/>
          <p:cNvCxnSpPr/>
          <p:nvPr/>
        </p:nvCxnSpPr>
        <p:spPr>
          <a:xfrm rot="10800000">
            <a:off x="1914520" y="1501382"/>
            <a:ext cx="10715" cy="425052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5" name="Shape 215"/>
          <p:cNvCxnSpPr/>
          <p:nvPr/>
        </p:nvCxnSpPr>
        <p:spPr>
          <a:xfrm flipH="1">
            <a:off x="8265319" y="2655093"/>
            <a:ext cx="1469231" cy="384572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16" name="Shape 216"/>
          <p:cNvSpPr/>
          <p:nvPr/>
        </p:nvSpPr>
        <p:spPr>
          <a:xfrm>
            <a:off x="852482" y="1921673"/>
            <a:ext cx="2152575" cy="952424"/>
          </a:xfrm>
          <a:prstGeom prst="diamond">
            <a:avLst/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0000"/>
              </a:buClr>
              <a:buSzPct val="25000"/>
            </a:pPr>
            <a:r>
              <a:rPr lang="en-US" sz="2625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&gt; 0 ?</a:t>
            </a:r>
          </a:p>
        </p:txBody>
      </p:sp>
      <p:cxnSp>
        <p:nvCxnSpPr>
          <p:cNvPr id="217" name="Shape 217"/>
          <p:cNvCxnSpPr/>
          <p:nvPr/>
        </p:nvCxnSpPr>
        <p:spPr>
          <a:xfrm rot="10800000" flipH="1">
            <a:off x="1913328" y="2874173"/>
            <a:ext cx="15477" cy="1738312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18" name="Shape 218"/>
          <p:cNvCxnSpPr/>
          <p:nvPr/>
        </p:nvCxnSpPr>
        <p:spPr>
          <a:xfrm rot="10800000">
            <a:off x="2995607" y="2393160"/>
            <a:ext cx="583406" cy="11906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19" name="Shape 219"/>
          <p:cNvCxnSpPr/>
          <p:nvPr/>
        </p:nvCxnSpPr>
        <p:spPr>
          <a:xfrm rot="10800000" flipH="1">
            <a:off x="3554011" y="2393160"/>
            <a:ext cx="11906" cy="483393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0" name="Shape 220"/>
          <p:cNvCxnSpPr/>
          <p:nvPr/>
        </p:nvCxnSpPr>
        <p:spPr>
          <a:xfrm flipH="1">
            <a:off x="3554020" y="4417298"/>
            <a:ext cx="3599" cy="225000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21" name="Shape 221"/>
          <p:cNvCxnSpPr/>
          <p:nvPr/>
        </p:nvCxnSpPr>
        <p:spPr>
          <a:xfrm>
            <a:off x="1925234" y="4644632"/>
            <a:ext cx="1640700" cy="10800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22" name="Shape 222"/>
          <p:cNvCxnSpPr/>
          <p:nvPr/>
        </p:nvCxnSpPr>
        <p:spPr>
          <a:xfrm flipH="1">
            <a:off x="585782" y="2405066"/>
            <a:ext cx="297656" cy="2381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23" name="Shape 223"/>
          <p:cNvCxnSpPr/>
          <p:nvPr/>
        </p:nvCxnSpPr>
        <p:spPr>
          <a:xfrm rot="10800000" flipH="1">
            <a:off x="1915710" y="4945860"/>
            <a:ext cx="11906" cy="483393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4" name="Shape 224"/>
          <p:cNvCxnSpPr/>
          <p:nvPr/>
        </p:nvCxnSpPr>
        <p:spPr>
          <a:xfrm rot="10800000">
            <a:off x="583336" y="2440757"/>
            <a:ext cx="27449" cy="2575350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5" name="Shape 225"/>
          <p:cNvCxnSpPr/>
          <p:nvPr/>
        </p:nvCxnSpPr>
        <p:spPr>
          <a:xfrm>
            <a:off x="598879" y="4958957"/>
            <a:ext cx="1314450" cy="0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26" name="Shape 226"/>
          <p:cNvCxnSpPr/>
          <p:nvPr/>
        </p:nvCxnSpPr>
        <p:spPr>
          <a:xfrm rot="10800000">
            <a:off x="8251033" y="3325415"/>
            <a:ext cx="1526381" cy="826294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27" name="Shape 227"/>
          <p:cNvSpPr txBox="1"/>
          <p:nvPr/>
        </p:nvSpPr>
        <p:spPr>
          <a:xfrm>
            <a:off x="4227901" y="5143577"/>
            <a:ext cx="7964099" cy="1247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just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Loops (repeated steps) have </a:t>
            </a:r>
            <a:r>
              <a:rPr lang="en-US" sz="24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</a:t>
            </a:r>
            <a:r>
              <a:rPr lang="en-US" sz="24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2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that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change each time through a loop.  Often these </a:t>
            </a:r>
            <a:r>
              <a:rPr lang="en-US" sz="24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</a:t>
            </a:r>
            <a:r>
              <a:rPr lang="en-US" sz="24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  <a:r>
              <a:rPr lang="en-US" sz="24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go through a sequence of numbers.</a:t>
            </a:r>
          </a:p>
        </p:txBody>
      </p:sp>
      <p:sp>
        <p:nvSpPr>
          <p:cNvPr id="228" name="Shape 228"/>
          <p:cNvSpPr txBox="1"/>
          <p:nvPr/>
        </p:nvSpPr>
        <p:spPr>
          <a:xfrm>
            <a:off x="192876" y="1835948"/>
            <a:ext cx="542925" cy="466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700" dirty="0"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833432" y="5407823"/>
            <a:ext cx="2190750" cy="561974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625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print('Blastoff')</a:t>
            </a:r>
          </a:p>
        </p:txBody>
      </p:sp>
      <p:sp>
        <p:nvSpPr>
          <p:cNvPr id="230" name="Shape 230"/>
          <p:cNvSpPr txBox="1"/>
          <p:nvPr/>
        </p:nvSpPr>
        <p:spPr>
          <a:xfrm>
            <a:off x="3280166" y="1835948"/>
            <a:ext cx="687953" cy="4667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700" dirty="0"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231" name="Shape 231"/>
          <p:cNvSpPr txBox="1"/>
          <p:nvPr/>
        </p:nvSpPr>
        <p:spPr>
          <a:xfrm>
            <a:off x="833433" y="950123"/>
            <a:ext cx="2190824" cy="562049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625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= 5</a:t>
            </a:r>
          </a:p>
        </p:txBody>
      </p:sp>
      <p:sp>
        <p:nvSpPr>
          <p:cNvPr id="232" name="Shape 232"/>
          <p:cNvSpPr txBox="1"/>
          <p:nvPr/>
        </p:nvSpPr>
        <p:spPr>
          <a:xfrm>
            <a:off x="2471733" y="2883698"/>
            <a:ext cx="2190824" cy="562049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625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print(n)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9901239" y="1503760"/>
            <a:ext cx="1295324" cy="3590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algn="ctr"/>
            <a:endParaRPr sz="2700" dirty="0">
              <a:solidFill>
                <a:schemeClr val="accent1">
                  <a:lumMod val="75000"/>
                </a:schemeClr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>
              <a:buClr>
                <a:srgbClr val="FF00FF"/>
              </a:buClr>
              <a:buSzPct val="25000"/>
            </a:pP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 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2462208" y="3798098"/>
            <a:ext cx="2190824" cy="562049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625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n = n -1</a:t>
            </a:r>
          </a:p>
        </p:txBody>
      </p:sp>
      <p:cxnSp>
        <p:nvCxnSpPr>
          <p:cNvPr id="235" name="Shape 235"/>
          <p:cNvCxnSpPr/>
          <p:nvPr/>
        </p:nvCxnSpPr>
        <p:spPr>
          <a:xfrm flipH="1">
            <a:off x="3550420" y="3509348"/>
            <a:ext cx="3599" cy="225000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22124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340" name="Rectangle 9933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800" b="1" dirty="0"/>
              <a:t>For Loops</a:t>
            </a:r>
          </a:p>
        </p:txBody>
      </p:sp>
      <p:sp>
        <p:nvSpPr>
          <p:cNvPr id="9934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The </a:t>
            </a:r>
            <a:r>
              <a:rPr lang="en-US" altLang="en-US" sz="2400" dirty="0">
                <a:latin typeface="Courier New" panose="02070309020205020404" pitchFamily="49" charset="0"/>
              </a:rPr>
              <a:t>for</a:t>
            </a:r>
            <a:r>
              <a:rPr lang="en-US" altLang="en-US" sz="2400" dirty="0"/>
              <a:t> loop is a definite loop, meaning that the number of iterations is determined when the loop starts.</a:t>
            </a:r>
          </a:p>
          <a:p>
            <a:r>
              <a:rPr lang="en-US" altLang="en-US" sz="2400" dirty="0"/>
              <a:t>We can</a:t>
            </a:r>
            <a:r>
              <a:rPr lang="en-US" altLang="en-US" sz="2400" dirty="0">
                <a:latin typeface="Times New Roman" panose="02020603050405020304" pitchFamily="18" charset="0"/>
              </a:rPr>
              <a:t>’</a:t>
            </a:r>
            <a:r>
              <a:rPr lang="en-US" altLang="en-US" sz="2400" dirty="0"/>
              <a:t>t use a definite loop unless we know the number of iterations ahead of time. </a:t>
            </a:r>
          </a:p>
          <a:p>
            <a:r>
              <a:rPr lang="en-US" altLang="en-US" sz="2200" dirty="0"/>
              <a:t>The </a:t>
            </a:r>
            <a:r>
              <a:rPr lang="en-US" altLang="en-US" sz="2200" dirty="0">
                <a:latin typeface="Courier New" panose="02070309020205020404" pitchFamily="49" charset="0"/>
              </a:rPr>
              <a:t>for</a:t>
            </a:r>
            <a:r>
              <a:rPr lang="en-US" altLang="en-US" sz="2200" dirty="0"/>
              <a:t> statement allows us to iterate through a sequence of values.</a:t>
            </a:r>
          </a:p>
          <a:p>
            <a:pPr eaLnBrk="1" hangingPunct="1"/>
            <a:r>
              <a:rPr lang="en-US" altLang="en-US" sz="2200" dirty="0">
                <a:latin typeface="Courier New" panose="02070309020205020404" pitchFamily="49" charset="0"/>
              </a:rPr>
              <a:t>for &lt;var&gt; in &lt;sequence&gt;:</a:t>
            </a:r>
            <a:br>
              <a:rPr lang="en-US" altLang="en-US" sz="2200" dirty="0">
                <a:latin typeface="Courier New" panose="02070309020205020404" pitchFamily="49" charset="0"/>
              </a:rPr>
            </a:br>
            <a:r>
              <a:rPr lang="en-US" altLang="en-US" sz="2200" dirty="0">
                <a:latin typeface="Courier New" panose="02070309020205020404" pitchFamily="49" charset="0"/>
              </a:rPr>
              <a:t>   &lt;body&gt;</a:t>
            </a:r>
          </a:p>
          <a:p>
            <a:pPr eaLnBrk="1" hangingPunct="1"/>
            <a:r>
              <a:rPr lang="en-US" altLang="en-US" sz="2200" dirty="0"/>
              <a:t>The loop index variable </a:t>
            </a:r>
            <a:r>
              <a:rPr lang="en-US" altLang="en-US" sz="2200" dirty="0">
                <a:latin typeface="Courier New" panose="02070309020205020404" pitchFamily="49" charset="0"/>
              </a:rPr>
              <a:t>var</a:t>
            </a:r>
            <a:r>
              <a:rPr lang="en-US" altLang="en-US" sz="2200" dirty="0"/>
              <a:t> takes on each successive value in the sequence, and the statements in the body of the loop are executed once for each value.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fld id="{A89B9E3D-6BBA-4307-9C7D-5D6B357D9BEB}" type="slidenum">
              <a:rPr lang="en-US" altLang="en-US" sz="1900"/>
              <a:pPr eaLnBrk="1" hangingPunct="1"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altLang="en-US" sz="1900"/>
          </a:p>
        </p:txBody>
      </p:sp>
    </p:spTree>
    <p:extLst>
      <p:ext uri="{BB962C8B-B14F-4D97-AF65-F5344CB8AC3E}">
        <p14:creationId xmlns:p14="http://schemas.microsoft.com/office/powerpoint/2010/main" val="1572750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pPr rtl="0"/>
            <a:r>
              <a:rPr lang="en-US" altLang="en-US" sz="4800" b="1" dirty="0"/>
              <a:t>For Loops</a:t>
            </a:r>
            <a:br>
              <a:rPr lang="en-US" altLang="en-US" sz="3700" b="1" dirty="0">
                <a:latin typeface="+mn-lt"/>
              </a:rPr>
            </a:br>
            <a:endParaRPr lang="en-US" altLang="en-US" sz="3700" b="1" dirty="0"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365760" lvl="1" indent="-256032" rtl="0"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200">
                <a:cs typeface="Courier New" panose="02070309020205020404" pitchFamily="49" charset="0"/>
              </a:rPr>
              <a:t>It is used to loop through a set of code a specified number of times</a:t>
            </a:r>
          </a:p>
          <a:p>
            <a:pPr marL="365760" lvl="1" indent="-256032" rtl="0"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200">
                <a:cs typeface="Courier New" panose="02070309020205020404" pitchFamily="49" charset="0"/>
              </a:rPr>
              <a:t>The </a:t>
            </a:r>
            <a:r>
              <a:rPr lang="en-GB" altLang="en-US" sz="2200" b="1">
                <a:cs typeface="Courier New" panose="02070309020205020404" pitchFamily="49" charset="0"/>
              </a:rPr>
              <a:t>range()</a:t>
            </a:r>
            <a:r>
              <a:rPr lang="en-GB" altLang="en-US" sz="2200">
                <a:cs typeface="Courier New" panose="02070309020205020404" pitchFamily="49" charset="0"/>
              </a:rPr>
              <a:t> function determines the sequence of numbers, starting from 0 (default), and ends at a specified number</a:t>
            </a:r>
          </a:p>
          <a:p>
            <a:pPr marL="365760" lvl="1" indent="-256032" rtl="0"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200">
                <a:cs typeface="Courier New" panose="02070309020205020404" pitchFamily="49" charset="0"/>
              </a:rPr>
              <a:t>It is possible to specify the starting value instead of 0</a:t>
            </a:r>
          </a:p>
          <a:p>
            <a:pPr marL="365760" lvl="1" indent="-256032" rtl="0"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2200" b="1">
                <a:cs typeface="Courier New" panose="02070309020205020404" pitchFamily="49" charset="0"/>
              </a:rPr>
              <a:t>Syntax:</a:t>
            </a:r>
          </a:p>
          <a:p>
            <a:pPr marL="365125" lvl="1" indent="-3175" rtl="0">
              <a:buClr>
                <a:schemeClr val="accent3">
                  <a:lumMod val="75000"/>
                </a:schemeClr>
              </a:buClr>
              <a:buNone/>
              <a:tabLst>
                <a:tab pos="361950" algn="l"/>
              </a:tabLst>
              <a:defRPr/>
            </a:pPr>
            <a:r>
              <a:rPr lang="en-GB" altLang="en-US" sz="2200">
                <a:cs typeface="Courier New" panose="02070309020205020404" pitchFamily="49" charset="0"/>
              </a:rPr>
              <a:t>for index in range(sequence):</a:t>
            </a:r>
          </a:p>
          <a:p>
            <a:pPr marL="809625" lvl="1" indent="-3175" rtl="0">
              <a:buClr>
                <a:schemeClr val="accent3">
                  <a:lumMod val="75000"/>
                </a:schemeClr>
              </a:buClr>
              <a:buNone/>
              <a:tabLst>
                <a:tab pos="714375" algn="l"/>
              </a:tabLst>
              <a:defRPr/>
            </a:pPr>
            <a:r>
              <a:rPr lang="en-GB" altLang="en-US" sz="2200">
                <a:cs typeface="Courier New" panose="02070309020205020404" pitchFamily="49" charset="0"/>
              </a:rPr>
              <a:t>statement(s) to be executed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01CF334-2D5C-4859-84A6-CA7E6E43FAE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615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Loops: for</a:t>
            </a:r>
            <a:br>
              <a:rPr lang="en-US" alt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altLang="en-US" sz="66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6A954D-5A10-4B46-8E12-B291A018357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32843" y="320040"/>
            <a:ext cx="6171866" cy="64398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01CF334-2D5C-4859-84A6-CA7E6E43FAEB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636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416"/>
          <p:cNvSpPr txBox="1">
            <a:spLocks noGrp="1"/>
          </p:cNvSpPr>
          <p:nvPr>
            <p:ph type="title"/>
          </p:nvPr>
        </p:nvSpPr>
        <p:spPr>
          <a:xfrm>
            <a:off x="236758" y="613064"/>
            <a:ext cx="11625484" cy="851592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>
              <a:lnSpc>
                <a:spcPct val="100000"/>
              </a:lnSpc>
              <a:buClr>
                <a:srgbClr val="FFFF00"/>
              </a:buClr>
              <a:buSzPct val="25000"/>
            </a:pPr>
            <a:r>
              <a:rPr lang="en-AU" sz="4000" dirty="0">
                <a:solidFill>
                  <a:schemeClr val="tx1"/>
                </a:solidFill>
              </a:rPr>
              <a:t>Definite Loop: For Loop — Iterating Through a Sequence</a:t>
            </a:r>
            <a:endParaRPr lang="en-US" sz="4000" dirty="0">
              <a:solidFill>
                <a:schemeClr val="tx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417" name="Shape 417"/>
          <p:cNvSpPr txBox="1"/>
          <p:nvPr/>
        </p:nvSpPr>
        <p:spPr>
          <a:xfrm>
            <a:off x="6590024" y="2643168"/>
            <a:ext cx="4774661" cy="17328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000" b="1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2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000" b="1" dirty="0" err="1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000" b="1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20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418" name="Shape 418"/>
          <p:cNvSpPr txBox="1"/>
          <p:nvPr/>
        </p:nvSpPr>
        <p:spPr>
          <a:xfrm>
            <a:off x="10628119" y="2294532"/>
            <a:ext cx="1244925" cy="241942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00FF"/>
              </a:buClr>
              <a:buSzPct val="25000"/>
            </a:pPr>
            <a:r>
              <a:rPr lang="en-US" sz="225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25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25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25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25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>
              <a:buClr>
                <a:srgbClr val="FF00FF"/>
              </a:buClr>
              <a:buSzPct val="25000"/>
            </a:pPr>
            <a:r>
              <a:rPr lang="en-US" sz="225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</a:t>
            </a:r>
          </a:p>
        </p:txBody>
      </p:sp>
      <p:cxnSp>
        <p:nvCxnSpPr>
          <p:cNvPr id="419" name="Shape 419"/>
          <p:cNvCxnSpPr/>
          <p:nvPr/>
        </p:nvCxnSpPr>
        <p:spPr>
          <a:xfrm rot="10800000">
            <a:off x="2281153" y="1640962"/>
            <a:ext cx="10800" cy="425024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20" name="Shape 420"/>
          <p:cNvSpPr/>
          <p:nvPr/>
        </p:nvSpPr>
        <p:spPr>
          <a:xfrm>
            <a:off x="1219200" y="2061226"/>
            <a:ext cx="2152575" cy="952424"/>
          </a:xfrm>
          <a:prstGeom prst="diamond">
            <a:avLst/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0000"/>
              </a:buClr>
              <a:buSzPct val="25000"/>
            </a:pPr>
            <a:r>
              <a:rPr lang="en-US" sz="255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Done?</a:t>
            </a:r>
          </a:p>
        </p:txBody>
      </p:sp>
      <p:cxnSp>
        <p:nvCxnSpPr>
          <p:cNvPr id="421" name="Shape 421"/>
          <p:cNvCxnSpPr/>
          <p:nvPr/>
        </p:nvCxnSpPr>
        <p:spPr>
          <a:xfrm rot="10800000">
            <a:off x="2295534" y="3013799"/>
            <a:ext cx="8325" cy="1123875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22" name="Shape 422"/>
          <p:cNvCxnSpPr/>
          <p:nvPr/>
        </p:nvCxnSpPr>
        <p:spPr>
          <a:xfrm rot="10800000">
            <a:off x="4819978" y="2818444"/>
            <a:ext cx="20249" cy="488249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3" name="Shape 423"/>
          <p:cNvCxnSpPr>
            <a:stCxn id="424" idx="2"/>
          </p:cNvCxnSpPr>
          <p:nvPr/>
        </p:nvCxnSpPr>
        <p:spPr>
          <a:xfrm>
            <a:off x="4838737" y="3785324"/>
            <a:ext cx="0" cy="368550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25" name="Shape 425"/>
          <p:cNvCxnSpPr/>
          <p:nvPr/>
        </p:nvCxnSpPr>
        <p:spPr>
          <a:xfrm>
            <a:off x="2301478" y="4126959"/>
            <a:ext cx="2547224" cy="0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26" name="Shape 426"/>
          <p:cNvCxnSpPr/>
          <p:nvPr/>
        </p:nvCxnSpPr>
        <p:spPr>
          <a:xfrm flipH="1">
            <a:off x="952481" y="2544619"/>
            <a:ext cx="297675" cy="2474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27" name="Shape 427"/>
          <p:cNvCxnSpPr/>
          <p:nvPr/>
        </p:nvCxnSpPr>
        <p:spPr>
          <a:xfrm rot="10800000" flipH="1">
            <a:off x="2291953" y="4675931"/>
            <a:ext cx="11924" cy="483300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8" name="Shape 428"/>
          <p:cNvCxnSpPr/>
          <p:nvPr/>
        </p:nvCxnSpPr>
        <p:spPr>
          <a:xfrm rot="10800000">
            <a:off x="975028" y="2585035"/>
            <a:ext cx="2474" cy="2084849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9" name="Shape 429"/>
          <p:cNvCxnSpPr/>
          <p:nvPr/>
        </p:nvCxnSpPr>
        <p:spPr>
          <a:xfrm>
            <a:off x="975121" y="4688934"/>
            <a:ext cx="1314450" cy="0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30" name="Shape 430"/>
          <p:cNvSpPr txBox="1"/>
          <p:nvPr/>
        </p:nvSpPr>
        <p:spPr>
          <a:xfrm>
            <a:off x="523557" y="1975501"/>
            <a:ext cx="881929" cy="4666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70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31" name="Shape 431"/>
          <p:cNvSpPr txBox="1"/>
          <p:nvPr/>
        </p:nvSpPr>
        <p:spPr>
          <a:xfrm>
            <a:off x="1066800" y="5109226"/>
            <a:ext cx="2466900" cy="562049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625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print('Blast off!')</a:t>
            </a:r>
          </a:p>
        </p:txBody>
      </p:sp>
      <p:sp>
        <p:nvSpPr>
          <p:cNvPr id="424" name="Shape 424"/>
          <p:cNvSpPr txBox="1"/>
          <p:nvPr/>
        </p:nvSpPr>
        <p:spPr>
          <a:xfrm>
            <a:off x="3743326" y="3223276"/>
            <a:ext cx="2190824" cy="562049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625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2625" dirty="0" err="1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2625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432" name="Shape 432"/>
          <p:cNvSpPr txBox="1"/>
          <p:nvPr/>
        </p:nvSpPr>
        <p:spPr>
          <a:xfrm>
            <a:off x="3124200" y="1927876"/>
            <a:ext cx="542925" cy="4666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70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433" name="Shape 433"/>
          <p:cNvSpPr txBox="1"/>
          <p:nvPr/>
        </p:nvSpPr>
        <p:spPr>
          <a:xfrm>
            <a:off x="3712575" y="2261251"/>
            <a:ext cx="2335950" cy="562049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0000"/>
              </a:buClr>
              <a:buSzPct val="25000"/>
            </a:pPr>
            <a:r>
              <a:rPr lang="en-US" sz="2625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</a:t>
            </a:r>
            <a:r>
              <a:rPr lang="en-US" sz="2625" dirty="0"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2625" dirty="0" err="1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2625" dirty="0"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2625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ahead</a:t>
            </a:r>
          </a:p>
        </p:txBody>
      </p:sp>
      <p:sp>
        <p:nvSpPr>
          <p:cNvPr id="434" name="Shape 434"/>
          <p:cNvSpPr txBox="1"/>
          <p:nvPr/>
        </p:nvSpPr>
        <p:spPr>
          <a:xfrm>
            <a:off x="4076471" y="4833647"/>
            <a:ext cx="7600950" cy="12477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Definite loops (for loops) have explicit iteration variables that change each time through a loop.  These iteration variables move through the sequence or set. </a:t>
            </a:r>
          </a:p>
        </p:txBody>
      </p:sp>
      <p:cxnSp>
        <p:nvCxnSpPr>
          <p:cNvPr id="435" name="Shape 435"/>
          <p:cNvCxnSpPr/>
          <p:nvPr/>
        </p:nvCxnSpPr>
        <p:spPr>
          <a:xfrm>
            <a:off x="3419494" y="2544619"/>
            <a:ext cx="297675" cy="2474"/>
          </a:xfrm>
          <a:prstGeom prst="straightConnector1">
            <a:avLst/>
          </a:prstGeom>
          <a:noFill/>
          <a:ln w="76200" cap="rnd" cmpd="sng">
            <a:solidFill>
              <a:schemeClr val="tx1"/>
            </a:solidFill>
            <a:prstDash val="solid"/>
            <a:miter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2198289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</a:pPr>
            <a:r>
              <a:rPr lang="en-US" sz="5700" dirty="0">
                <a:latin typeface="Arial" charset="0"/>
                <a:ea typeface="Arial" charset="0"/>
                <a:cs typeface="Arial" charset="0"/>
                <a:sym typeface="Cabin"/>
              </a:rPr>
              <a:t>Looking at in...</a:t>
            </a:r>
          </a:p>
        </p:txBody>
      </p:sp>
      <p:sp>
        <p:nvSpPr>
          <p:cNvPr id="441" name="Shape 441"/>
          <p:cNvSpPr txBox="1">
            <a:spLocks noGrp="1"/>
          </p:cNvSpPr>
          <p:nvPr>
            <p:ph type="body" idx="1"/>
          </p:nvPr>
        </p:nvSpPr>
        <p:spPr>
          <a:xfrm>
            <a:off x="866776" y="1952626"/>
            <a:ext cx="4789931" cy="4276799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marL="561975" indent="-268796">
              <a:lnSpc>
                <a:spcPct val="100000"/>
              </a:lnSpc>
              <a:spcBef>
                <a:spcPts val="26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accent1">
                    <a:lumMod val="50000"/>
                  </a:schemeClr>
                </a:solidFill>
                <a:latin typeface="Arial" charset="0"/>
                <a:cs typeface="Arial" charset="0"/>
                <a:sym typeface="Cabin"/>
              </a:rPr>
              <a:t>The</a:t>
            </a:r>
            <a:r>
              <a:rPr lang="en-US" sz="2700" dirty="0">
                <a:solidFill>
                  <a:srgbClr val="FF7F00"/>
                </a:solidFill>
                <a:latin typeface="Arial" charset="0"/>
                <a:cs typeface="Arial" charset="0"/>
                <a:sym typeface="Cabin"/>
              </a:rPr>
              <a:t> iteration variable </a:t>
            </a:r>
            <a:r>
              <a:rPr lang="en-US" sz="2550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550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iterates</a:t>
            </a:r>
            <a:r>
              <a:rPr lang="en-US" sz="2550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550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through all of the values in the </a:t>
            </a:r>
            <a:r>
              <a:rPr lang="en-US" sz="2700" dirty="0">
                <a:solidFill>
                  <a:srgbClr val="FF7F00"/>
                </a:solidFill>
                <a:latin typeface="Arial" charset="0"/>
                <a:cs typeface="Arial" charset="0"/>
                <a:sym typeface="Cabin"/>
              </a:rPr>
              <a:t>sequence</a:t>
            </a:r>
          </a:p>
          <a:p>
            <a:pPr marL="561975" indent="-268796">
              <a:lnSpc>
                <a:spcPct val="100000"/>
              </a:lnSpc>
              <a:spcBef>
                <a:spcPts val="26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550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2700" dirty="0">
                <a:solidFill>
                  <a:srgbClr val="FF7F00"/>
                </a:solidFill>
                <a:latin typeface="Arial" charset="0"/>
                <a:cs typeface="Arial" charset="0"/>
                <a:sym typeface="Cabin"/>
              </a:rPr>
              <a:t>block (body) </a:t>
            </a:r>
            <a:r>
              <a:rPr lang="en-US" sz="2550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 code is executed once for each value in the </a:t>
            </a:r>
            <a:r>
              <a:rPr lang="en-US" sz="2700" dirty="0">
                <a:solidFill>
                  <a:srgbClr val="FF7F00"/>
                </a:solidFill>
                <a:latin typeface="Arial" charset="0"/>
                <a:cs typeface="Arial" charset="0"/>
                <a:sym typeface="Cabin"/>
              </a:rPr>
              <a:t>sequence</a:t>
            </a:r>
          </a:p>
        </p:txBody>
      </p:sp>
      <p:sp>
        <p:nvSpPr>
          <p:cNvPr id="442" name="Shape 442"/>
          <p:cNvSpPr txBox="1"/>
          <p:nvPr/>
        </p:nvSpPr>
        <p:spPr>
          <a:xfrm>
            <a:off x="6791329" y="3960010"/>
            <a:ext cx="4773150" cy="99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225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25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25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chemeClr val="accent1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25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225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2250" b="1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print(</a:t>
            </a:r>
            <a:r>
              <a:rPr lang="en-US" sz="2250" b="1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250" b="1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443" name="Shape 443"/>
          <p:cNvSpPr txBox="1"/>
          <p:nvPr/>
        </p:nvSpPr>
        <p:spPr>
          <a:xfrm>
            <a:off x="6216851" y="2931394"/>
            <a:ext cx="2587229" cy="4666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00FF00"/>
              </a:buClr>
              <a:buSzPct val="25000"/>
            </a:pPr>
            <a:r>
              <a:rPr lang="en-US" sz="27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</a:t>
            </a:r>
          </a:p>
        </p:txBody>
      </p:sp>
      <p:sp>
        <p:nvSpPr>
          <p:cNvPr id="444" name="Shape 444"/>
          <p:cNvSpPr txBox="1"/>
          <p:nvPr/>
        </p:nvSpPr>
        <p:spPr>
          <a:xfrm>
            <a:off x="8989223" y="2336008"/>
            <a:ext cx="2980131" cy="7797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7F00"/>
              </a:buClr>
              <a:buSzPct val="25000"/>
            </a:pPr>
            <a:r>
              <a:rPr lang="en-US" sz="270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Five-element sequence</a:t>
            </a:r>
          </a:p>
        </p:txBody>
      </p:sp>
      <p:cxnSp>
        <p:nvCxnSpPr>
          <p:cNvPr id="445" name="Shape 445"/>
          <p:cNvCxnSpPr/>
          <p:nvPr/>
        </p:nvCxnSpPr>
        <p:spPr>
          <a:xfrm rot="10800000">
            <a:off x="7484273" y="3398043"/>
            <a:ext cx="26193" cy="508396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46" name="Shape 446"/>
          <p:cNvCxnSpPr/>
          <p:nvPr/>
        </p:nvCxnSpPr>
        <p:spPr>
          <a:xfrm rot="10800000" flipH="1">
            <a:off x="9740851" y="3255913"/>
            <a:ext cx="596249" cy="808650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CD5C38-1D4E-A920-0B51-E2286ECA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2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777288" y="610791"/>
            <a:ext cx="2238375" cy="5604272"/>
            <a:chOff x="11703050" y="381000"/>
            <a:chExt cx="2984500" cy="8278812"/>
          </a:xfrm>
        </p:grpSpPr>
        <p:cxnSp>
          <p:nvCxnSpPr>
            <p:cNvPr id="486" name="Shape 486"/>
            <p:cNvCxnSpPr/>
            <p:nvPr/>
          </p:nvCxnSpPr>
          <p:spPr>
            <a:xfrm rot="10800000" flipH="1">
              <a:off x="13185775" y="915987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87" name="Shape 487"/>
            <p:cNvSpPr txBox="1"/>
            <p:nvPr/>
          </p:nvSpPr>
          <p:spPr>
            <a:xfrm>
              <a:off x="11703050" y="1231900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algn="ctr">
                <a:buClr>
                  <a:schemeClr val="lt1"/>
                </a:buClr>
                <a:buSzPct val="25000"/>
              </a:pP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2400" dirty="0" err="1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</a:p>
          </p:txBody>
        </p:sp>
        <p:sp>
          <p:nvSpPr>
            <p:cNvPr id="488" name="Shape 488"/>
            <p:cNvSpPr txBox="1"/>
            <p:nvPr/>
          </p:nvSpPr>
          <p:spPr>
            <a:xfrm>
              <a:off x="11703050" y="381000"/>
              <a:ext cx="2984500" cy="523874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algn="ctr">
                <a:buClr>
                  <a:srgbClr val="FF0000"/>
                </a:buClr>
                <a:buSzPct val="25000"/>
              </a:pPr>
              <a:r>
                <a:rPr lang="en-US" sz="240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 = 5</a:t>
              </a:r>
            </a:p>
          </p:txBody>
        </p:sp>
        <p:cxnSp>
          <p:nvCxnSpPr>
            <p:cNvPr id="489" name="Shape 489"/>
            <p:cNvCxnSpPr/>
            <p:nvPr/>
          </p:nvCxnSpPr>
          <p:spPr>
            <a:xfrm rot="10800000" flipH="1">
              <a:off x="13181012" y="1825625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490" name="Shape 490"/>
            <p:cNvCxnSpPr/>
            <p:nvPr/>
          </p:nvCxnSpPr>
          <p:spPr>
            <a:xfrm rot="10800000" flipH="1">
              <a:off x="13181012" y="2630486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91" name="Shape 491"/>
            <p:cNvSpPr txBox="1"/>
            <p:nvPr/>
          </p:nvSpPr>
          <p:spPr>
            <a:xfrm>
              <a:off x="11703050" y="2946400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algn="ctr">
                <a:buClr>
                  <a:schemeClr val="lt1"/>
                </a:buClr>
                <a:buSzPct val="25000"/>
              </a:pP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2400" dirty="0" err="1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</a:p>
          </p:txBody>
        </p:sp>
        <p:sp>
          <p:nvSpPr>
            <p:cNvPr id="492" name="Shape 492"/>
            <p:cNvSpPr txBox="1"/>
            <p:nvPr/>
          </p:nvSpPr>
          <p:spPr>
            <a:xfrm>
              <a:off x="11703050" y="2093911"/>
              <a:ext cx="2984500" cy="525462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algn="ctr">
                <a:buClr>
                  <a:srgbClr val="FF0000"/>
                </a:buClr>
                <a:buSzPct val="25000"/>
              </a:pPr>
              <a:r>
                <a:rPr lang="en-US" sz="2400" dirty="0" err="1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 = 4</a:t>
              </a:r>
            </a:p>
          </p:txBody>
        </p:sp>
        <p:cxnSp>
          <p:nvCxnSpPr>
            <p:cNvPr id="493" name="Shape 493"/>
            <p:cNvCxnSpPr/>
            <p:nvPr/>
          </p:nvCxnSpPr>
          <p:spPr>
            <a:xfrm rot="10800000" flipH="1">
              <a:off x="13181012" y="3459162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494" name="Shape 494"/>
            <p:cNvCxnSpPr/>
            <p:nvPr/>
          </p:nvCxnSpPr>
          <p:spPr>
            <a:xfrm rot="10800000" flipH="1">
              <a:off x="13181012" y="4310062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95" name="Shape 495"/>
            <p:cNvSpPr txBox="1"/>
            <p:nvPr/>
          </p:nvSpPr>
          <p:spPr>
            <a:xfrm>
              <a:off x="11703050" y="4625975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algn="ctr">
                <a:buClr>
                  <a:schemeClr val="lt1"/>
                </a:buClr>
                <a:buSzPct val="25000"/>
              </a:pP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2400" dirty="0" err="1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</a:p>
          </p:txBody>
        </p:sp>
        <p:sp>
          <p:nvSpPr>
            <p:cNvPr id="496" name="Shape 496"/>
            <p:cNvSpPr txBox="1"/>
            <p:nvPr/>
          </p:nvSpPr>
          <p:spPr>
            <a:xfrm>
              <a:off x="11703050" y="3773487"/>
              <a:ext cx="2984500" cy="525462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algn="ctr">
                <a:buClr>
                  <a:srgbClr val="FF0000"/>
                </a:buClr>
                <a:buSzPct val="25000"/>
              </a:pPr>
              <a:r>
                <a:rPr lang="en-US" sz="240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 = 3</a:t>
              </a:r>
            </a:p>
          </p:txBody>
        </p:sp>
        <p:cxnSp>
          <p:nvCxnSpPr>
            <p:cNvPr id="497" name="Shape 497"/>
            <p:cNvCxnSpPr/>
            <p:nvPr/>
          </p:nvCxnSpPr>
          <p:spPr>
            <a:xfrm rot="10800000" flipH="1">
              <a:off x="13181012" y="5208587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498" name="Shape 498"/>
            <p:cNvCxnSpPr/>
            <p:nvPr/>
          </p:nvCxnSpPr>
          <p:spPr>
            <a:xfrm rot="10800000" flipH="1">
              <a:off x="13181012" y="6107111"/>
              <a:ext cx="12699" cy="306386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99" name="Shape 499"/>
            <p:cNvSpPr txBox="1"/>
            <p:nvPr/>
          </p:nvSpPr>
          <p:spPr>
            <a:xfrm>
              <a:off x="11703050" y="6421437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algn="ctr">
                <a:buClr>
                  <a:schemeClr val="lt1"/>
                </a:buClr>
                <a:buSzPct val="25000"/>
              </a:pP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2400" dirty="0" err="1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</a:p>
          </p:txBody>
        </p:sp>
        <p:sp>
          <p:nvSpPr>
            <p:cNvPr id="500" name="Shape 500"/>
            <p:cNvSpPr txBox="1"/>
            <p:nvPr/>
          </p:nvSpPr>
          <p:spPr>
            <a:xfrm>
              <a:off x="11703050" y="5570537"/>
              <a:ext cx="2984500" cy="523874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algn="ctr">
                <a:buClr>
                  <a:srgbClr val="FF0000"/>
                </a:buClr>
                <a:buSzPct val="25000"/>
              </a:pPr>
              <a:r>
                <a:rPr lang="en-US" sz="240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 = 2</a:t>
              </a:r>
            </a:p>
          </p:txBody>
        </p:sp>
        <p:cxnSp>
          <p:nvCxnSpPr>
            <p:cNvPr id="501" name="Shape 501"/>
            <p:cNvCxnSpPr/>
            <p:nvPr/>
          </p:nvCxnSpPr>
          <p:spPr>
            <a:xfrm rot="10800000" flipH="1">
              <a:off x="13181012" y="6934200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502" name="Shape 502"/>
            <p:cNvCxnSpPr/>
            <p:nvPr/>
          </p:nvCxnSpPr>
          <p:spPr>
            <a:xfrm rot="10800000" flipH="1">
              <a:off x="13181012" y="7808911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503" name="Shape 503"/>
            <p:cNvSpPr txBox="1"/>
            <p:nvPr/>
          </p:nvSpPr>
          <p:spPr>
            <a:xfrm>
              <a:off x="11703050" y="8124825"/>
              <a:ext cx="2984500" cy="534987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algn="ctr">
                <a:buClr>
                  <a:schemeClr val="lt1"/>
                </a:buClr>
                <a:buSzPct val="25000"/>
              </a:pP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2400" dirty="0" err="1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</a:p>
          </p:txBody>
        </p:sp>
        <p:sp>
          <p:nvSpPr>
            <p:cNvPr id="504" name="Shape 504"/>
            <p:cNvSpPr txBox="1"/>
            <p:nvPr/>
          </p:nvSpPr>
          <p:spPr>
            <a:xfrm>
              <a:off x="11703050" y="7272336"/>
              <a:ext cx="2984500" cy="525462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algn="ctr">
                <a:buClr>
                  <a:srgbClr val="FF0000"/>
                </a:buClr>
                <a:buSzPct val="25000"/>
              </a:pPr>
              <a:r>
                <a:rPr lang="en-US" sz="2400" dirty="0" err="1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 = 1</a:t>
              </a:r>
            </a:p>
          </p:txBody>
        </p:sp>
      </p:grpSp>
      <p:sp>
        <p:nvSpPr>
          <p:cNvPr id="505" name="Shape 505"/>
          <p:cNvSpPr txBox="1"/>
          <p:nvPr/>
        </p:nvSpPr>
        <p:spPr>
          <a:xfrm>
            <a:off x="3361031" y="4691063"/>
            <a:ext cx="4701150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2250" b="1" dirty="0">
                <a:solidFill>
                  <a:srgbClr val="00B05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 err="1">
                <a:solidFill>
                  <a:schemeClr val="accent1">
                    <a:lumMod val="50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250" b="1" dirty="0">
                <a:solidFill>
                  <a:srgbClr val="00B05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 [5, 4, 3, 2, 1] :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250" b="1" dirty="0">
                <a:solidFill>
                  <a:schemeClr val="accent1">
                    <a:lumMod val="50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250" b="1" dirty="0">
                <a:solidFill>
                  <a:schemeClr val="accent2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250" b="1" dirty="0" err="1">
                <a:solidFill>
                  <a:schemeClr val="accent2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250" b="1" dirty="0">
                <a:solidFill>
                  <a:schemeClr val="accent2">
                    <a:lumMod val="75000"/>
                  </a:schemeClr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cxnSp>
        <p:nvCxnSpPr>
          <p:cNvPr id="38" name="Shape 451"/>
          <p:cNvCxnSpPr/>
          <p:nvPr/>
        </p:nvCxnSpPr>
        <p:spPr>
          <a:xfrm rot="10800000">
            <a:off x="2357353" y="894187"/>
            <a:ext cx="10800" cy="4250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" name="Shape 452"/>
          <p:cNvSpPr/>
          <p:nvPr/>
        </p:nvSpPr>
        <p:spPr>
          <a:xfrm>
            <a:off x="1295400" y="1314451"/>
            <a:ext cx="2152575" cy="952424"/>
          </a:xfrm>
          <a:prstGeom prst="diamond">
            <a:avLst/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0000"/>
              </a:buClr>
              <a:buSzPct val="25000"/>
            </a:pPr>
            <a:r>
              <a:rPr lang="en-US" sz="2550" dirty="0">
                <a:solidFill>
                  <a:srgbClr val="00B05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Done?</a:t>
            </a:r>
          </a:p>
        </p:txBody>
      </p:sp>
      <p:cxnSp>
        <p:nvCxnSpPr>
          <p:cNvPr id="40" name="Shape 453"/>
          <p:cNvCxnSpPr/>
          <p:nvPr/>
        </p:nvCxnSpPr>
        <p:spPr>
          <a:xfrm rot="10800000">
            <a:off x="2371734" y="2267024"/>
            <a:ext cx="8325" cy="112387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1" name="Shape 454"/>
          <p:cNvCxnSpPr/>
          <p:nvPr/>
        </p:nvCxnSpPr>
        <p:spPr>
          <a:xfrm flipH="1" flipV="1">
            <a:off x="4851712" y="2076524"/>
            <a:ext cx="2476" cy="44055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" name="Shape 456"/>
          <p:cNvCxnSpPr>
            <a:stCxn id="49" idx="2"/>
          </p:cNvCxnSpPr>
          <p:nvPr/>
        </p:nvCxnSpPr>
        <p:spPr>
          <a:xfrm flipH="1">
            <a:off x="4851712" y="3038549"/>
            <a:ext cx="6075" cy="3546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3" name="Shape 458"/>
          <p:cNvCxnSpPr/>
          <p:nvPr/>
        </p:nvCxnSpPr>
        <p:spPr>
          <a:xfrm rot="10800000" flipH="1">
            <a:off x="2377678" y="3376585"/>
            <a:ext cx="2496150" cy="35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4" name="Shape 459"/>
          <p:cNvCxnSpPr/>
          <p:nvPr/>
        </p:nvCxnSpPr>
        <p:spPr>
          <a:xfrm flipH="1">
            <a:off x="1028681" y="1797844"/>
            <a:ext cx="297675" cy="247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5" name="Shape 460"/>
          <p:cNvCxnSpPr/>
          <p:nvPr/>
        </p:nvCxnSpPr>
        <p:spPr>
          <a:xfrm rot="10800000" flipH="1">
            <a:off x="2368153" y="3929156"/>
            <a:ext cx="11924" cy="4833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6" name="Shape 461"/>
          <p:cNvCxnSpPr/>
          <p:nvPr/>
        </p:nvCxnSpPr>
        <p:spPr>
          <a:xfrm rot="10800000">
            <a:off x="1051228" y="1838260"/>
            <a:ext cx="2474" cy="208484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" name="Shape 462"/>
          <p:cNvCxnSpPr/>
          <p:nvPr/>
        </p:nvCxnSpPr>
        <p:spPr>
          <a:xfrm>
            <a:off x="1051321" y="3918927"/>
            <a:ext cx="131445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8" name="Shape 463"/>
          <p:cNvSpPr txBox="1"/>
          <p:nvPr/>
        </p:nvSpPr>
        <p:spPr>
          <a:xfrm>
            <a:off x="634603" y="1228726"/>
            <a:ext cx="660797" cy="4666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700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9" name="Shape 457"/>
          <p:cNvSpPr txBox="1"/>
          <p:nvPr/>
        </p:nvSpPr>
        <p:spPr>
          <a:xfrm>
            <a:off x="3762376" y="2476501"/>
            <a:ext cx="2190824" cy="56204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625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2625" dirty="0" err="1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2625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50" name="Shape 464"/>
          <p:cNvSpPr txBox="1"/>
          <p:nvPr/>
        </p:nvSpPr>
        <p:spPr>
          <a:xfrm>
            <a:off x="3154613" y="1047826"/>
            <a:ext cx="542925" cy="4666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700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51" name="Shape 455"/>
          <p:cNvSpPr txBox="1"/>
          <p:nvPr/>
        </p:nvSpPr>
        <p:spPr>
          <a:xfrm>
            <a:off x="3762375" y="1514476"/>
            <a:ext cx="2247975" cy="562049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0000"/>
              </a:buClr>
              <a:buSzPct val="25000"/>
            </a:pPr>
            <a:r>
              <a:rPr lang="en-US" sz="2625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 i ahead</a:t>
            </a:r>
          </a:p>
        </p:txBody>
      </p:sp>
      <p:cxnSp>
        <p:nvCxnSpPr>
          <p:cNvPr id="52" name="Shape 467"/>
          <p:cNvCxnSpPr/>
          <p:nvPr/>
        </p:nvCxnSpPr>
        <p:spPr>
          <a:xfrm>
            <a:off x="3476644" y="1797844"/>
            <a:ext cx="297675" cy="247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9AF318-F597-430D-E5AE-DFFFF680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11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 fontScale="90000"/>
          </a:bodyPr>
          <a:lstStyle/>
          <a:p>
            <a:pPr rtl="0"/>
            <a:r>
              <a:rPr lang="en-AU" sz="4000" dirty="0"/>
              <a:t>Definite Loop Example: For Loop with range()</a:t>
            </a:r>
            <a:br>
              <a:rPr lang="en-US" altLang="en-US" sz="3200" b="1" dirty="0">
                <a:latin typeface="+mn-lt"/>
              </a:rPr>
            </a:br>
            <a:endParaRPr lang="en-US" altLang="en-US" sz="3200" b="1" dirty="0"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365760" lvl="1" indent="-256032" rtl="0"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dirty="0">
                <a:cs typeface="Courier New" panose="02070309020205020404" pitchFamily="49" charset="0"/>
              </a:rPr>
              <a:t>Print the numbers 0-5 proceeded with the sentence "the number is: " using a for loop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A8E0F7-5E7D-44AF-AAF1-A3B9EDFD00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759"/>
          <a:stretch>
            <a:fillRect/>
          </a:stretch>
        </p:blipFill>
        <p:spPr>
          <a:xfrm>
            <a:off x="513588" y="3376304"/>
            <a:ext cx="11164824" cy="22874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01CF334-2D5C-4859-84A6-CA7E6E43FAE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645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 fontScale="90000"/>
          </a:bodyPr>
          <a:lstStyle/>
          <a:p>
            <a:pPr rtl="0"/>
            <a:r>
              <a:rPr lang="en-AU" sz="3200" dirty="0"/>
              <a:t>Definite Loop Example: For Loop with range()</a:t>
            </a:r>
            <a:br>
              <a:rPr lang="en-US" altLang="en-US" sz="3200" b="1" dirty="0">
                <a:latin typeface="+mn-lt"/>
              </a:rPr>
            </a:br>
            <a:endParaRPr lang="en-US" altLang="en-US" sz="3200" b="1" dirty="0"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365760" lvl="1" indent="-256032" rtl="0"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1800">
                <a:cs typeface="Courier New" panose="02070309020205020404" pitchFamily="49" charset="0"/>
              </a:rPr>
              <a:t>Print the numbers 1-5 proceeded with the sentence "the number is: " using a for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FF5C8-47D1-4421-8553-C55F74E42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145160"/>
            <a:ext cx="11164824" cy="26616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01CF334-2D5C-4859-84A6-CA7E6E43FAE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95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B16C54-DEF2-6EA1-0997-B0BFF3C8E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spcBef>
                <a:spcPct val="0"/>
              </a:spcBef>
            </a:pPr>
            <a:r>
              <a:rPr lang="en-US" sz="5400">
                <a:solidFill>
                  <a:schemeClr val="tx1"/>
                </a:solidFill>
                <a:sym typeface="Cabin"/>
              </a:rPr>
              <a:t>Infinite Loop</a:t>
            </a:r>
            <a:endParaRPr lang="en-US" sz="5400">
              <a:solidFill>
                <a:schemeClr val="tx1"/>
              </a:solidFill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1E28E-B979-B96D-ED23-84FBE37D3AD3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An </a:t>
            </a:r>
            <a:r>
              <a:rPr lang="en-US" sz="2400" b="1" i="0" dirty="0">
                <a:effectLst/>
              </a:rPr>
              <a:t>infinite loop</a:t>
            </a:r>
            <a:r>
              <a:rPr lang="en-US" sz="2400" b="0" i="0" dirty="0">
                <a:effectLst/>
              </a:rPr>
              <a:t> (also called endless loop) in Python is a sequence of statements in a program which executes endlessly.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It occurs when the loop condition always evaluates to true. In other words, a loop becomes an infinite loop if a loop condition never becomes false.</a:t>
            </a:r>
          </a:p>
        </p:txBody>
      </p:sp>
      <p:pic>
        <p:nvPicPr>
          <p:cNvPr id="6" name="Picture 5" descr="A black screen with green text&#10;&#10;Description automatically generated">
            <a:extLst>
              <a:ext uri="{FF2B5EF4-FFF2-40B4-BE49-F238E27FC236}">
                <a16:creationId xmlns:a16="http://schemas.microsoft.com/office/drawing/2014/main" id="{E13BB589-1B1F-F354-F887-8A79351D2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298" y="185819"/>
            <a:ext cx="5111447" cy="2773072"/>
          </a:xfrm>
          <a:prstGeom prst="rect">
            <a:avLst/>
          </a:prstGeom>
        </p:spPr>
      </p:pic>
      <p:pic>
        <p:nvPicPr>
          <p:cNvPr id="8" name="Picture 7" descr="A black rectangular object with white lines&#10;&#10;Description automatically generated">
            <a:extLst>
              <a:ext uri="{FF2B5EF4-FFF2-40B4-BE49-F238E27FC236}">
                <a16:creationId xmlns:a16="http://schemas.microsoft.com/office/drawing/2014/main" id="{E848DD37-3E02-58E6-C615-4A5140C91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069" y="2958891"/>
            <a:ext cx="4866676" cy="233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82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Freeform: Shape 10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12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loop control </a:t>
            </a:r>
            <a:r>
              <a:rPr lang="en-US" altLang="en-US" sz="4000" b="1" dirty="0">
                <a:latin typeface="+mn-lt"/>
              </a:rPr>
              <a:t>: </a:t>
            </a:r>
            <a:br>
              <a:rPr lang="en-US" altLang="en-US" sz="4000" b="1" dirty="0">
                <a:latin typeface="+mn-lt"/>
              </a:rPr>
            </a:br>
            <a:r>
              <a:rPr lang="en-US" altLang="en-US" sz="4000" b="1" dirty="0">
                <a:latin typeface="+mn-lt"/>
              </a:rPr>
              <a:t>The break &amp; continue Statement</a:t>
            </a:r>
            <a:br>
              <a:rPr lang="en-US" altLang="en-US" sz="4000" b="1" dirty="0">
                <a:latin typeface="+mn-lt"/>
              </a:rPr>
            </a:br>
            <a:endParaRPr lang="en-US" altLang="en-US" sz="4000" b="1" dirty="0">
              <a:latin typeface="+mn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16E8756-5F2A-DDBC-55DC-77AC934B86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34149" y="932688"/>
          <a:ext cx="5916603" cy="4992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1362" y="6356350"/>
            <a:ext cx="100243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01CF334-2D5C-4859-84A6-CA7E6E43FAEB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065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B0C08-A798-EC17-03AF-BF880E35E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bin"/>
              </a:rPr>
              <a:t>Breaking Out of a Loop</a:t>
            </a:r>
            <a:endParaRPr lang="en-US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63210C-ECB8-61FE-9AB4-743F288765A7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61975" indent="-228600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ct val="171000"/>
              <a:buFont typeface="Arial" panose="020B0604020202020204" pitchFamily="34" charset="0"/>
              <a:buChar char="•"/>
            </a:pPr>
            <a:r>
              <a:rPr lang="en-US" sz="2000" dirty="0">
                <a:sym typeface="Cabin"/>
              </a:rPr>
              <a:t>The </a:t>
            </a:r>
            <a:r>
              <a:rPr lang="en-US" sz="2000" b="1" dirty="0">
                <a:sym typeface="Cabin"/>
              </a:rPr>
              <a:t>break</a:t>
            </a:r>
            <a:r>
              <a:rPr lang="en-US" sz="2000" dirty="0">
                <a:sym typeface="Cabin"/>
              </a:rPr>
              <a:t> statement ends the current loop and jumps to the statement immediately following the loop</a:t>
            </a:r>
          </a:p>
          <a:p>
            <a:pPr marL="561975" indent="-228600">
              <a:lnSpc>
                <a:spcPct val="90000"/>
              </a:lnSpc>
              <a:spcBef>
                <a:spcPts val="2625"/>
              </a:spcBef>
              <a:buClr>
                <a:schemeClr val="lt1"/>
              </a:buClr>
              <a:buSzPct val="171000"/>
              <a:buFont typeface="Arial" panose="020B0604020202020204" pitchFamily="34" charset="0"/>
              <a:buChar char="•"/>
            </a:pPr>
            <a:r>
              <a:rPr lang="en-US" sz="2000" dirty="0">
                <a:sym typeface="Cabin"/>
              </a:rPr>
              <a:t>It is like a loop test that can happen anywhere in the body of the loop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5104001-C45C-1581-77AE-A40ABD32A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5427"/>
          <a:stretch>
            <a:fillRect/>
          </a:stretch>
        </p:blipFill>
        <p:spPr>
          <a:xfrm>
            <a:off x="4059936" y="980033"/>
            <a:ext cx="7960656" cy="48979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351A7-97E8-4073-5202-3328755F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E472F36-33E8-9845-A640-9E56E43EA24B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851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745" y="641850"/>
            <a:ext cx="4082467" cy="1535865"/>
          </a:xfrm>
        </p:spPr>
        <p:txBody>
          <a:bodyPr>
            <a:normAutofit/>
          </a:bodyPr>
          <a:lstStyle/>
          <a:p>
            <a:r>
              <a:rPr lang="en-AU" sz="3200" b="1" dirty="0"/>
              <a:t>While Loop with Break</a:t>
            </a:r>
            <a:br>
              <a:rPr lang="en-US" altLang="en-US" sz="3200" b="1" dirty="0">
                <a:latin typeface="+mn-lt"/>
              </a:rPr>
            </a:br>
            <a:endParaRPr lang="en-US" alt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0640" y="641850"/>
            <a:ext cx="6053160" cy="1535865"/>
          </a:xfrm>
        </p:spPr>
        <p:txBody>
          <a:bodyPr anchor="ctr">
            <a:normAutofit/>
          </a:bodyPr>
          <a:lstStyle/>
          <a:p>
            <a:pPr marL="365760" lvl="1" indent="-256032" rtl="0"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1800" dirty="0">
                <a:cs typeface="Courier New" panose="02070309020205020404" pitchFamily="49" charset="0"/>
              </a:rPr>
              <a:t>Exit the loop after printing number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8386C-4230-400F-8B96-3B85E9C6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" t="11744" r="-378" b="693"/>
          <a:stretch>
            <a:fillRect/>
          </a:stretch>
        </p:blipFill>
        <p:spPr>
          <a:xfrm>
            <a:off x="728588" y="1940138"/>
            <a:ext cx="11167447" cy="41268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01CF334-2D5C-4859-84A6-CA7E6E43FAE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31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2966C-D02C-3F20-0D19-702603E94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bin"/>
              </a:rPr>
              <a:t>Finishing an Iteration with continue</a:t>
            </a:r>
            <a:endParaRPr lang="en-US" sz="3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C10E1-5109-A703-0520-7B0B3E8FD1F2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2400" b="1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statement ends the current iteration and jumps to the top of the loop and starts the next iteration.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849CA048-8437-BE64-E04F-7DC6782AD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5410"/>
          <a:stretch>
            <a:fillRect/>
          </a:stretch>
        </p:blipFill>
        <p:spPr>
          <a:xfrm>
            <a:off x="4012128" y="639520"/>
            <a:ext cx="8066116" cy="4978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85605-3FF8-B46E-1445-8330F9F12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E472F36-33E8-9845-A640-9E56E43EA24B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188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18" y="641850"/>
            <a:ext cx="4924122" cy="1535865"/>
          </a:xfrm>
        </p:spPr>
        <p:txBody>
          <a:bodyPr>
            <a:normAutofit/>
          </a:bodyPr>
          <a:lstStyle/>
          <a:p>
            <a:r>
              <a:rPr lang="en-AU" sz="3200" b="1" dirty="0"/>
              <a:t>While</a:t>
            </a:r>
            <a:r>
              <a:rPr lang="en-AU" sz="3200" dirty="0"/>
              <a:t> </a:t>
            </a:r>
            <a:r>
              <a:rPr lang="en-AU" sz="3200" b="1" dirty="0"/>
              <a:t>Loop with Continue</a:t>
            </a:r>
            <a:br>
              <a:rPr lang="en-US" altLang="en-US" sz="3200" b="1" dirty="0">
                <a:latin typeface="+mn-lt"/>
              </a:rPr>
            </a:br>
            <a:endParaRPr lang="en-US" alt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0640" y="641850"/>
            <a:ext cx="6053160" cy="1535865"/>
          </a:xfrm>
        </p:spPr>
        <p:txBody>
          <a:bodyPr anchor="ctr">
            <a:normAutofit/>
          </a:bodyPr>
          <a:lstStyle/>
          <a:p>
            <a:pPr marL="365760" lvl="1" indent="-256032" rtl="0">
              <a:buClr>
                <a:schemeClr val="accent3">
                  <a:lumMod val="75000"/>
                </a:schemeClr>
              </a:buClr>
              <a:buFont typeface="Georgia"/>
              <a:buChar char="•"/>
              <a:defRPr/>
            </a:pPr>
            <a:r>
              <a:rPr lang="en-GB" altLang="en-US" sz="1800" dirty="0">
                <a:cs typeface="Courier New" panose="02070309020205020404" pitchFamily="49" charset="0"/>
              </a:rPr>
              <a:t>Skip printing number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50EAD-B847-4E81-A616-3A82360797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2310" r="2" b="9723"/>
          <a:stretch>
            <a:fillRect/>
          </a:stretch>
        </p:blipFill>
        <p:spPr>
          <a:xfrm>
            <a:off x="512276" y="2259453"/>
            <a:ext cx="11167447" cy="37784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B19-4E39-4260-8582-C51092F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01CF334-2D5C-4859-84A6-CA7E6E43FAEB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46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FCE72-C456-CF3F-9211-D7DB97E9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else Clauses on Loops</a:t>
            </a:r>
            <a:br>
              <a:rPr lang="en-AU" b="0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E8CD8-4C1E-3424-0852-48925B09C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AU" b="0" i="0" dirty="0">
                <a:solidFill>
                  <a:srgbClr val="000000"/>
                </a:solidFill>
                <a:effectLst/>
                <a:latin typeface="-apple-system"/>
              </a:rPr>
              <a:t>In a for or while loop the break statement may be paired with an else clause. If the loop finishes without executing the break, the else clause executes.</a:t>
            </a:r>
          </a:p>
          <a:p>
            <a:pPr algn="l"/>
            <a:r>
              <a:rPr lang="en-AU" b="0" i="0" dirty="0">
                <a:solidFill>
                  <a:srgbClr val="000000"/>
                </a:solidFill>
                <a:effectLst/>
                <a:latin typeface="-apple-system"/>
              </a:rPr>
              <a:t>In a </a:t>
            </a:r>
            <a:r>
              <a:rPr lang="en-AU" b="0" i="0" dirty="0">
                <a:solidFill>
                  <a:srgbClr val="0072AA"/>
                </a:solidFill>
                <a:effectLst/>
                <a:latin typeface="-apple-system"/>
                <a:hlinkClick r:id="rId3"/>
              </a:rPr>
              <a:t>for</a:t>
            </a:r>
            <a:r>
              <a:rPr lang="en-AU" b="0" i="0" dirty="0">
                <a:solidFill>
                  <a:srgbClr val="000000"/>
                </a:solidFill>
                <a:effectLst/>
                <a:latin typeface="-apple-system"/>
              </a:rPr>
              <a:t> loop, the else clause is executed after the loop finishes its final iteration, that is, if no break occurred.</a:t>
            </a:r>
          </a:p>
          <a:p>
            <a:pPr algn="l"/>
            <a:r>
              <a:rPr lang="en-AU" b="0" i="0" dirty="0">
                <a:solidFill>
                  <a:srgbClr val="000000"/>
                </a:solidFill>
                <a:effectLst/>
                <a:latin typeface="-apple-system"/>
              </a:rPr>
              <a:t>In a </a:t>
            </a:r>
            <a:r>
              <a:rPr lang="en-AU" b="0" i="0" dirty="0">
                <a:solidFill>
                  <a:srgbClr val="0072AA"/>
                </a:solidFill>
                <a:effectLst/>
                <a:latin typeface="-apple-system"/>
                <a:hlinkClick r:id="rId4"/>
              </a:rPr>
              <a:t>while</a:t>
            </a:r>
            <a:r>
              <a:rPr lang="en-AU" b="0" i="0" dirty="0">
                <a:solidFill>
                  <a:srgbClr val="000000"/>
                </a:solidFill>
                <a:effectLst/>
                <a:latin typeface="-apple-system"/>
              </a:rPr>
              <a:t> loop, it’s executed after the loop’s condition becomes false.</a:t>
            </a:r>
          </a:p>
          <a:p>
            <a:pPr algn="l"/>
            <a:r>
              <a:rPr lang="en-AU" b="0" i="0" dirty="0">
                <a:solidFill>
                  <a:srgbClr val="000000"/>
                </a:solidFill>
                <a:effectLst/>
                <a:latin typeface="-apple-system"/>
              </a:rPr>
              <a:t>In either kind of loop, the else clause is </a:t>
            </a:r>
            <a:r>
              <a:rPr lang="en-AU" b="1" i="0" dirty="0">
                <a:solidFill>
                  <a:srgbClr val="000000"/>
                </a:solidFill>
                <a:effectLst/>
                <a:latin typeface="-apple-system"/>
              </a:rPr>
              <a:t>not</a:t>
            </a:r>
            <a:r>
              <a:rPr lang="en-AU" b="0" i="0" dirty="0">
                <a:solidFill>
                  <a:srgbClr val="000000"/>
                </a:solidFill>
                <a:effectLst/>
                <a:latin typeface="-apple-system"/>
              </a:rPr>
              <a:t> executed if the loop was terminated by a </a:t>
            </a:r>
            <a:r>
              <a:rPr lang="en-AU" b="0" i="0" dirty="0">
                <a:solidFill>
                  <a:srgbClr val="0072AA"/>
                </a:solidFill>
                <a:effectLst/>
                <a:latin typeface="-apple-system"/>
                <a:hlinkClick r:id="rId5"/>
              </a:rPr>
              <a:t>break</a:t>
            </a:r>
            <a:r>
              <a:rPr lang="en-AU" b="0" i="0" dirty="0">
                <a:solidFill>
                  <a:srgbClr val="000000"/>
                </a:solidFill>
                <a:effectLst/>
                <a:latin typeface="-apple-system"/>
              </a:rPr>
              <a:t>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4E89E-9E69-84F7-DFC2-2B791BF7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07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E5FFD-7927-B8F4-97B3-FE5BF2DBE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else Clauses on Loops</a:t>
            </a:r>
            <a:endParaRPr lang="en-US" dirty="0"/>
          </a:p>
        </p:txBody>
      </p:sp>
      <p:pic>
        <p:nvPicPr>
          <p:cNvPr id="6" name="Content Placeholder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EACBBC1-4D5F-6747-A7EF-540E1D89F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436914"/>
            <a:ext cx="9739042" cy="498338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CB5EE-4310-548C-F61C-30C91903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72F36-33E8-9845-A640-9E56E43EA24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35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2843</TotalTime>
  <Words>1095</Words>
  <Application>Microsoft Office PowerPoint</Application>
  <PresentationFormat>Widescreen</PresentationFormat>
  <Paragraphs>167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-apple-system</vt:lpstr>
      <vt:lpstr>Aptos</vt:lpstr>
      <vt:lpstr>Aptos Display</vt:lpstr>
      <vt:lpstr>Arial</vt:lpstr>
      <vt:lpstr>Cabin</vt:lpstr>
      <vt:lpstr>Calibri</vt:lpstr>
      <vt:lpstr>Courier</vt:lpstr>
      <vt:lpstr>Courier New</vt:lpstr>
      <vt:lpstr>Georgia</vt:lpstr>
      <vt:lpstr>Tahoma</vt:lpstr>
      <vt:lpstr>Times</vt:lpstr>
      <vt:lpstr>Times New Roman</vt:lpstr>
      <vt:lpstr>Office Theme</vt:lpstr>
      <vt:lpstr>CS1011  Computer Programming in Python  </vt:lpstr>
      <vt:lpstr>Objectives </vt:lpstr>
      <vt:lpstr>Loops </vt:lpstr>
      <vt:lpstr>Loops: While </vt:lpstr>
      <vt:lpstr>Loops: while </vt:lpstr>
      <vt:lpstr>Indefinite Loop while (example)  </vt:lpstr>
      <vt:lpstr>Loops: while (example)</vt:lpstr>
      <vt:lpstr>For Loops</vt:lpstr>
      <vt:lpstr>For Loops </vt:lpstr>
      <vt:lpstr>Loops: for </vt:lpstr>
      <vt:lpstr>Definite Loop: For Loop — Iterating Through a Sequence</vt:lpstr>
      <vt:lpstr>Looking at in...</vt:lpstr>
      <vt:lpstr>PowerPoint Presentation</vt:lpstr>
      <vt:lpstr>Definite Loop Example: For Loop with range() </vt:lpstr>
      <vt:lpstr>Definite Loop Example: For Loop with range() </vt:lpstr>
      <vt:lpstr>Infinite Loop</vt:lpstr>
      <vt:lpstr>loop control :  The break &amp; continue Statement </vt:lpstr>
      <vt:lpstr>Breaking Out of a Loop</vt:lpstr>
      <vt:lpstr>While Loop with Break </vt:lpstr>
      <vt:lpstr>Finishing an Iteration with continue</vt:lpstr>
      <vt:lpstr>While Loop with Continue </vt:lpstr>
      <vt:lpstr>else Clauses on Loops </vt:lpstr>
      <vt:lpstr>else Clauses on Loops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Ebtesam A. Alghamdi</dc:creator>
  <cp:lastModifiedBy>eman alharbi</cp:lastModifiedBy>
  <cp:revision>68</cp:revision>
  <dcterms:created xsi:type="dcterms:W3CDTF">2025-09-11T13:54:49Z</dcterms:created>
  <dcterms:modified xsi:type="dcterms:W3CDTF">2025-09-13T18:33:33Z</dcterms:modified>
</cp:coreProperties>
</file>