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1"/>
  </p:sldMasterIdLst>
  <p:notesMasterIdLst>
    <p:notesMasterId r:id="rId40"/>
  </p:notesMasterIdLst>
  <p:sldIdLst>
    <p:sldId id="256" r:id="rId2"/>
    <p:sldId id="257" r:id="rId3"/>
    <p:sldId id="259" r:id="rId4"/>
    <p:sldId id="258" r:id="rId5"/>
    <p:sldId id="261" r:id="rId6"/>
    <p:sldId id="295" r:id="rId7"/>
    <p:sldId id="296" r:id="rId8"/>
    <p:sldId id="297" r:id="rId9"/>
    <p:sldId id="298" r:id="rId10"/>
    <p:sldId id="299" r:id="rId11"/>
    <p:sldId id="300" r:id="rId12"/>
    <p:sldId id="301" r:id="rId13"/>
    <p:sldId id="302" r:id="rId14"/>
    <p:sldId id="303" r:id="rId15"/>
    <p:sldId id="304" r:id="rId16"/>
    <p:sldId id="305" r:id="rId17"/>
    <p:sldId id="306" r:id="rId18"/>
    <p:sldId id="307" r:id="rId19"/>
    <p:sldId id="269" r:id="rId20"/>
    <p:sldId id="270" r:id="rId21"/>
    <p:sldId id="271" r:id="rId22"/>
    <p:sldId id="272" r:id="rId23"/>
    <p:sldId id="273" r:id="rId24"/>
    <p:sldId id="277" r:id="rId25"/>
    <p:sldId id="279" r:id="rId26"/>
    <p:sldId id="281" r:id="rId27"/>
    <p:sldId id="282" r:id="rId28"/>
    <p:sldId id="283" r:id="rId29"/>
    <p:sldId id="280" r:id="rId30"/>
    <p:sldId id="291" r:id="rId31"/>
    <p:sldId id="274" r:id="rId32"/>
    <p:sldId id="275" r:id="rId33"/>
    <p:sldId id="294" r:id="rId34"/>
    <p:sldId id="293" r:id="rId35"/>
    <p:sldId id="287" r:id="rId36"/>
    <p:sldId id="289" r:id="rId37"/>
    <p:sldId id="288" r:id="rId38"/>
    <p:sldId id="290"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32"/>
  </p:normalViewPr>
  <p:slideViewPr>
    <p:cSldViewPr snapToGrid="0">
      <p:cViewPr varScale="1">
        <p:scale>
          <a:sx n="70" d="100"/>
          <a:sy n="70" d="100"/>
        </p:scale>
        <p:origin x="63" y="3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2432B3-6DBA-4F53-8149-937A97B25E45}"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3BE610D3-0EC6-4C8C-AF99-E10115F6F85C}">
      <dgm:prSet/>
      <dgm:spPr/>
      <dgm:t>
        <a:bodyPr/>
        <a:lstStyle/>
        <a:p>
          <a:r>
            <a:rPr lang="en-GB" dirty="0"/>
            <a:t>Works on different operating systems</a:t>
          </a:r>
          <a:endParaRPr lang="en-US" dirty="0"/>
        </a:p>
      </dgm:t>
    </dgm:pt>
    <dgm:pt modelId="{EC6BF16F-6A13-4C7A-AB16-C6BDF4DA5DD6}" type="parTrans" cxnId="{CD0680D0-3A7F-4D68-8FF9-E2EB476747BD}">
      <dgm:prSet/>
      <dgm:spPr/>
      <dgm:t>
        <a:bodyPr/>
        <a:lstStyle/>
        <a:p>
          <a:endParaRPr lang="en-US"/>
        </a:p>
      </dgm:t>
    </dgm:pt>
    <dgm:pt modelId="{C1F688B1-9BE8-4524-8303-F9B0B2EBB875}" type="sibTrans" cxnId="{CD0680D0-3A7F-4D68-8FF9-E2EB476747BD}">
      <dgm:prSet/>
      <dgm:spPr/>
      <dgm:t>
        <a:bodyPr/>
        <a:lstStyle/>
        <a:p>
          <a:endParaRPr lang="en-US"/>
        </a:p>
      </dgm:t>
    </dgm:pt>
    <dgm:pt modelId="{76977953-A562-44CA-B735-25C1A20DD5D5}">
      <dgm:prSet/>
      <dgm:spPr/>
      <dgm:t>
        <a:bodyPr/>
        <a:lstStyle/>
        <a:p>
          <a:r>
            <a:rPr lang="en-GB"/>
            <a:t>Has a simple syntax</a:t>
          </a:r>
          <a:endParaRPr lang="en-US"/>
        </a:p>
      </dgm:t>
    </dgm:pt>
    <dgm:pt modelId="{BAA1C1F7-9721-425E-BC05-42BB799887C9}" type="parTrans" cxnId="{2B84AC7C-CCE2-445E-B1C6-7A6F8C334A74}">
      <dgm:prSet/>
      <dgm:spPr/>
      <dgm:t>
        <a:bodyPr/>
        <a:lstStyle/>
        <a:p>
          <a:endParaRPr lang="en-US"/>
        </a:p>
      </dgm:t>
    </dgm:pt>
    <dgm:pt modelId="{4F92F5B5-51B2-408A-A6C2-784D9BDA63B8}" type="sibTrans" cxnId="{2B84AC7C-CCE2-445E-B1C6-7A6F8C334A74}">
      <dgm:prSet/>
      <dgm:spPr/>
      <dgm:t>
        <a:bodyPr/>
        <a:lstStyle/>
        <a:p>
          <a:endParaRPr lang="en-US"/>
        </a:p>
      </dgm:t>
    </dgm:pt>
    <dgm:pt modelId="{C81E4B14-7855-448D-BCDF-B77FB484803D}">
      <dgm:prSet/>
      <dgm:spPr/>
      <dgm:t>
        <a:bodyPr/>
        <a:lstStyle/>
        <a:p>
          <a:r>
            <a:rPr lang="en-GB"/>
            <a:t>Its code can be executed as soon as it is written</a:t>
          </a:r>
          <a:endParaRPr lang="en-US"/>
        </a:p>
      </dgm:t>
    </dgm:pt>
    <dgm:pt modelId="{91BEA127-9C6B-465A-AA48-741BC173BE04}" type="parTrans" cxnId="{C51CB05D-1703-4A75-9927-B2849ADF41C7}">
      <dgm:prSet/>
      <dgm:spPr/>
      <dgm:t>
        <a:bodyPr/>
        <a:lstStyle/>
        <a:p>
          <a:endParaRPr lang="en-US"/>
        </a:p>
      </dgm:t>
    </dgm:pt>
    <dgm:pt modelId="{93E53FD1-2404-4638-999B-6518503BD3BC}" type="sibTrans" cxnId="{C51CB05D-1703-4A75-9927-B2849ADF41C7}">
      <dgm:prSet/>
      <dgm:spPr/>
      <dgm:t>
        <a:bodyPr/>
        <a:lstStyle/>
        <a:p>
          <a:endParaRPr lang="en-US"/>
        </a:p>
      </dgm:t>
    </dgm:pt>
    <dgm:pt modelId="{384A2BB2-3B1A-BB45-A415-E27961467635}" type="pres">
      <dgm:prSet presAssocID="{912432B3-6DBA-4F53-8149-937A97B25E45}" presName="hierChild1" presStyleCnt="0">
        <dgm:presLayoutVars>
          <dgm:chPref val="1"/>
          <dgm:dir/>
          <dgm:animOne val="branch"/>
          <dgm:animLvl val="lvl"/>
          <dgm:resizeHandles/>
        </dgm:presLayoutVars>
      </dgm:prSet>
      <dgm:spPr/>
    </dgm:pt>
    <dgm:pt modelId="{A48472EB-6A4E-1D4D-B4AA-FB5B7A196704}" type="pres">
      <dgm:prSet presAssocID="{3BE610D3-0EC6-4C8C-AF99-E10115F6F85C}" presName="hierRoot1" presStyleCnt="0"/>
      <dgm:spPr/>
    </dgm:pt>
    <dgm:pt modelId="{9F39CA62-AEB7-E848-BE44-722D883E8798}" type="pres">
      <dgm:prSet presAssocID="{3BE610D3-0EC6-4C8C-AF99-E10115F6F85C}" presName="composite" presStyleCnt="0"/>
      <dgm:spPr/>
    </dgm:pt>
    <dgm:pt modelId="{5C692DFB-ED1B-184A-8A42-05E43BA3F867}" type="pres">
      <dgm:prSet presAssocID="{3BE610D3-0EC6-4C8C-AF99-E10115F6F85C}" presName="background" presStyleLbl="node0" presStyleIdx="0" presStyleCnt="3"/>
      <dgm:spPr/>
    </dgm:pt>
    <dgm:pt modelId="{B750F750-E205-C745-8919-80C6803C1171}" type="pres">
      <dgm:prSet presAssocID="{3BE610D3-0EC6-4C8C-AF99-E10115F6F85C}" presName="text" presStyleLbl="fgAcc0" presStyleIdx="0" presStyleCnt="3">
        <dgm:presLayoutVars>
          <dgm:chPref val="3"/>
        </dgm:presLayoutVars>
      </dgm:prSet>
      <dgm:spPr/>
    </dgm:pt>
    <dgm:pt modelId="{E7CE1FD5-CCEA-A64D-89AE-6D60EF651196}" type="pres">
      <dgm:prSet presAssocID="{3BE610D3-0EC6-4C8C-AF99-E10115F6F85C}" presName="hierChild2" presStyleCnt="0"/>
      <dgm:spPr/>
    </dgm:pt>
    <dgm:pt modelId="{DCFA5881-0541-254D-9346-E0508F596154}" type="pres">
      <dgm:prSet presAssocID="{76977953-A562-44CA-B735-25C1A20DD5D5}" presName="hierRoot1" presStyleCnt="0"/>
      <dgm:spPr/>
    </dgm:pt>
    <dgm:pt modelId="{16C015E7-175D-DE4A-AEA7-CFDA609651AE}" type="pres">
      <dgm:prSet presAssocID="{76977953-A562-44CA-B735-25C1A20DD5D5}" presName="composite" presStyleCnt="0"/>
      <dgm:spPr/>
    </dgm:pt>
    <dgm:pt modelId="{B14A4EC2-9B68-B846-8531-D95FB8C08C4F}" type="pres">
      <dgm:prSet presAssocID="{76977953-A562-44CA-B735-25C1A20DD5D5}" presName="background" presStyleLbl="node0" presStyleIdx="1" presStyleCnt="3"/>
      <dgm:spPr/>
    </dgm:pt>
    <dgm:pt modelId="{BE8892C8-C9F5-2B41-BAAC-723FAB30F8BD}" type="pres">
      <dgm:prSet presAssocID="{76977953-A562-44CA-B735-25C1A20DD5D5}" presName="text" presStyleLbl="fgAcc0" presStyleIdx="1" presStyleCnt="3">
        <dgm:presLayoutVars>
          <dgm:chPref val="3"/>
        </dgm:presLayoutVars>
      </dgm:prSet>
      <dgm:spPr/>
    </dgm:pt>
    <dgm:pt modelId="{F245D859-EBFD-C144-8BF1-0B1B45683C7D}" type="pres">
      <dgm:prSet presAssocID="{76977953-A562-44CA-B735-25C1A20DD5D5}" presName="hierChild2" presStyleCnt="0"/>
      <dgm:spPr/>
    </dgm:pt>
    <dgm:pt modelId="{E152C0C3-DEF1-664B-9ACA-FD9F25CFA051}" type="pres">
      <dgm:prSet presAssocID="{C81E4B14-7855-448D-BCDF-B77FB484803D}" presName="hierRoot1" presStyleCnt="0"/>
      <dgm:spPr/>
    </dgm:pt>
    <dgm:pt modelId="{7A14D926-450C-3B4C-9981-58B1FC629557}" type="pres">
      <dgm:prSet presAssocID="{C81E4B14-7855-448D-BCDF-B77FB484803D}" presName="composite" presStyleCnt="0"/>
      <dgm:spPr/>
    </dgm:pt>
    <dgm:pt modelId="{8A1562FC-358E-7B4D-924A-5FAFBCCFDFF9}" type="pres">
      <dgm:prSet presAssocID="{C81E4B14-7855-448D-BCDF-B77FB484803D}" presName="background" presStyleLbl="node0" presStyleIdx="2" presStyleCnt="3"/>
      <dgm:spPr/>
    </dgm:pt>
    <dgm:pt modelId="{2EBC30E1-F447-4C49-915D-4281B2C0D424}" type="pres">
      <dgm:prSet presAssocID="{C81E4B14-7855-448D-BCDF-B77FB484803D}" presName="text" presStyleLbl="fgAcc0" presStyleIdx="2" presStyleCnt="3">
        <dgm:presLayoutVars>
          <dgm:chPref val="3"/>
        </dgm:presLayoutVars>
      </dgm:prSet>
      <dgm:spPr/>
    </dgm:pt>
    <dgm:pt modelId="{1127BA0D-A24C-8743-8F13-07604F5EA074}" type="pres">
      <dgm:prSet presAssocID="{C81E4B14-7855-448D-BCDF-B77FB484803D}" presName="hierChild2" presStyleCnt="0"/>
      <dgm:spPr/>
    </dgm:pt>
  </dgm:ptLst>
  <dgm:cxnLst>
    <dgm:cxn modelId="{C51CB05D-1703-4A75-9927-B2849ADF41C7}" srcId="{912432B3-6DBA-4F53-8149-937A97B25E45}" destId="{C81E4B14-7855-448D-BCDF-B77FB484803D}" srcOrd="2" destOrd="0" parTransId="{91BEA127-9C6B-465A-AA48-741BC173BE04}" sibTransId="{93E53FD1-2404-4638-999B-6518503BD3BC}"/>
    <dgm:cxn modelId="{C7B39565-43C1-7E49-8A0F-E7925446A565}" type="presOf" srcId="{912432B3-6DBA-4F53-8149-937A97B25E45}" destId="{384A2BB2-3B1A-BB45-A415-E27961467635}" srcOrd="0" destOrd="0" presId="urn:microsoft.com/office/officeart/2005/8/layout/hierarchy1"/>
    <dgm:cxn modelId="{2B84AC7C-CCE2-445E-B1C6-7A6F8C334A74}" srcId="{912432B3-6DBA-4F53-8149-937A97B25E45}" destId="{76977953-A562-44CA-B735-25C1A20DD5D5}" srcOrd="1" destOrd="0" parTransId="{BAA1C1F7-9721-425E-BC05-42BB799887C9}" sibTransId="{4F92F5B5-51B2-408A-A6C2-784D9BDA63B8}"/>
    <dgm:cxn modelId="{7021EF97-B288-CB4C-8C96-49DDE295783C}" type="presOf" srcId="{C81E4B14-7855-448D-BCDF-B77FB484803D}" destId="{2EBC30E1-F447-4C49-915D-4281B2C0D424}" srcOrd="0" destOrd="0" presId="urn:microsoft.com/office/officeart/2005/8/layout/hierarchy1"/>
    <dgm:cxn modelId="{A650A299-9E1C-1E49-A27E-CA5F82B12D41}" type="presOf" srcId="{3BE610D3-0EC6-4C8C-AF99-E10115F6F85C}" destId="{B750F750-E205-C745-8919-80C6803C1171}" srcOrd="0" destOrd="0" presId="urn:microsoft.com/office/officeart/2005/8/layout/hierarchy1"/>
    <dgm:cxn modelId="{E1BDF5BA-743C-1A4E-8806-DAE4B29DC7CC}" type="presOf" srcId="{76977953-A562-44CA-B735-25C1A20DD5D5}" destId="{BE8892C8-C9F5-2B41-BAAC-723FAB30F8BD}" srcOrd="0" destOrd="0" presId="urn:microsoft.com/office/officeart/2005/8/layout/hierarchy1"/>
    <dgm:cxn modelId="{CD0680D0-3A7F-4D68-8FF9-E2EB476747BD}" srcId="{912432B3-6DBA-4F53-8149-937A97B25E45}" destId="{3BE610D3-0EC6-4C8C-AF99-E10115F6F85C}" srcOrd="0" destOrd="0" parTransId="{EC6BF16F-6A13-4C7A-AB16-C6BDF4DA5DD6}" sibTransId="{C1F688B1-9BE8-4524-8303-F9B0B2EBB875}"/>
    <dgm:cxn modelId="{3CA073C3-1730-2447-8E0C-7C6DE387F78F}" type="presParOf" srcId="{384A2BB2-3B1A-BB45-A415-E27961467635}" destId="{A48472EB-6A4E-1D4D-B4AA-FB5B7A196704}" srcOrd="0" destOrd="0" presId="urn:microsoft.com/office/officeart/2005/8/layout/hierarchy1"/>
    <dgm:cxn modelId="{BC1CA8C1-92B0-9B47-823A-552A605BCCA2}" type="presParOf" srcId="{A48472EB-6A4E-1D4D-B4AA-FB5B7A196704}" destId="{9F39CA62-AEB7-E848-BE44-722D883E8798}" srcOrd="0" destOrd="0" presId="urn:microsoft.com/office/officeart/2005/8/layout/hierarchy1"/>
    <dgm:cxn modelId="{5C18D78F-EE5D-DD49-A317-3C058744283F}" type="presParOf" srcId="{9F39CA62-AEB7-E848-BE44-722D883E8798}" destId="{5C692DFB-ED1B-184A-8A42-05E43BA3F867}" srcOrd="0" destOrd="0" presId="urn:microsoft.com/office/officeart/2005/8/layout/hierarchy1"/>
    <dgm:cxn modelId="{2A228A00-8438-5446-AEE0-4B09108A9830}" type="presParOf" srcId="{9F39CA62-AEB7-E848-BE44-722D883E8798}" destId="{B750F750-E205-C745-8919-80C6803C1171}" srcOrd="1" destOrd="0" presId="urn:microsoft.com/office/officeart/2005/8/layout/hierarchy1"/>
    <dgm:cxn modelId="{2B4CA339-8553-BB4B-A3DA-A6A6686A047A}" type="presParOf" srcId="{A48472EB-6A4E-1D4D-B4AA-FB5B7A196704}" destId="{E7CE1FD5-CCEA-A64D-89AE-6D60EF651196}" srcOrd="1" destOrd="0" presId="urn:microsoft.com/office/officeart/2005/8/layout/hierarchy1"/>
    <dgm:cxn modelId="{CE29398F-5DE1-B14A-BE39-4656FAB7CA93}" type="presParOf" srcId="{384A2BB2-3B1A-BB45-A415-E27961467635}" destId="{DCFA5881-0541-254D-9346-E0508F596154}" srcOrd="1" destOrd="0" presId="urn:microsoft.com/office/officeart/2005/8/layout/hierarchy1"/>
    <dgm:cxn modelId="{F451E15A-A484-3344-B248-E4B01AFDF8CA}" type="presParOf" srcId="{DCFA5881-0541-254D-9346-E0508F596154}" destId="{16C015E7-175D-DE4A-AEA7-CFDA609651AE}" srcOrd="0" destOrd="0" presId="urn:microsoft.com/office/officeart/2005/8/layout/hierarchy1"/>
    <dgm:cxn modelId="{6ACB5B1A-BA48-A847-8745-9A7CB5C2A281}" type="presParOf" srcId="{16C015E7-175D-DE4A-AEA7-CFDA609651AE}" destId="{B14A4EC2-9B68-B846-8531-D95FB8C08C4F}" srcOrd="0" destOrd="0" presId="urn:microsoft.com/office/officeart/2005/8/layout/hierarchy1"/>
    <dgm:cxn modelId="{16C0CCF5-68B0-FF4D-B182-CF3A78D45BD1}" type="presParOf" srcId="{16C015E7-175D-DE4A-AEA7-CFDA609651AE}" destId="{BE8892C8-C9F5-2B41-BAAC-723FAB30F8BD}" srcOrd="1" destOrd="0" presId="urn:microsoft.com/office/officeart/2005/8/layout/hierarchy1"/>
    <dgm:cxn modelId="{43829BCA-8B7F-B940-9503-0E8E947AE82A}" type="presParOf" srcId="{DCFA5881-0541-254D-9346-E0508F596154}" destId="{F245D859-EBFD-C144-8BF1-0B1B45683C7D}" srcOrd="1" destOrd="0" presId="urn:microsoft.com/office/officeart/2005/8/layout/hierarchy1"/>
    <dgm:cxn modelId="{4F3908FD-6CE9-D846-9201-93588C40592A}" type="presParOf" srcId="{384A2BB2-3B1A-BB45-A415-E27961467635}" destId="{E152C0C3-DEF1-664B-9ACA-FD9F25CFA051}" srcOrd="2" destOrd="0" presId="urn:microsoft.com/office/officeart/2005/8/layout/hierarchy1"/>
    <dgm:cxn modelId="{85B2652C-9792-F041-B159-DAB4D20D157A}" type="presParOf" srcId="{E152C0C3-DEF1-664B-9ACA-FD9F25CFA051}" destId="{7A14D926-450C-3B4C-9981-58B1FC629557}" srcOrd="0" destOrd="0" presId="urn:microsoft.com/office/officeart/2005/8/layout/hierarchy1"/>
    <dgm:cxn modelId="{9E632E1B-4196-304B-B615-9E537DBDCD3C}" type="presParOf" srcId="{7A14D926-450C-3B4C-9981-58B1FC629557}" destId="{8A1562FC-358E-7B4D-924A-5FAFBCCFDFF9}" srcOrd="0" destOrd="0" presId="urn:microsoft.com/office/officeart/2005/8/layout/hierarchy1"/>
    <dgm:cxn modelId="{A8D41BA2-37CB-A24C-BEC0-3B36B52BFEDA}" type="presParOf" srcId="{7A14D926-450C-3B4C-9981-58B1FC629557}" destId="{2EBC30E1-F447-4C49-915D-4281B2C0D424}" srcOrd="1" destOrd="0" presId="urn:microsoft.com/office/officeart/2005/8/layout/hierarchy1"/>
    <dgm:cxn modelId="{77BAE464-2367-F34C-AD02-8BBFD694A3AF}" type="presParOf" srcId="{E152C0C3-DEF1-664B-9ACA-FD9F25CFA051}" destId="{1127BA0D-A24C-8743-8F13-07604F5EA074}"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07461DB-BC19-4673-8CC3-8205303BA05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D3DB795-3883-40B5-B630-F2667131F70B}">
      <dgm:prSet/>
      <dgm:spPr/>
      <dgm:t>
        <a:bodyPr/>
        <a:lstStyle/>
        <a:p>
          <a:r>
            <a:rPr lang="en-GB"/>
            <a:t>A variable name must start with a letter or _</a:t>
          </a:r>
          <a:endParaRPr lang="en-US"/>
        </a:p>
      </dgm:t>
    </dgm:pt>
    <dgm:pt modelId="{36AEF32C-F3BF-458F-91C0-4A91451259D0}" type="parTrans" cxnId="{9A4BD384-43B1-4454-BA86-27D22171F790}">
      <dgm:prSet/>
      <dgm:spPr/>
      <dgm:t>
        <a:bodyPr/>
        <a:lstStyle/>
        <a:p>
          <a:endParaRPr lang="en-US"/>
        </a:p>
      </dgm:t>
    </dgm:pt>
    <dgm:pt modelId="{536B3AC0-973F-4181-B845-F09D61D4C65E}" type="sibTrans" cxnId="{9A4BD384-43B1-4454-BA86-27D22171F790}">
      <dgm:prSet/>
      <dgm:spPr/>
      <dgm:t>
        <a:bodyPr/>
        <a:lstStyle/>
        <a:p>
          <a:endParaRPr lang="en-US"/>
        </a:p>
      </dgm:t>
    </dgm:pt>
    <dgm:pt modelId="{8AE3C718-5B20-4FAD-BCE5-DD7B1D187BE6}">
      <dgm:prSet/>
      <dgm:spPr/>
      <dgm:t>
        <a:bodyPr/>
        <a:lstStyle/>
        <a:p>
          <a:r>
            <a:rPr lang="en-GB"/>
            <a:t>A variable name can only contain numbers, letters, and _</a:t>
          </a:r>
          <a:endParaRPr lang="en-US"/>
        </a:p>
      </dgm:t>
    </dgm:pt>
    <dgm:pt modelId="{E53851C8-4985-4B57-B62C-C1D2418D4205}" type="parTrans" cxnId="{C0D1A368-3E02-477F-991B-430E5ABE2E4C}">
      <dgm:prSet/>
      <dgm:spPr/>
      <dgm:t>
        <a:bodyPr/>
        <a:lstStyle/>
        <a:p>
          <a:endParaRPr lang="en-US"/>
        </a:p>
      </dgm:t>
    </dgm:pt>
    <dgm:pt modelId="{81993DE1-4343-489E-BC94-CCEE9D7D7CD9}" type="sibTrans" cxnId="{C0D1A368-3E02-477F-991B-430E5ABE2E4C}">
      <dgm:prSet/>
      <dgm:spPr/>
      <dgm:t>
        <a:bodyPr/>
        <a:lstStyle/>
        <a:p>
          <a:endParaRPr lang="en-US"/>
        </a:p>
      </dgm:t>
    </dgm:pt>
    <dgm:pt modelId="{2C687316-F195-44F3-9FFE-AD1DA78F6AF8}">
      <dgm:prSet/>
      <dgm:spPr/>
      <dgm:t>
        <a:bodyPr/>
        <a:lstStyle/>
        <a:p>
          <a:r>
            <a:rPr lang="en-GB"/>
            <a:t>Variable names are case-sensitive (age ≠ Age ≠ AGE)</a:t>
          </a:r>
          <a:endParaRPr lang="en-US"/>
        </a:p>
      </dgm:t>
    </dgm:pt>
    <dgm:pt modelId="{7E7BB66C-27D0-4928-82C3-A500A76952E3}" type="parTrans" cxnId="{88737DFD-47F8-419D-9192-2A8CAA04E6DF}">
      <dgm:prSet/>
      <dgm:spPr/>
      <dgm:t>
        <a:bodyPr/>
        <a:lstStyle/>
        <a:p>
          <a:endParaRPr lang="en-US"/>
        </a:p>
      </dgm:t>
    </dgm:pt>
    <dgm:pt modelId="{106F706D-A919-4A57-8487-87BA1C697199}" type="sibTrans" cxnId="{88737DFD-47F8-419D-9192-2A8CAA04E6DF}">
      <dgm:prSet/>
      <dgm:spPr/>
      <dgm:t>
        <a:bodyPr/>
        <a:lstStyle/>
        <a:p>
          <a:endParaRPr lang="en-US"/>
        </a:p>
      </dgm:t>
    </dgm:pt>
    <dgm:pt modelId="{C9581486-45B6-41AA-A76A-B893EAA75264}">
      <dgm:prSet/>
      <dgm:spPr/>
      <dgm:t>
        <a:bodyPr/>
        <a:lstStyle/>
        <a:p>
          <a:r>
            <a:rPr lang="en-GB"/>
            <a:t>A variable name can't be a keyword (see below)</a:t>
          </a:r>
          <a:endParaRPr lang="en-US"/>
        </a:p>
      </dgm:t>
    </dgm:pt>
    <dgm:pt modelId="{02D993E4-1094-40AF-90E5-630FD10D0A59}" type="parTrans" cxnId="{FE57742D-7785-4B16-B1AB-4B9BA61A42EA}">
      <dgm:prSet/>
      <dgm:spPr/>
      <dgm:t>
        <a:bodyPr/>
        <a:lstStyle/>
        <a:p>
          <a:endParaRPr lang="en-US"/>
        </a:p>
      </dgm:t>
    </dgm:pt>
    <dgm:pt modelId="{F913009F-3AA7-477B-8DA4-A8145ACEF113}" type="sibTrans" cxnId="{FE57742D-7785-4B16-B1AB-4B9BA61A42EA}">
      <dgm:prSet/>
      <dgm:spPr/>
      <dgm:t>
        <a:bodyPr/>
        <a:lstStyle/>
        <a:p>
          <a:endParaRPr lang="en-US"/>
        </a:p>
      </dgm:t>
    </dgm:pt>
    <dgm:pt modelId="{F4098B22-D1EB-C647-88C3-BEAE61EB84B8}" type="pres">
      <dgm:prSet presAssocID="{807461DB-BC19-4673-8CC3-8205303BA053}" presName="linear" presStyleCnt="0">
        <dgm:presLayoutVars>
          <dgm:animLvl val="lvl"/>
          <dgm:resizeHandles val="exact"/>
        </dgm:presLayoutVars>
      </dgm:prSet>
      <dgm:spPr/>
    </dgm:pt>
    <dgm:pt modelId="{58BFABA4-873D-7241-AB1A-2AE6F672E1DF}" type="pres">
      <dgm:prSet presAssocID="{6D3DB795-3883-40B5-B630-F2667131F70B}" presName="parentText" presStyleLbl="node1" presStyleIdx="0" presStyleCnt="4">
        <dgm:presLayoutVars>
          <dgm:chMax val="0"/>
          <dgm:bulletEnabled val="1"/>
        </dgm:presLayoutVars>
      </dgm:prSet>
      <dgm:spPr/>
    </dgm:pt>
    <dgm:pt modelId="{0BFE6322-A484-124B-ACAB-FD03804B7E4F}" type="pres">
      <dgm:prSet presAssocID="{536B3AC0-973F-4181-B845-F09D61D4C65E}" presName="spacer" presStyleCnt="0"/>
      <dgm:spPr/>
    </dgm:pt>
    <dgm:pt modelId="{76161804-7CA9-9147-8407-D73BA7A16C92}" type="pres">
      <dgm:prSet presAssocID="{8AE3C718-5B20-4FAD-BCE5-DD7B1D187BE6}" presName="parentText" presStyleLbl="node1" presStyleIdx="1" presStyleCnt="4">
        <dgm:presLayoutVars>
          <dgm:chMax val="0"/>
          <dgm:bulletEnabled val="1"/>
        </dgm:presLayoutVars>
      </dgm:prSet>
      <dgm:spPr/>
    </dgm:pt>
    <dgm:pt modelId="{43521E91-AA81-2E45-88A5-8481CDD5228D}" type="pres">
      <dgm:prSet presAssocID="{81993DE1-4343-489E-BC94-CCEE9D7D7CD9}" presName="spacer" presStyleCnt="0"/>
      <dgm:spPr/>
    </dgm:pt>
    <dgm:pt modelId="{D50DEF3D-E8F3-F548-9D90-6DA94E542FE1}" type="pres">
      <dgm:prSet presAssocID="{2C687316-F195-44F3-9FFE-AD1DA78F6AF8}" presName="parentText" presStyleLbl="node1" presStyleIdx="2" presStyleCnt="4">
        <dgm:presLayoutVars>
          <dgm:chMax val="0"/>
          <dgm:bulletEnabled val="1"/>
        </dgm:presLayoutVars>
      </dgm:prSet>
      <dgm:spPr/>
    </dgm:pt>
    <dgm:pt modelId="{AE22814C-36AF-F44A-A61B-DFDB6DF1F71B}" type="pres">
      <dgm:prSet presAssocID="{106F706D-A919-4A57-8487-87BA1C697199}" presName="spacer" presStyleCnt="0"/>
      <dgm:spPr/>
    </dgm:pt>
    <dgm:pt modelId="{E3DF540D-CF29-D04A-896B-788CB0D02322}" type="pres">
      <dgm:prSet presAssocID="{C9581486-45B6-41AA-A76A-B893EAA75264}" presName="parentText" presStyleLbl="node1" presStyleIdx="3" presStyleCnt="4">
        <dgm:presLayoutVars>
          <dgm:chMax val="0"/>
          <dgm:bulletEnabled val="1"/>
        </dgm:presLayoutVars>
      </dgm:prSet>
      <dgm:spPr/>
    </dgm:pt>
  </dgm:ptLst>
  <dgm:cxnLst>
    <dgm:cxn modelId="{FE57742D-7785-4B16-B1AB-4B9BA61A42EA}" srcId="{807461DB-BC19-4673-8CC3-8205303BA053}" destId="{C9581486-45B6-41AA-A76A-B893EAA75264}" srcOrd="3" destOrd="0" parTransId="{02D993E4-1094-40AF-90E5-630FD10D0A59}" sibTransId="{F913009F-3AA7-477B-8DA4-A8145ACEF113}"/>
    <dgm:cxn modelId="{C0D1A368-3E02-477F-991B-430E5ABE2E4C}" srcId="{807461DB-BC19-4673-8CC3-8205303BA053}" destId="{8AE3C718-5B20-4FAD-BCE5-DD7B1D187BE6}" srcOrd="1" destOrd="0" parTransId="{E53851C8-4985-4B57-B62C-C1D2418D4205}" sibTransId="{81993DE1-4343-489E-BC94-CCEE9D7D7CD9}"/>
    <dgm:cxn modelId="{9A4BD384-43B1-4454-BA86-27D22171F790}" srcId="{807461DB-BC19-4673-8CC3-8205303BA053}" destId="{6D3DB795-3883-40B5-B630-F2667131F70B}" srcOrd="0" destOrd="0" parTransId="{36AEF32C-F3BF-458F-91C0-4A91451259D0}" sibTransId="{536B3AC0-973F-4181-B845-F09D61D4C65E}"/>
    <dgm:cxn modelId="{2E40D28E-DE50-C849-A710-E5A9EA2CFEA2}" type="presOf" srcId="{C9581486-45B6-41AA-A76A-B893EAA75264}" destId="{E3DF540D-CF29-D04A-896B-788CB0D02322}" srcOrd="0" destOrd="0" presId="urn:microsoft.com/office/officeart/2005/8/layout/vList2"/>
    <dgm:cxn modelId="{B1D3C88F-2790-4143-A97C-853537F83D4F}" type="presOf" srcId="{807461DB-BC19-4673-8CC3-8205303BA053}" destId="{F4098B22-D1EB-C647-88C3-BEAE61EB84B8}" srcOrd="0" destOrd="0" presId="urn:microsoft.com/office/officeart/2005/8/layout/vList2"/>
    <dgm:cxn modelId="{7224D49D-0B18-9745-9AFE-AE8E57D44C19}" type="presOf" srcId="{6D3DB795-3883-40B5-B630-F2667131F70B}" destId="{58BFABA4-873D-7241-AB1A-2AE6F672E1DF}" srcOrd="0" destOrd="0" presId="urn:microsoft.com/office/officeart/2005/8/layout/vList2"/>
    <dgm:cxn modelId="{7BB4CBEE-D66A-3140-8C59-E9CCB4401B75}" type="presOf" srcId="{2C687316-F195-44F3-9FFE-AD1DA78F6AF8}" destId="{D50DEF3D-E8F3-F548-9D90-6DA94E542FE1}" srcOrd="0" destOrd="0" presId="urn:microsoft.com/office/officeart/2005/8/layout/vList2"/>
    <dgm:cxn modelId="{CA01D1F5-E9E8-474E-83B4-18B204B06204}" type="presOf" srcId="{8AE3C718-5B20-4FAD-BCE5-DD7B1D187BE6}" destId="{76161804-7CA9-9147-8407-D73BA7A16C92}" srcOrd="0" destOrd="0" presId="urn:microsoft.com/office/officeart/2005/8/layout/vList2"/>
    <dgm:cxn modelId="{88737DFD-47F8-419D-9192-2A8CAA04E6DF}" srcId="{807461DB-BC19-4673-8CC3-8205303BA053}" destId="{2C687316-F195-44F3-9FFE-AD1DA78F6AF8}" srcOrd="2" destOrd="0" parTransId="{7E7BB66C-27D0-4928-82C3-A500A76952E3}" sibTransId="{106F706D-A919-4A57-8487-87BA1C697199}"/>
    <dgm:cxn modelId="{13255563-9B7B-5D4C-A561-A3C333F85A7D}" type="presParOf" srcId="{F4098B22-D1EB-C647-88C3-BEAE61EB84B8}" destId="{58BFABA4-873D-7241-AB1A-2AE6F672E1DF}" srcOrd="0" destOrd="0" presId="urn:microsoft.com/office/officeart/2005/8/layout/vList2"/>
    <dgm:cxn modelId="{29962CDC-6FDE-D34F-A2E4-3B42F01E0D61}" type="presParOf" srcId="{F4098B22-D1EB-C647-88C3-BEAE61EB84B8}" destId="{0BFE6322-A484-124B-ACAB-FD03804B7E4F}" srcOrd="1" destOrd="0" presId="urn:microsoft.com/office/officeart/2005/8/layout/vList2"/>
    <dgm:cxn modelId="{171FB32C-D108-CA45-9CCA-47682EA67FD4}" type="presParOf" srcId="{F4098B22-D1EB-C647-88C3-BEAE61EB84B8}" destId="{76161804-7CA9-9147-8407-D73BA7A16C92}" srcOrd="2" destOrd="0" presId="urn:microsoft.com/office/officeart/2005/8/layout/vList2"/>
    <dgm:cxn modelId="{D226DE27-0A69-AC49-AD22-3EAEBDEE7B6C}" type="presParOf" srcId="{F4098B22-D1EB-C647-88C3-BEAE61EB84B8}" destId="{43521E91-AA81-2E45-88A5-8481CDD5228D}" srcOrd="3" destOrd="0" presId="urn:microsoft.com/office/officeart/2005/8/layout/vList2"/>
    <dgm:cxn modelId="{2FBC7040-082E-D542-8D3B-4E4FEBDE1C12}" type="presParOf" srcId="{F4098B22-D1EB-C647-88C3-BEAE61EB84B8}" destId="{D50DEF3D-E8F3-F548-9D90-6DA94E542FE1}" srcOrd="4" destOrd="0" presId="urn:microsoft.com/office/officeart/2005/8/layout/vList2"/>
    <dgm:cxn modelId="{7CE62137-85C8-734B-8970-7B163C80D424}" type="presParOf" srcId="{F4098B22-D1EB-C647-88C3-BEAE61EB84B8}" destId="{AE22814C-36AF-F44A-A61B-DFDB6DF1F71B}" srcOrd="5" destOrd="0" presId="urn:microsoft.com/office/officeart/2005/8/layout/vList2"/>
    <dgm:cxn modelId="{7887ED54-4F0B-8543-89A4-A87046758840}" type="presParOf" srcId="{F4098B22-D1EB-C647-88C3-BEAE61EB84B8}" destId="{E3DF540D-CF29-D04A-896B-788CB0D02322}"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692DFB-ED1B-184A-8A42-05E43BA3F867}">
      <dsp:nvSpPr>
        <dsp:cNvPr id="0" name=""/>
        <dsp:cNvSpPr/>
      </dsp:nvSpPr>
      <dsp:spPr>
        <a:xfrm>
          <a:off x="0" y="735243"/>
          <a:ext cx="3063073" cy="19450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50F750-E205-C745-8919-80C6803C1171}">
      <dsp:nvSpPr>
        <dsp:cNvPr id="0" name=""/>
        <dsp:cNvSpPr/>
      </dsp:nvSpPr>
      <dsp:spPr>
        <a:xfrm>
          <a:off x="340341" y="1058567"/>
          <a:ext cx="3063073" cy="19450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dirty="0"/>
            <a:t>Works on different operating systems</a:t>
          </a:r>
          <a:endParaRPr lang="en-US" sz="2900" kern="1200" dirty="0"/>
        </a:p>
      </dsp:txBody>
      <dsp:txXfrm>
        <a:off x="397310" y="1115536"/>
        <a:ext cx="2949135" cy="1831113"/>
      </dsp:txXfrm>
    </dsp:sp>
    <dsp:sp modelId="{B14A4EC2-9B68-B846-8531-D95FB8C08C4F}">
      <dsp:nvSpPr>
        <dsp:cNvPr id="0" name=""/>
        <dsp:cNvSpPr/>
      </dsp:nvSpPr>
      <dsp:spPr>
        <a:xfrm>
          <a:off x="3743756" y="735243"/>
          <a:ext cx="3063073" cy="19450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E8892C8-C9F5-2B41-BAAC-723FAB30F8BD}">
      <dsp:nvSpPr>
        <dsp:cNvPr id="0" name=""/>
        <dsp:cNvSpPr/>
      </dsp:nvSpPr>
      <dsp:spPr>
        <a:xfrm>
          <a:off x="4084098" y="1058567"/>
          <a:ext cx="3063073" cy="19450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a:t>Has a simple syntax</a:t>
          </a:r>
          <a:endParaRPr lang="en-US" sz="2900" kern="1200"/>
        </a:p>
      </dsp:txBody>
      <dsp:txXfrm>
        <a:off x="4141067" y="1115536"/>
        <a:ext cx="2949135" cy="1831113"/>
      </dsp:txXfrm>
    </dsp:sp>
    <dsp:sp modelId="{8A1562FC-358E-7B4D-924A-5FAFBCCFDFF9}">
      <dsp:nvSpPr>
        <dsp:cNvPr id="0" name=""/>
        <dsp:cNvSpPr/>
      </dsp:nvSpPr>
      <dsp:spPr>
        <a:xfrm>
          <a:off x="7487513" y="735243"/>
          <a:ext cx="3063073" cy="1945051"/>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EBC30E1-F447-4C49-915D-4281B2C0D424}">
      <dsp:nvSpPr>
        <dsp:cNvPr id="0" name=""/>
        <dsp:cNvSpPr/>
      </dsp:nvSpPr>
      <dsp:spPr>
        <a:xfrm>
          <a:off x="7827855" y="1058567"/>
          <a:ext cx="3063073" cy="1945051"/>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n-GB" sz="2900" kern="1200"/>
            <a:t>Its code can be executed as soon as it is written</a:t>
          </a:r>
          <a:endParaRPr lang="en-US" sz="2900" kern="1200"/>
        </a:p>
      </dsp:txBody>
      <dsp:txXfrm>
        <a:off x="7884824" y="1115536"/>
        <a:ext cx="2949135" cy="183111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8BFABA4-873D-7241-AB1A-2AE6F672E1DF}">
      <dsp:nvSpPr>
        <dsp:cNvPr id="0" name=""/>
        <dsp:cNvSpPr/>
      </dsp:nvSpPr>
      <dsp:spPr>
        <a:xfrm>
          <a:off x="0" y="39229"/>
          <a:ext cx="7216416" cy="11934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A variable name must start with a letter or _</a:t>
          </a:r>
          <a:endParaRPr lang="en-US" sz="3000" kern="1200"/>
        </a:p>
      </dsp:txBody>
      <dsp:txXfrm>
        <a:off x="58257" y="97486"/>
        <a:ext cx="7099902" cy="1076886"/>
      </dsp:txXfrm>
    </dsp:sp>
    <dsp:sp modelId="{76161804-7CA9-9147-8407-D73BA7A16C92}">
      <dsp:nvSpPr>
        <dsp:cNvPr id="0" name=""/>
        <dsp:cNvSpPr/>
      </dsp:nvSpPr>
      <dsp:spPr>
        <a:xfrm>
          <a:off x="0" y="1319029"/>
          <a:ext cx="7216416" cy="1193400"/>
        </a:xfrm>
        <a:prstGeom prst="roundRect">
          <a:avLst/>
        </a:prstGeom>
        <a:solidFill>
          <a:schemeClr val="accent2">
            <a:hueOff val="2357366"/>
            <a:satOff val="-8879"/>
            <a:lumOff val="7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A variable name can only contain numbers, letters, and _</a:t>
          </a:r>
          <a:endParaRPr lang="en-US" sz="3000" kern="1200"/>
        </a:p>
      </dsp:txBody>
      <dsp:txXfrm>
        <a:off x="58257" y="1377286"/>
        <a:ext cx="7099902" cy="1076886"/>
      </dsp:txXfrm>
    </dsp:sp>
    <dsp:sp modelId="{D50DEF3D-E8F3-F548-9D90-6DA94E542FE1}">
      <dsp:nvSpPr>
        <dsp:cNvPr id="0" name=""/>
        <dsp:cNvSpPr/>
      </dsp:nvSpPr>
      <dsp:spPr>
        <a:xfrm>
          <a:off x="0" y="2598829"/>
          <a:ext cx="7216416" cy="1193400"/>
        </a:xfrm>
        <a:prstGeom prst="roundRect">
          <a:avLst/>
        </a:prstGeom>
        <a:solidFill>
          <a:schemeClr val="accent2">
            <a:hueOff val="4714731"/>
            <a:satOff val="-17759"/>
            <a:lumOff val="1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Variable names are case-sensitive (age ≠ Age ≠ AGE)</a:t>
          </a:r>
          <a:endParaRPr lang="en-US" sz="3000" kern="1200"/>
        </a:p>
      </dsp:txBody>
      <dsp:txXfrm>
        <a:off x="58257" y="2657086"/>
        <a:ext cx="7099902" cy="1076886"/>
      </dsp:txXfrm>
    </dsp:sp>
    <dsp:sp modelId="{E3DF540D-CF29-D04A-896B-788CB0D02322}">
      <dsp:nvSpPr>
        <dsp:cNvPr id="0" name=""/>
        <dsp:cNvSpPr/>
      </dsp:nvSpPr>
      <dsp:spPr>
        <a:xfrm>
          <a:off x="0" y="3878630"/>
          <a:ext cx="7216416" cy="1193400"/>
        </a:xfrm>
        <a:prstGeom prst="roundRect">
          <a:avLst/>
        </a:prstGeom>
        <a:solidFill>
          <a:schemeClr val="accent2">
            <a:hueOff val="7072097"/>
            <a:satOff val="-26638"/>
            <a:lumOff val="2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A variable name can't be a keyword (see below)</a:t>
          </a:r>
          <a:endParaRPr lang="en-US" sz="3000" kern="1200"/>
        </a:p>
      </dsp:txBody>
      <dsp:txXfrm>
        <a:off x="58257" y="3936887"/>
        <a:ext cx="7099902" cy="107688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A8BDF2-0DDB-D44F-ACF0-CF211679F045}" type="datetimeFigureOut">
              <a:rPr lang="en-US" smtClean="0"/>
              <a:t>8/30/2025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8EC551-229F-CF4E-BD0C-01127E9B0A62}" type="slidenum">
              <a:rPr lang="en-US" smtClean="0"/>
              <a:t>‹#›</a:t>
            </a:fld>
            <a:endParaRPr lang="en-US"/>
          </a:p>
        </p:txBody>
      </p:sp>
    </p:spTree>
    <p:extLst>
      <p:ext uri="{BB962C8B-B14F-4D97-AF65-F5344CB8AC3E}">
        <p14:creationId xmlns:p14="http://schemas.microsoft.com/office/powerpoint/2010/main" val="943313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78EC551-229F-CF4E-BD0C-01127E9B0A62}" type="slidenum">
              <a:rPr lang="en-US" smtClean="0"/>
              <a:t>6</a:t>
            </a:fld>
            <a:endParaRPr lang="en-US"/>
          </a:p>
        </p:txBody>
      </p:sp>
    </p:spTree>
    <p:extLst>
      <p:ext uri="{BB962C8B-B14F-4D97-AF65-F5344CB8AC3E}">
        <p14:creationId xmlns:p14="http://schemas.microsoft.com/office/powerpoint/2010/main" val="228886329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0" name="TextShape 1"/>
          <p:cNvSpPr txBox="1"/>
          <p:nvPr/>
        </p:nvSpPr>
        <p:spPr>
          <a:xfrm>
            <a:off x="0" y="9121680"/>
            <a:ext cx="3169800" cy="479160"/>
          </a:xfrm>
          <a:prstGeom prst="rect">
            <a:avLst/>
          </a:prstGeom>
          <a:noFill/>
          <a:ln w="9360">
            <a:noFill/>
          </a:ln>
        </p:spPr>
        <p:txBody>
          <a:bodyPr lIns="96840" tIns="48240" rIns="96840" bIns="48240" anchor="b"/>
          <a:lstStyle/>
          <a:p>
            <a:pPr>
              <a:lnSpc>
                <a:spcPct val="100000"/>
              </a:lnSpc>
            </a:pPr>
            <a:r>
              <a:rPr lang="en-US" sz="1300" b="0" strike="noStrike" spc="-1">
                <a:solidFill>
                  <a:srgbClr val="000000"/>
                </a:solidFill>
                <a:uFill>
                  <a:solidFill>
                    <a:srgbClr val="FFFFFF"/>
                  </a:solidFill>
                </a:uFill>
                <a:latin typeface="Tahoma"/>
              </a:rPr>
              <a:t>Python Programming, 3/e</a:t>
            </a:r>
            <a:endParaRPr lang="en-US" sz="1400" b="0" strike="noStrike" spc="-1">
              <a:solidFill>
                <a:srgbClr val="000000"/>
              </a:solidFill>
              <a:uFill>
                <a:solidFill>
                  <a:srgbClr val="FFFFFF"/>
                </a:solidFill>
              </a:uFill>
              <a:latin typeface="Times New Roman"/>
            </a:endParaRPr>
          </a:p>
        </p:txBody>
      </p:sp>
      <p:sp>
        <p:nvSpPr>
          <p:cNvPr id="361" name="TextShape 2"/>
          <p:cNvSpPr txBox="1"/>
          <p:nvPr/>
        </p:nvSpPr>
        <p:spPr>
          <a:xfrm>
            <a:off x="4145040" y="9121680"/>
            <a:ext cx="3169800" cy="479160"/>
          </a:xfrm>
          <a:prstGeom prst="rect">
            <a:avLst/>
          </a:prstGeom>
          <a:noFill/>
          <a:ln w="9360">
            <a:noFill/>
          </a:ln>
        </p:spPr>
        <p:txBody>
          <a:bodyPr lIns="96840" tIns="48240" rIns="96840" bIns="48240" anchor="b"/>
          <a:lstStyle/>
          <a:p>
            <a:pPr algn="r">
              <a:lnSpc>
                <a:spcPct val="100000"/>
              </a:lnSpc>
            </a:pPr>
            <a:fld id="{C8528C6A-5C79-4CC1-A48E-551331148C44}" type="slidenum">
              <a:rPr lang="en-US" sz="1300" b="0" strike="noStrike" spc="-1">
                <a:solidFill>
                  <a:srgbClr val="000000"/>
                </a:solidFill>
                <a:uFill>
                  <a:solidFill>
                    <a:srgbClr val="FFFFFF"/>
                  </a:solidFill>
                </a:uFill>
                <a:latin typeface="Tahoma"/>
              </a:rPr>
              <a:t>17</a:t>
            </a:fld>
            <a:endParaRPr lang="en-US" sz="1400" b="0" strike="noStrike" spc="-1">
              <a:solidFill>
                <a:srgbClr val="000000"/>
              </a:solidFill>
              <a:uFill>
                <a:solidFill>
                  <a:srgbClr val="FFFFFF"/>
                </a:solidFill>
              </a:uFill>
              <a:latin typeface="Times New Roman"/>
            </a:endParaRPr>
          </a:p>
        </p:txBody>
      </p:sp>
      <p:sp>
        <p:nvSpPr>
          <p:cNvPr id="362" name="PlaceHolder 3"/>
          <p:cNvSpPr>
            <a:spLocks noGrp="1"/>
          </p:cNvSpPr>
          <p:nvPr>
            <p:ph type="body"/>
          </p:nvPr>
        </p:nvSpPr>
        <p:spPr>
          <a:xfrm>
            <a:off x="974880" y="4560840"/>
            <a:ext cx="5365440" cy="4319280"/>
          </a:xfrm>
          <a:prstGeom prst="rect">
            <a:avLst/>
          </a:prstGeom>
        </p:spPr>
        <p:txBody>
          <a:bodyPr lIns="96840" tIns="48240" rIns="96840" bIns="48240"/>
          <a:lstStyle/>
          <a:p>
            <a:endParaRPr lang="en-US" sz="2000" b="0" strike="noStrike" spc="-1">
              <a:solidFill>
                <a:srgbClr val="000000"/>
              </a:solidFill>
              <a:uFill>
                <a:solidFill>
                  <a:srgbClr val="FFFFFF"/>
                </a:solidFill>
              </a:uFill>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79"/>
            <a:ext cx="6675120" cy="1287887"/>
          </a:xfrm>
        </p:spPr>
        <p:txBody>
          <a:bodyPr anchor="b">
            <a:normAutofit/>
          </a:bodyPr>
          <a:lstStyle>
            <a:lvl1pPr marL="0" indent="0" algn="l">
              <a:lnSpc>
                <a:spcPct val="130000"/>
              </a:lnSpc>
              <a:buNone/>
              <a:defRPr sz="1800" b="1"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8/30/2025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4120527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8/30/2025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4200411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0" y="1291366"/>
            <a:ext cx="9214884" cy="3159974"/>
          </a:xfrm>
        </p:spPr>
        <p:txBody>
          <a:bodyPr anchor="b">
            <a:normAutofit/>
          </a:bodyPr>
          <a:lstStyle>
            <a:lvl1pPr>
              <a:defRPr sz="5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0" y="5018567"/>
            <a:ext cx="7907079" cy="1073889"/>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8/30/2025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1" y="4715234"/>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58270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8/30/2025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33064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79" y="1371599"/>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2"/>
            <a:ext cx="5212080" cy="695373"/>
          </a:xfrm>
        </p:spPr>
        <p:txBody>
          <a:bodyPr anchor="b">
            <a:normAutofit/>
          </a:bodyPr>
          <a:lstStyle>
            <a:lvl1pPr marL="0" indent="0">
              <a:buNone/>
              <a:defRPr sz="18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8/30/2025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832264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8/30/2025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921936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8/30/2025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70976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19" y="1031001"/>
            <a:ext cx="6594490" cy="516636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8/30/2025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2533946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8/30/2025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273032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8/30/2025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2307586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19"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2"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8/30/2025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2799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79"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0"/>
            <a:ext cx="2743200" cy="365125"/>
          </a:xfrm>
          <a:prstGeom prst="rect">
            <a:avLst/>
          </a:prstGeom>
        </p:spPr>
        <p:txBody>
          <a:bodyPr vert="horz" lIns="91440" tIns="45720" rIns="91440" bIns="45720" rtlCol="0" anchor="ctr"/>
          <a:lstStyle>
            <a:lvl1pPr algn="l">
              <a:defRPr sz="900" b="1" cap="all" spc="300" baseline="0">
                <a:solidFill>
                  <a:schemeClr val="tx1"/>
                </a:solidFill>
              </a:defRPr>
            </a:lvl1pPr>
          </a:lstStyle>
          <a:p>
            <a:fld id="{7DA38F49-B3E2-4BF0-BEC7-C30D34ABBB8D}" type="datetime1">
              <a:rPr lang="en-US" smtClean="0"/>
              <a:t>8/30/2025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2" y="6356350"/>
            <a:ext cx="4040373" cy="365125"/>
          </a:xfrm>
          <a:prstGeom prst="rect">
            <a:avLst/>
          </a:prstGeom>
        </p:spPr>
        <p:txBody>
          <a:bodyPr vert="horz" lIns="91440" tIns="45720" rIns="91440" bIns="45720" rtlCol="0" anchor="ctr"/>
          <a:lstStyle>
            <a:lvl1pPr algn="r">
              <a:defRPr sz="900" b="1" cap="all" spc="300"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5" y="6356350"/>
            <a:ext cx="723014" cy="365125"/>
          </a:xfrm>
          <a:prstGeom prst="rect">
            <a:avLst/>
          </a:prstGeom>
        </p:spPr>
        <p:txBody>
          <a:bodyPr vert="horz" lIns="91440" tIns="45720" rIns="91440" bIns="45720" rtlCol="0" anchor="ctr"/>
          <a:lstStyle>
            <a:lvl1pPr algn="r">
              <a:defRPr sz="900" b="1" cap="all" spc="300"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561958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5" r:id="rId6"/>
    <p:sldLayoutId id="2147483680" r:id="rId7"/>
    <p:sldLayoutId id="2147483681" r:id="rId8"/>
    <p:sldLayoutId id="2147483682" r:id="rId9"/>
    <p:sldLayoutId id="2147483684" r:id="rId10"/>
    <p:sldLayoutId id="2147483683" r:id="rId11"/>
  </p:sldLayoutIdLst>
  <p:hf sldNum="0" hdr="0" ftr="0" dt="0"/>
  <p:txStyles>
    <p:titleStyle>
      <a:lvl1pPr algn="l" defTabSz="914400" rtl="0" eaLnBrk="1" latinLnBrk="0" hangingPunct="1">
        <a:lnSpc>
          <a:spcPct val="100000"/>
        </a:lnSpc>
        <a:spcBef>
          <a:spcPct val="0"/>
        </a:spcBef>
        <a:buNone/>
        <a:defRPr sz="40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87000"/>
        <a:buFont typeface="Arial" panose="020B0604020202020204" pitchFamily="34" charset="0"/>
        <a:buChar char="•"/>
        <a:defRPr sz="2000" kern="1200">
          <a:solidFill>
            <a:schemeClr val="tx1"/>
          </a:solidFill>
          <a:latin typeface="+mn-lt"/>
          <a:ea typeface="+mn-ea"/>
          <a:cs typeface="+mn-cs"/>
        </a:defRPr>
      </a:lvl1pPr>
      <a:lvl2pPr marL="493776" indent="-228600" algn="l" defTabSz="914400" rtl="0" eaLnBrk="1" latinLnBrk="0" hangingPunct="1">
        <a:lnSpc>
          <a:spcPct val="120000"/>
        </a:lnSpc>
        <a:spcBef>
          <a:spcPts val="500"/>
        </a:spcBef>
        <a:buSzPct val="87000"/>
        <a:buFont typeface="Arial" panose="020B06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7000"/>
        <a:buFont typeface="Arial" panose="020B0604020202020204" pitchFamily="34" charset="0"/>
        <a:buChar char="•"/>
        <a:defRPr sz="1600" kern="1200">
          <a:solidFill>
            <a:schemeClr val="tx1"/>
          </a:solidFill>
          <a:latin typeface="+mn-lt"/>
          <a:ea typeface="+mn-ea"/>
          <a:cs typeface="+mn-cs"/>
        </a:defRPr>
      </a:lvl3pPr>
      <a:lvl4pPr marL="1051560" indent="-28575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4pPr>
      <a:lvl5pPr marL="1298448" indent="-228600" algn="l" defTabSz="914400" rtl="0" eaLnBrk="1" latinLnBrk="0" hangingPunct="1">
        <a:lnSpc>
          <a:spcPct val="120000"/>
        </a:lnSpc>
        <a:spcBef>
          <a:spcPts val="500"/>
        </a:spcBef>
        <a:buSzPct val="87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1" name="Rectangle 30">
            <a:extLst>
              <a:ext uri="{FF2B5EF4-FFF2-40B4-BE49-F238E27FC236}">
                <a16:creationId xmlns:a16="http://schemas.microsoft.com/office/drawing/2014/main" id="{CFD1D2CD-954D-4C4D-B505-05EAD159B2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F2BB539A-B563-CE1C-1D06-669518C00754}"/>
              </a:ext>
            </a:extLst>
          </p:cNvPr>
          <p:cNvSpPr>
            <a:spLocks noGrp="1"/>
          </p:cNvSpPr>
          <p:nvPr>
            <p:ph type="ctrTitle"/>
          </p:nvPr>
        </p:nvSpPr>
        <p:spPr>
          <a:xfrm>
            <a:off x="514117" y="952500"/>
            <a:ext cx="4124557" cy="3524250"/>
          </a:xfrm>
        </p:spPr>
        <p:txBody>
          <a:bodyPr>
            <a:normAutofit/>
          </a:bodyPr>
          <a:lstStyle/>
          <a:p>
            <a:pPr>
              <a:lnSpc>
                <a:spcPct val="90000"/>
              </a:lnSpc>
            </a:pPr>
            <a:r>
              <a:rPr lang="en-US" sz="4900" dirty="0"/>
              <a:t>CS1011  Computer Programming in Python</a:t>
            </a:r>
            <a:br>
              <a:rPr lang="en-US" sz="4900" dirty="0"/>
            </a:br>
            <a:r>
              <a:rPr lang="en-US" sz="4900" dirty="0"/>
              <a:t> </a:t>
            </a:r>
          </a:p>
        </p:txBody>
      </p:sp>
      <p:sp>
        <p:nvSpPr>
          <p:cNvPr id="3" name="Subtitle 2">
            <a:extLst>
              <a:ext uri="{FF2B5EF4-FFF2-40B4-BE49-F238E27FC236}">
                <a16:creationId xmlns:a16="http://schemas.microsoft.com/office/drawing/2014/main" id="{38F0F1A1-39CF-01DD-3BFC-72C97EA2360E}"/>
              </a:ext>
            </a:extLst>
          </p:cNvPr>
          <p:cNvSpPr>
            <a:spLocks noGrp="1"/>
          </p:cNvSpPr>
          <p:nvPr>
            <p:ph type="subTitle" idx="1"/>
          </p:nvPr>
        </p:nvSpPr>
        <p:spPr>
          <a:xfrm>
            <a:off x="514118" y="5374291"/>
            <a:ext cx="4057882" cy="972532"/>
          </a:xfrm>
        </p:spPr>
        <p:txBody>
          <a:bodyPr anchor="t">
            <a:normAutofit fontScale="92500" lnSpcReduction="20000"/>
          </a:bodyPr>
          <a:lstStyle/>
          <a:p>
            <a:r>
              <a:rPr lang="en-US" altLang="en-US" dirty="0"/>
              <a:t>Lecture 1:Introduction to Computer Science and Programming in Python</a:t>
            </a:r>
            <a:endParaRPr lang="en-US" dirty="0"/>
          </a:p>
        </p:txBody>
      </p:sp>
      <p:cxnSp>
        <p:nvCxnSpPr>
          <p:cNvPr id="32" name="Straight Connector 31">
            <a:extLst>
              <a:ext uri="{FF2B5EF4-FFF2-40B4-BE49-F238E27FC236}">
                <a16:creationId xmlns:a16="http://schemas.microsoft.com/office/drawing/2014/main" id="{A2D508B3-A66C-833E-D929-8DC21163567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2088" y="4882722"/>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20" name="Picture 19" descr="Computer script on a screen">
            <a:extLst>
              <a:ext uri="{FF2B5EF4-FFF2-40B4-BE49-F238E27FC236}">
                <a16:creationId xmlns:a16="http://schemas.microsoft.com/office/drawing/2014/main" id="{E390D1CD-49D5-5EE4-DE3C-4D573BE52E46}"/>
              </a:ext>
            </a:extLst>
          </p:cNvPr>
          <p:cNvPicPr>
            <a:picLocks noChangeAspect="1"/>
          </p:cNvPicPr>
          <p:nvPr/>
        </p:nvPicPr>
        <p:blipFill>
          <a:blip r:embed="rId2"/>
          <a:srcRect r="32548" b="-1"/>
          <a:stretch>
            <a:fillRect/>
          </a:stretch>
        </p:blipFill>
        <p:spPr>
          <a:xfrm>
            <a:off x="5261956" y="10"/>
            <a:ext cx="6930043" cy="6857990"/>
          </a:xfrm>
          <a:prstGeom prst="rect">
            <a:avLst/>
          </a:prstGeom>
        </p:spPr>
      </p:pic>
    </p:spTree>
    <p:extLst>
      <p:ext uri="{BB962C8B-B14F-4D97-AF65-F5344CB8AC3E}">
        <p14:creationId xmlns:p14="http://schemas.microsoft.com/office/powerpoint/2010/main" val="1744699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DEFF09-F629-035A-B466-8F9DEBE6CE48}"/>
              </a:ext>
            </a:extLst>
          </p:cNvPr>
          <p:cNvSpPr>
            <a:spLocks noGrp="1"/>
          </p:cNvSpPr>
          <p:nvPr>
            <p:ph type="title"/>
          </p:nvPr>
        </p:nvSpPr>
        <p:spPr>
          <a:xfrm>
            <a:off x="660993" y="180475"/>
            <a:ext cx="10890929" cy="1097280"/>
          </a:xfrm>
        </p:spPr>
        <p:txBody>
          <a:bodyPr>
            <a:normAutofit fontScale="90000"/>
          </a:bodyPr>
          <a:lstStyle/>
          <a:p>
            <a:pPr algn="ctr"/>
            <a:r>
              <a:rPr lang="en-US" altLang="en-US" sz="4900" spc="-1" dirty="0">
                <a:solidFill>
                  <a:srgbClr val="333399"/>
                </a:solidFill>
                <a:uFill>
                  <a:solidFill>
                    <a:srgbClr val="FFFFFF"/>
                  </a:solidFill>
                </a:uFill>
                <a:latin typeface="Times" pitchFamily="2" charset="0"/>
                <a:ea typeface="+mn-ea"/>
                <a:cs typeface="+mn-cs"/>
              </a:rPr>
              <a:t>Essential</a:t>
            </a:r>
            <a:r>
              <a:rPr lang="en-US" altLang="en-US" dirty="0">
                <a:latin typeface="Times" pitchFamily="2" charset="0"/>
              </a:rPr>
              <a:t> </a:t>
            </a:r>
            <a:r>
              <a:rPr lang="en-US" altLang="en-US" sz="4900" spc="-1" dirty="0">
                <a:solidFill>
                  <a:srgbClr val="333399"/>
                </a:solidFill>
                <a:uFill>
                  <a:solidFill>
                    <a:srgbClr val="FFFFFF"/>
                  </a:solidFill>
                </a:uFill>
                <a:latin typeface="Times" pitchFamily="2" charset="0"/>
                <a:ea typeface="+mn-ea"/>
                <a:cs typeface="+mn-cs"/>
              </a:rPr>
              <a:t>References</a:t>
            </a:r>
            <a:br>
              <a:rPr lang="en-US" altLang="en-US" dirty="0"/>
            </a:br>
            <a:endParaRPr lang="en-US" dirty="0"/>
          </a:p>
        </p:txBody>
      </p:sp>
      <p:sp>
        <p:nvSpPr>
          <p:cNvPr id="3" name="Content Placeholder 2">
            <a:extLst>
              <a:ext uri="{FF2B5EF4-FFF2-40B4-BE49-F238E27FC236}">
                <a16:creationId xmlns:a16="http://schemas.microsoft.com/office/drawing/2014/main" id="{830874FC-8F0E-7FBD-2713-6BA2F1014D87}"/>
              </a:ext>
            </a:extLst>
          </p:cNvPr>
          <p:cNvSpPr>
            <a:spLocks noGrp="1"/>
          </p:cNvSpPr>
          <p:nvPr>
            <p:ph idx="1"/>
          </p:nvPr>
        </p:nvSpPr>
        <p:spPr>
          <a:xfrm>
            <a:off x="660994" y="1277755"/>
            <a:ext cx="10890928" cy="3566160"/>
          </a:xfrm>
        </p:spPr>
        <p:txBody>
          <a:bodyPr>
            <a:noAutofit/>
          </a:bodyPr>
          <a:lstStyle/>
          <a:p>
            <a:pPr>
              <a:buFont typeface="Wingdings" pitchFamily="2" charset="2"/>
              <a:buChar char="v"/>
            </a:pPr>
            <a:r>
              <a:rPr lang="en-US" b="1" dirty="0">
                <a:latin typeface="Times" pitchFamily="2" charset="0"/>
              </a:rPr>
              <a:t>Guttag, John. Introduction to Computation and Programming Using Python: With Application to Understanding Data Second Edition. MIT Press, 2016. ISBN: 9780262529624.</a:t>
            </a:r>
          </a:p>
          <a:p>
            <a:pPr>
              <a:buFont typeface="Wingdings" pitchFamily="2" charset="2"/>
              <a:buChar char="v"/>
            </a:pPr>
            <a:r>
              <a:rPr lang="en-US" b="1" dirty="0">
                <a:latin typeface="Times" pitchFamily="2" charset="0"/>
              </a:rPr>
              <a:t>Mark Lutz (2025). Learning Python, 6th Edition. Publisher(s):O'Reilly Media, Inc. ISBN: 9781098171308</a:t>
            </a:r>
          </a:p>
          <a:p>
            <a:pPr>
              <a:buFont typeface="Wingdings" pitchFamily="2" charset="2"/>
              <a:buChar char="v"/>
            </a:pPr>
            <a:r>
              <a:rPr lang="en-US" b="1" dirty="0" err="1">
                <a:latin typeface="Times" pitchFamily="2" charset="0"/>
              </a:rPr>
              <a:t>Zelle</a:t>
            </a:r>
            <a:r>
              <a:rPr lang="en-US" b="1" dirty="0">
                <a:latin typeface="Times" pitchFamily="2" charset="0"/>
              </a:rPr>
              <a:t>, J. M. (2016). Python Programming: An Introduction to Computer Science. 3rd Edition. Franklin, Beedle &amp; Associates Inc.</a:t>
            </a:r>
          </a:p>
          <a:p>
            <a:pPr>
              <a:buFont typeface="Wingdings" pitchFamily="2" charset="2"/>
              <a:buChar char="v"/>
            </a:pPr>
            <a:r>
              <a:rPr lang="en-US" b="1" dirty="0">
                <a:latin typeface="Times" pitchFamily="2" charset="0"/>
              </a:rPr>
              <a:t>McKinney, W. (2022). Python for Data Analysis: Data Wrangling with Pandas, NumPy, and </a:t>
            </a:r>
            <a:r>
              <a:rPr lang="en-US" b="1" dirty="0" err="1">
                <a:latin typeface="Times" pitchFamily="2" charset="0"/>
              </a:rPr>
              <a:t>Jupyter</a:t>
            </a:r>
            <a:r>
              <a:rPr lang="en-US" b="1" dirty="0">
                <a:latin typeface="Times" pitchFamily="2" charset="0"/>
              </a:rPr>
              <a:t>. 3rd Edition. O'Reilly Media.</a:t>
            </a:r>
          </a:p>
          <a:p>
            <a:pPr>
              <a:buFont typeface="Wingdings" pitchFamily="2" charset="2"/>
              <a:buChar char="v"/>
            </a:pPr>
            <a:r>
              <a:rPr lang="en-US" b="1" dirty="0">
                <a:latin typeface="Times" pitchFamily="2" charset="0"/>
              </a:rPr>
              <a:t>Grus, J. (2019). Data Science from Scratch: First Principles with Python. 2nd Edition. O'Reilly Media.</a:t>
            </a:r>
          </a:p>
        </p:txBody>
      </p:sp>
    </p:spTree>
    <p:extLst>
      <p:ext uri="{BB962C8B-B14F-4D97-AF65-F5344CB8AC3E}">
        <p14:creationId xmlns:p14="http://schemas.microsoft.com/office/powerpoint/2010/main" val="3507692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C8C743-4E0F-C344-9476-66AD3F9F8448}"/>
              </a:ext>
            </a:extLst>
          </p:cNvPr>
          <p:cNvSpPr>
            <a:spLocks noGrp="1"/>
          </p:cNvSpPr>
          <p:nvPr>
            <p:ph type="title"/>
          </p:nvPr>
        </p:nvSpPr>
        <p:spPr>
          <a:xfrm>
            <a:off x="705304" y="240632"/>
            <a:ext cx="10890929" cy="1097280"/>
          </a:xfrm>
        </p:spPr>
        <p:txBody>
          <a:bodyPr/>
          <a:lstStyle/>
          <a:p>
            <a:pPr algn="ctr"/>
            <a:r>
              <a:rPr lang="en-US" sz="4400" spc="-1" dirty="0">
                <a:solidFill>
                  <a:srgbClr val="333399"/>
                </a:solidFill>
                <a:uFill>
                  <a:solidFill>
                    <a:srgbClr val="FFFFFF"/>
                  </a:solidFill>
                </a:uFill>
                <a:latin typeface="Times" pitchFamily="2" charset="0"/>
                <a:ea typeface="+mn-ea"/>
                <a:cs typeface="+mn-cs"/>
              </a:rPr>
              <a:t>Assessment</a:t>
            </a:r>
          </a:p>
        </p:txBody>
      </p:sp>
      <p:pic>
        <p:nvPicPr>
          <p:cNvPr id="5" name="Content Placeholder 4" descr="A screenshot of a graph&#10;&#10;Description automatically generated">
            <a:extLst>
              <a:ext uri="{FF2B5EF4-FFF2-40B4-BE49-F238E27FC236}">
                <a16:creationId xmlns:a16="http://schemas.microsoft.com/office/drawing/2014/main" id="{56C24DFA-FFEC-F49F-8286-57450257D7FC}"/>
              </a:ext>
            </a:extLst>
          </p:cNvPr>
          <p:cNvPicPr>
            <a:picLocks noGrp="1" noChangeAspect="1"/>
          </p:cNvPicPr>
          <p:nvPr>
            <p:ph idx="1"/>
          </p:nvPr>
        </p:nvPicPr>
        <p:blipFill>
          <a:blip r:embed="rId2"/>
          <a:stretch>
            <a:fillRect/>
          </a:stretch>
        </p:blipFill>
        <p:spPr>
          <a:xfrm>
            <a:off x="400049" y="914401"/>
            <a:ext cx="11501438" cy="4250072"/>
          </a:xfrm>
        </p:spPr>
      </p:pic>
    </p:spTree>
    <p:extLst>
      <p:ext uri="{BB962C8B-B14F-4D97-AF65-F5344CB8AC3E}">
        <p14:creationId xmlns:p14="http://schemas.microsoft.com/office/powerpoint/2010/main" val="8588035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E9FE7-8DE5-CD8D-E6AA-DA3736F147F7}"/>
              </a:ext>
            </a:extLst>
          </p:cNvPr>
          <p:cNvSpPr>
            <a:spLocks noGrp="1"/>
          </p:cNvSpPr>
          <p:nvPr>
            <p:ph type="title"/>
          </p:nvPr>
        </p:nvSpPr>
        <p:spPr>
          <a:xfrm>
            <a:off x="736332" y="240632"/>
            <a:ext cx="10890929" cy="1097280"/>
          </a:xfrm>
        </p:spPr>
        <p:txBody>
          <a:bodyPr>
            <a:normAutofit fontScale="90000"/>
          </a:bodyPr>
          <a:lstStyle/>
          <a:p>
            <a:r>
              <a:rPr lang="en-US" sz="4400" spc="-1" dirty="0">
                <a:solidFill>
                  <a:srgbClr val="333399"/>
                </a:solidFill>
                <a:uFill>
                  <a:solidFill>
                    <a:srgbClr val="FFFFFF"/>
                  </a:solidFill>
                </a:uFill>
                <a:latin typeface="Times" pitchFamily="2" charset="0"/>
                <a:ea typeface="+mn-ea"/>
                <a:cs typeface="+mn-cs"/>
              </a:rPr>
              <a:t>Objectives</a:t>
            </a:r>
            <a:br>
              <a:rPr lang="en-US" sz="2000" b="0" strike="noStrike" spc="-1" dirty="0">
                <a:solidFill>
                  <a:srgbClr val="000000"/>
                </a:solidFill>
                <a:uFill>
                  <a:solidFill>
                    <a:srgbClr val="FFFFFF"/>
                  </a:solidFill>
                </a:uFill>
                <a:latin typeface="Tahoma"/>
              </a:rPr>
            </a:br>
            <a:endParaRPr lang="en-US" dirty="0"/>
          </a:p>
        </p:txBody>
      </p:sp>
      <p:sp>
        <p:nvSpPr>
          <p:cNvPr id="3" name="Content Placeholder 2">
            <a:extLst>
              <a:ext uri="{FF2B5EF4-FFF2-40B4-BE49-F238E27FC236}">
                <a16:creationId xmlns:a16="http://schemas.microsoft.com/office/drawing/2014/main" id="{E638936E-EAA6-CD7A-97B1-EC1A12F8F408}"/>
              </a:ext>
            </a:extLst>
          </p:cNvPr>
          <p:cNvSpPr>
            <a:spLocks noGrp="1"/>
          </p:cNvSpPr>
          <p:nvPr>
            <p:ph idx="1"/>
          </p:nvPr>
        </p:nvSpPr>
        <p:spPr>
          <a:xfrm>
            <a:off x="564740" y="664143"/>
            <a:ext cx="10890928" cy="3566160"/>
          </a:xfrm>
        </p:spPr>
        <p:txBody>
          <a:bodyPr>
            <a:noAutofit/>
          </a:bodyPr>
          <a:lstStyle/>
          <a:p>
            <a:pPr marL="0" indent="0">
              <a:buNone/>
            </a:pPr>
            <a:endParaRPr lang="en-US" sz="2400" dirty="0">
              <a:latin typeface="Times" pitchFamily="2" charset="0"/>
            </a:endParaRPr>
          </a:p>
          <a:p>
            <a:r>
              <a:rPr lang="en-US" sz="2400" dirty="0">
                <a:latin typeface="Times" pitchFamily="2" charset="0"/>
              </a:rPr>
              <a:t>Introduction to computational thinking and problem solving</a:t>
            </a:r>
          </a:p>
          <a:p>
            <a:r>
              <a:rPr lang="en-US" sz="2400" dirty="0">
                <a:latin typeface="Times" pitchFamily="2" charset="0"/>
              </a:rPr>
              <a:t>Introduction to Python and its ecosystem</a:t>
            </a:r>
          </a:p>
          <a:p>
            <a:r>
              <a:rPr lang="en-US" sz="2400" dirty="0">
                <a:latin typeface="Times" pitchFamily="2" charset="0"/>
              </a:rPr>
              <a:t>Mathematical Operations</a:t>
            </a:r>
          </a:p>
          <a:p>
            <a:r>
              <a:rPr lang="en-US" sz="2400" dirty="0">
                <a:latin typeface="Times" pitchFamily="2" charset="0"/>
              </a:rPr>
              <a:t>Basic syntax: variables, keywords, and expressions</a:t>
            </a:r>
          </a:p>
          <a:p>
            <a:r>
              <a:rPr lang="en-US" sz="2400" dirty="0">
                <a:latin typeface="Times" pitchFamily="2" charset="0"/>
              </a:rPr>
              <a:t>Data types: integers, floats, and strings</a:t>
            </a:r>
          </a:p>
          <a:p>
            <a:r>
              <a:rPr lang="en-US" sz="2400" dirty="0">
                <a:latin typeface="Times" pitchFamily="2" charset="0"/>
              </a:rPr>
              <a:t>Basic input/output (print, input)</a:t>
            </a:r>
          </a:p>
        </p:txBody>
      </p:sp>
    </p:spTree>
    <p:extLst>
      <p:ext uri="{BB962C8B-B14F-4D97-AF65-F5344CB8AC3E}">
        <p14:creationId xmlns:p14="http://schemas.microsoft.com/office/powerpoint/2010/main" val="15697838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ED1E4-C5A3-F086-3B00-290E23F460BF}"/>
              </a:ext>
            </a:extLst>
          </p:cNvPr>
          <p:cNvSpPr>
            <a:spLocks noGrp="1"/>
          </p:cNvSpPr>
          <p:nvPr>
            <p:ph type="title"/>
          </p:nvPr>
        </p:nvSpPr>
        <p:spPr>
          <a:xfrm>
            <a:off x="640079" y="390275"/>
            <a:ext cx="10890929" cy="1097280"/>
          </a:xfrm>
        </p:spPr>
        <p:txBody>
          <a:bodyPr>
            <a:normAutofit/>
          </a:bodyPr>
          <a:lstStyle/>
          <a:p>
            <a:r>
              <a:rPr lang="en" spc="-1" dirty="0">
                <a:solidFill>
                  <a:srgbClr val="333399"/>
                </a:solidFill>
                <a:uFill>
                  <a:solidFill>
                    <a:srgbClr val="FFFFFF"/>
                  </a:solidFill>
                </a:uFill>
                <a:latin typeface="Times" pitchFamily="2" charset="0"/>
                <a:ea typeface="+mn-ea"/>
                <a:cs typeface="+mn-cs"/>
              </a:rPr>
              <a:t>What is Computational Thinking (CT)?</a:t>
            </a:r>
            <a:endParaRPr lang="en-US" spc="-1" dirty="0">
              <a:solidFill>
                <a:srgbClr val="333399"/>
              </a:solidFill>
              <a:uFill>
                <a:solidFill>
                  <a:srgbClr val="FFFFFF"/>
                </a:solidFill>
              </a:uFill>
              <a:latin typeface="Times" pitchFamily="2" charset="0"/>
              <a:ea typeface="+mn-ea"/>
              <a:cs typeface="+mn-cs"/>
            </a:endParaRPr>
          </a:p>
        </p:txBody>
      </p:sp>
      <p:graphicFrame>
        <p:nvGraphicFramePr>
          <p:cNvPr id="6" name="Content Placeholder 5">
            <a:extLst>
              <a:ext uri="{FF2B5EF4-FFF2-40B4-BE49-F238E27FC236}">
                <a16:creationId xmlns:a16="http://schemas.microsoft.com/office/drawing/2014/main" id="{62E91DDB-8B61-3DBC-C937-DA80A271DDBE}"/>
              </a:ext>
            </a:extLst>
          </p:cNvPr>
          <p:cNvGraphicFramePr>
            <a:graphicFrameLocks noGrp="1"/>
          </p:cNvGraphicFramePr>
          <p:nvPr>
            <p:ph idx="1"/>
            <p:extLst>
              <p:ext uri="{D42A27DB-BD31-4B8C-83A1-F6EECF244321}">
                <p14:modId xmlns:p14="http://schemas.microsoft.com/office/powerpoint/2010/main" val="585352351"/>
              </p:ext>
            </p:extLst>
          </p:nvPr>
        </p:nvGraphicFramePr>
        <p:xfrm>
          <a:off x="709684" y="1392072"/>
          <a:ext cx="9764974" cy="4892216"/>
        </p:xfrm>
        <a:graphic>
          <a:graphicData uri="http://schemas.openxmlformats.org/drawingml/2006/table">
            <a:tbl>
              <a:tblPr>
                <a:tableStyleId>{073A0DAA-6AF3-43AB-8588-CEC1D06C72B9}</a:tableStyleId>
              </a:tblPr>
              <a:tblGrid>
                <a:gridCol w="7936173">
                  <a:extLst>
                    <a:ext uri="{9D8B030D-6E8A-4147-A177-3AD203B41FA5}">
                      <a16:colId xmlns:a16="http://schemas.microsoft.com/office/drawing/2014/main" val="2471091394"/>
                    </a:ext>
                  </a:extLst>
                </a:gridCol>
                <a:gridCol w="1828801">
                  <a:extLst>
                    <a:ext uri="{9D8B030D-6E8A-4147-A177-3AD203B41FA5}">
                      <a16:colId xmlns:a16="http://schemas.microsoft.com/office/drawing/2014/main" val="990384505"/>
                    </a:ext>
                  </a:extLst>
                </a:gridCol>
              </a:tblGrid>
              <a:tr h="310136">
                <a:tc>
                  <a:txBody>
                    <a:bodyPr/>
                    <a:lstStyle/>
                    <a:p>
                      <a:pPr>
                        <a:buNone/>
                      </a:pPr>
                      <a:r>
                        <a:rPr lang="en-GB" sz="1800" b="1"/>
                        <a:t>Definition</a:t>
                      </a:r>
                      <a:endParaRPr lang="en-GB" sz="1800"/>
                    </a:p>
                  </a:txBody>
                  <a:tcPr marL="57508" marR="57508" marT="28754" marB="28754" anchor="ctr"/>
                </a:tc>
                <a:tc>
                  <a:txBody>
                    <a:bodyPr/>
                    <a:lstStyle/>
                    <a:p>
                      <a:pPr>
                        <a:buNone/>
                      </a:pPr>
                      <a:r>
                        <a:rPr lang="en-GB" sz="1800" b="1"/>
                        <a:t>Source</a:t>
                      </a:r>
                      <a:endParaRPr lang="en-GB" sz="1800"/>
                    </a:p>
                  </a:txBody>
                  <a:tcPr marL="57508" marR="57508" marT="28754" marB="28754" anchor="ctr"/>
                </a:tc>
                <a:extLst>
                  <a:ext uri="{0D108BD9-81ED-4DB2-BD59-A6C34878D82A}">
                    <a16:rowId xmlns:a16="http://schemas.microsoft.com/office/drawing/2014/main" val="2990623253"/>
                  </a:ext>
                </a:extLst>
              </a:tr>
              <a:tr h="1007944">
                <a:tc>
                  <a:txBody>
                    <a:bodyPr/>
                    <a:lstStyle/>
                    <a:p>
                      <a:pPr>
                        <a:buNone/>
                      </a:pPr>
                      <a:r>
                        <a:rPr lang="en-GB" sz="1800" dirty="0"/>
                        <a:t>‘Computational thinking is the thought processes involved in formulating a problem and expressing its solution(s) in such a way that a computer—human or machine—can effectively carry out.’</a:t>
                      </a:r>
                    </a:p>
                  </a:txBody>
                  <a:tcPr marL="57508" marR="57508" marT="28754" marB="28754" anchor="ctr"/>
                </a:tc>
                <a:tc>
                  <a:txBody>
                    <a:bodyPr/>
                    <a:lstStyle/>
                    <a:p>
                      <a:pPr>
                        <a:buNone/>
                      </a:pPr>
                      <a:r>
                        <a:rPr lang="en-GB" sz="1800"/>
                        <a:t>(Wing, 2014)</a:t>
                      </a:r>
                    </a:p>
                  </a:txBody>
                  <a:tcPr marL="57508" marR="57508" marT="28754" marB="28754" anchor="ctr"/>
                </a:tc>
                <a:extLst>
                  <a:ext uri="{0D108BD9-81ED-4DB2-BD59-A6C34878D82A}">
                    <a16:rowId xmlns:a16="http://schemas.microsoft.com/office/drawing/2014/main" val="1253406940"/>
                  </a:ext>
                </a:extLst>
              </a:tr>
              <a:tr h="542739">
                <a:tc>
                  <a:txBody>
                    <a:bodyPr/>
                    <a:lstStyle/>
                    <a:p>
                      <a:pPr>
                        <a:buNone/>
                      </a:pPr>
                      <a:r>
                        <a:rPr lang="en-GB" sz="1800" dirty="0"/>
                        <a:t>‘The mental activity for abstracting problems and formulating solutions that can be automated.’</a:t>
                      </a:r>
                    </a:p>
                  </a:txBody>
                  <a:tcPr marL="57508" marR="57508" marT="28754" marB="28754" anchor="ctr"/>
                </a:tc>
                <a:tc>
                  <a:txBody>
                    <a:bodyPr/>
                    <a:lstStyle/>
                    <a:p>
                      <a:pPr>
                        <a:buNone/>
                      </a:pPr>
                      <a:r>
                        <a:rPr lang="en-GB" sz="1800"/>
                        <a:t>(Yadav et al., 2014)</a:t>
                      </a:r>
                    </a:p>
                  </a:txBody>
                  <a:tcPr marL="57508" marR="57508" marT="28754" marB="28754" anchor="ctr"/>
                </a:tc>
                <a:extLst>
                  <a:ext uri="{0D108BD9-81ED-4DB2-BD59-A6C34878D82A}">
                    <a16:rowId xmlns:a16="http://schemas.microsoft.com/office/drawing/2014/main" val="2746580839"/>
                  </a:ext>
                </a:extLst>
              </a:tr>
              <a:tr h="1240546">
                <a:tc>
                  <a:txBody>
                    <a:bodyPr/>
                    <a:lstStyle/>
                    <a:p>
                      <a:pPr>
                        <a:buNone/>
                      </a:pPr>
                      <a:r>
                        <a:rPr lang="en-GB" sz="1800" dirty="0"/>
                        <a:t>‘The process of recognising aspects of computation in the world that surrounds us and applying tools and techniques from Computer Science to understand and reason about both natural and artificial systems and processes.’</a:t>
                      </a:r>
                    </a:p>
                  </a:txBody>
                  <a:tcPr marL="57508" marR="57508" marT="28754" marB="28754" anchor="ctr"/>
                </a:tc>
                <a:tc>
                  <a:txBody>
                    <a:bodyPr/>
                    <a:lstStyle/>
                    <a:p>
                      <a:pPr>
                        <a:buNone/>
                      </a:pPr>
                      <a:r>
                        <a:rPr lang="en-GB" sz="1800"/>
                        <a:t>(Furbe, 2012)</a:t>
                      </a:r>
                    </a:p>
                  </a:txBody>
                  <a:tcPr marL="57508" marR="57508" marT="28754" marB="28754" anchor="ctr"/>
                </a:tc>
                <a:extLst>
                  <a:ext uri="{0D108BD9-81ED-4DB2-BD59-A6C34878D82A}">
                    <a16:rowId xmlns:a16="http://schemas.microsoft.com/office/drawing/2014/main" val="321123115"/>
                  </a:ext>
                </a:extLst>
              </a:tr>
              <a:tr h="1705750">
                <a:tc>
                  <a:txBody>
                    <a:bodyPr/>
                    <a:lstStyle/>
                    <a:p>
                      <a:pPr>
                        <a:buNone/>
                      </a:pPr>
                      <a:r>
                        <a:rPr lang="en-GB" sz="1800"/>
                        <a:t>’A mental orientation to formulating problems as conversions of some input to an output and looking for algorithms to perform the conversions. Today the term has been expanded to include thinking with many levels of abstractions, use of mathematics to develop algorithms, and examining how well a solution scales across different sizes of problems.’</a:t>
                      </a:r>
                    </a:p>
                  </a:txBody>
                  <a:tcPr marL="57508" marR="57508" marT="28754" marB="28754" anchor="ctr"/>
                </a:tc>
                <a:tc>
                  <a:txBody>
                    <a:bodyPr/>
                    <a:lstStyle/>
                    <a:p>
                      <a:pPr>
                        <a:buNone/>
                      </a:pPr>
                      <a:r>
                        <a:rPr lang="en-GB" sz="1800" dirty="0"/>
                        <a:t>(Denning, 2009)</a:t>
                      </a:r>
                    </a:p>
                  </a:txBody>
                  <a:tcPr marL="57508" marR="57508" marT="28754" marB="28754" anchor="ctr"/>
                </a:tc>
                <a:extLst>
                  <a:ext uri="{0D108BD9-81ED-4DB2-BD59-A6C34878D82A}">
                    <a16:rowId xmlns:a16="http://schemas.microsoft.com/office/drawing/2014/main" val="4176047763"/>
                  </a:ext>
                </a:extLst>
              </a:tr>
            </a:tbl>
          </a:graphicData>
        </a:graphic>
      </p:graphicFrame>
    </p:spTree>
    <p:extLst>
      <p:ext uri="{BB962C8B-B14F-4D97-AF65-F5344CB8AC3E}">
        <p14:creationId xmlns:p14="http://schemas.microsoft.com/office/powerpoint/2010/main" val="2221330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TextShape 3"/>
          <p:cNvSpPr txBox="1"/>
          <p:nvPr/>
        </p:nvSpPr>
        <p:spPr>
          <a:xfrm>
            <a:off x="700088" y="531675"/>
            <a:ext cx="9538792" cy="1142640"/>
          </a:xfrm>
          <a:prstGeom prst="rect">
            <a:avLst/>
          </a:prstGeom>
          <a:noFill/>
          <a:ln>
            <a:noFill/>
          </a:ln>
        </p:spPr>
        <p:txBody>
          <a:bodyPr anchor="b"/>
          <a:lstStyle/>
          <a:p>
            <a:pPr>
              <a:lnSpc>
                <a:spcPct val="100000"/>
              </a:lnSpc>
            </a:pPr>
            <a:r>
              <a:rPr lang="en-US" sz="4400" spc="-1" dirty="0">
                <a:solidFill>
                  <a:srgbClr val="333399"/>
                </a:solidFill>
                <a:uFill>
                  <a:solidFill>
                    <a:srgbClr val="FFFFFF"/>
                  </a:solidFill>
                </a:uFill>
                <a:latin typeface="Times" pitchFamily="2" charset="0"/>
              </a:rPr>
              <a:t>The Software Development Process</a:t>
            </a:r>
            <a:endParaRPr lang="en-US" sz="2400" spc="-1" dirty="0">
              <a:solidFill>
                <a:srgbClr val="000000"/>
              </a:solidFill>
              <a:uFill>
                <a:solidFill>
                  <a:srgbClr val="FFFFFF"/>
                </a:solidFill>
              </a:uFill>
              <a:latin typeface="Times" pitchFamily="2" charset="0"/>
            </a:endParaRPr>
          </a:p>
        </p:txBody>
      </p:sp>
      <p:sp>
        <p:nvSpPr>
          <p:cNvPr id="167" name="TextShape 4"/>
          <p:cNvSpPr txBox="1"/>
          <p:nvPr/>
        </p:nvSpPr>
        <p:spPr>
          <a:xfrm>
            <a:off x="928688" y="2017800"/>
            <a:ext cx="9549952" cy="4114440"/>
          </a:xfrm>
          <a:prstGeom prst="rect">
            <a:avLst/>
          </a:prstGeom>
          <a:noFill/>
          <a:ln>
            <a:noFill/>
          </a:ln>
        </p:spPr>
        <p:txBody>
          <a:bodyPr/>
          <a:lstStyle/>
          <a:p>
            <a:pPr marL="343080" indent="-342720">
              <a:buClr>
                <a:srgbClr val="3333CC"/>
              </a:buClr>
              <a:buSzPct val="60000"/>
              <a:buFont typeface="Wingdings" charset="2"/>
              <a:buChar char=""/>
            </a:pPr>
            <a:r>
              <a:rPr lang="en-US" sz="3200" spc="-1" dirty="0">
                <a:solidFill>
                  <a:srgbClr val="000000"/>
                </a:solidFill>
                <a:uFill>
                  <a:solidFill>
                    <a:srgbClr val="FFFFFF"/>
                  </a:solidFill>
                </a:uFill>
                <a:latin typeface="Tahoma"/>
              </a:rPr>
              <a:t>The process of creating a program is often broken down into stages according to the information that is produced in each phase.</a:t>
            </a: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67">
                                            <p:txEl>
                                              <p:pRg st="0" end="0"/>
                                            </p:txEl>
                                          </p:spTgt>
                                        </p:tgtEl>
                                        <p:attrNameLst>
                                          <p:attrName>style.visibility</p:attrName>
                                        </p:attrNameLst>
                                      </p:cBhvr>
                                      <p:to>
                                        <p:strVal val="visible"/>
                                      </p:to>
                                    </p:set>
                                    <p:anim calcmode="lin" valueType="num">
                                      <p:cBhvr additive="repl">
                                        <p:cTn id="7" dur="500" fill="hold"/>
                                        <p:tgtEl>
                                          <p:spTgt spid="167">
                                            <p:txEl>
                                              <p:pRg st="0" end="0"/>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167">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 name="TextShape 2"/>
          <p:cNvSpPr txBox="1"/>
          <p:nvPr/>
        </p:nvSpPr>
        <p:spPr>
          <a:xfrm>
            <a:off x="8305680" y="6324480"/>
            <a:ext cx="1904760" cy="456840"/>
          </a:xfrm>
          <a:prstGeom prst="rect">
            <a:avLst/>
          </a:prstGeom>
          <a:noFill/>
          <a:ln>
            <a:noFill/>
          </a:ln>
        </p:spPr>
        <p:txBody>
          <a:bodyPr anchor="b"/>
          <a:lstStyle/>
          <a:p>
            <a:pPr marL="0" algn="l" defTabSz="914400" rtl="0" eaLnBrk="1" latinLnBrk="0" hangingPunct="1">
              <a:lnSpc>
                <a:spcPct val="100000"/>
              </a:lnSpc>
            </a:pPr>
            <a:endParaRPr lang="en-US" sz="1400" spc="-1" dirty="0">
              <a:solidFill>
                <a:srgbClr val="000000"/>
              </a:solidFill>
              <a:uFill>
                <a:solidFill>
                  <a:srgbClr val="FFFFFF"/>
                </a:solidFill>
              </a:uFill>
              <a:latin typeface="Times New Roman"/>
            </a:endParaRPr>
          </a:p>
        </p:txBody>
      </p:sp>
      <p:sp>
        <p:nvSpPr>
          <p:cNvPr id="170" name="TextShape 3"/>
          <p:cNvSpPr txBox="1"/>
          <p:nvPr/>
        </p:nvSpPr>
        <p:spPr>
          <a:xfrm>
            <a:off x="842963" y="617400"/>
            <a:ext cx="9624517" cy="1142640"/>
          </a:xfrm>
          <a:prstGeom prst="rect">
            <a:avLst/>
          </a:prstGeom>
          <a:noFill/>
          <a:ln>
            <a:noFill/>
          </a:ln>
        </p:spPr>
        <p:txBody>
          <a:bodyPr anchor="b"/>
          <a:lstStyle/>
          <a:p>
            <a:pPr>
              <a:lnSpc>
                <a:spcPct val="100000"/>
              </a:lnSpc>
            </a:pPr>
            <a:r>
              <a:rPr lang="en-US" sz="4400" spc="-1" dirty="0">
                <a:solidFill>
                  <a:srgbClr val="333399"/>
                </a:solidFill>
                <a:uFill>
                  <a:solidFill>
                    <a:srgbClr val="FFFFFF"/>
                  </a:solidFill>
                </a:uFill>
                <a:latin typeface="Times" pitchFamily="2" charset="0"/>
              </a:rPr>
              <a:t>The Software Development Process</a:t>
            </a:r>
            <a:endParaRPr lang="en-US" sz="2400" spc="-1" dirty="0">
              <a:solidFill>
                <a:srgbClr val="000000"/>
              </a:solidFill>
              <a:uFill>
                <a:solidFill>
                  <a:srgbClr val="FFFFFF"/>
                </a:solidFill>
              </a:uFill>
              <a:latin typeface="Times" pitchFamily="2" charset="0"/>
            </a:endParaRPr>
          </a:p>
        </p:txBody>
      </p:sp>
      <p:sp>
        <p:nvSpPr>
          <p:cNvPr id="171" name="TextShape 4"/>
          <p:cNvSpPr txBox="1"/>
          <p:nvPr/>
        </p:nvSpPr>
        <p:spPr>
          <a:xfrm>
            <a:off x="1000125" y="2017800"/>
            <a:ext cx="9478515" cy="4114440"/>
          </a:xfrm>
          <a:prstGeom prst="rect">
            <a:avLst/>
          </a:prstGeom>
          <a:noFill/>
          <a:ln>
            <a:noFill/>
          </a:ln>
        </p:spPr>
        <p:txBody>
          <a:bodyPr/>
          <a:lstStyle/>
          <a:p>
            <a:pPr marL="343080" indent="-342720">
              <a:buClr>
                <a:srgbClr val="3333CC"/>
              </a:buClr>
              <a:buSzPct val="60000"/>
              <a:buFont typeface="Wingdings" charset="2"/>
              <a:buChar char=""/>
            </a:pPr>
            <a:r>
              <a:rPr lang="en-US" sz="3200" b="1" spc="-1" dirty="0">
                <a:solidFill>
                  <a:srgbClr val="000000"/>
                </a:solidFill>
                <a:uFill>
                  <a:solidFill>
                    <a:srgbClr val="FFFFFF"/>
                  </a:solidFill>
                </a:uFill>
                <a:latin typeface="Tahoma"/>
              </a:rPr>
              <a:t>Analyze the Problem</a:t>
            </a:r>
            <a:r>
              <a:rPr lang="en-US" sz="3200" spc="-1" dirty="0">
                <a:solidFill>
                  <a:srgbClr val="000000"/>
                </a:solidFill>
                <a:uFill>
                  <a:solidFill>
                    <a:srgbClr val="FFFFFF"/>
                  </a:solidFill>
                </a:uFill>
                <a:latin typeface="Tahoma"/>
              </a:rPr>
              <a:t>
Figure out exactly the problem to be solved. Try to understand it as much as possible.</a:t>
            </a: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71">
                                            <p:txEl>
                                              <p:pRg st="0" end="0"/>
                                            </p:txEl>
                                          </p:spTgt>
                                        </p:tgtEl>
                                        <p:attrNameLst>
                                          <p:attrName>style.visibility</p:attrName>
                                        </p:attrNameLst>
                                      </p:cBhvr>
                                      <p:to>
                                        <p:strVal val="visible"/>
                                      </p:to>
                                    </p:set>
                                    <p:anim calcmode="lin" valueType="num">
                                      <p:cBhvr additive="repl">
                                        <p:cTn id="7" dur="500" fill="hold"/>
                                        <p:tgtEl>
                                          <p:spTgt spid="171">
                                            <p:txEl>
                                              <p:pRg st="0" end="0"/>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171">
                                            <p:txEl>
                                              <p:pRg st="0" end="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TextShape 3"/>
          <p:cNvSpPr txBox="1"/>
          <p:nvPr/>
        </p:nvSpPr>
        <p:spPr>
          <a:xfrm>
            <a:off x="914400" y="617400"/>
            <a:ext cx="9553080" cy="1142640"/>
          </a:xfrm>
          <a:prstGeom prst="rect">
            <a:avLst/>
          </a:prstGeom>
          <a:noFill/>
          <a:ln>
            <a:noFill/>
          </a:ln>
        </p:spPr>
        <p:txBody>
          <a:bodyPr anchor="b"/>
          <a:lstStyle/>
          <a:p>
            <a:pPr>
              <a:lnSpc>
                <a:spcPct val="100000"/>
              </a:lnSpc>
            </a:pPr>
            <a:r>
              <a:rPr lang="en-US" sz="4400" spc="-1" dirty="0">
                <a:solidFill>
                  <a:srgbClr val="333399"/>
                </a:solidFill>
                <a:uFill>
                  <a:solidFill>
                    <a:srgbClr val="FFFFFF"/>
                  </a:solidFill>
                </a:uFill>
                <a:latin typeface="Times" pitchFamily="2" charset="0"/>
              </a:rPr>
              <a:t>The Software Development Process</a:t>
            </a:r>
            <a:endParaRPr lang="en-US" sz="2400" spc="-1" dirty="0">
              <a:solidFill>
                <a:srgbClr val="000000"/>
              </a:solidFill>
              <a:uFill>
                <a:solidFill>
                  <a:srgbClr val="FFFFFF"/>
                </a:solidFill>
              </a:uFill>
              <a:latin typeface="Times" pitchFamily="2" charset="0"/>
            </a:endParaRPr>
          </a:p>
        </p:txBody>
      </p:sp>
      <p:sp>
        <p:nvSpPr>
          <p:cNvPr id="175" name="TextShape 4"/>
          <p:cNvSpPr txBox="1"/>
          <p:nvPr/>
        </p:nvSpPr>
        <p:spPr>
          <a:xfrm>
            <a:off x="1114425" y="2017800"/>
            <a:ext cx="9364215" cy="4114440"/>
          </a:xfrm>
          <a:prstGeom prst="rect">
            <a:avLst/>
          </a:prstGeom>
          <a:noFill/>
          <a:ln>
            <a:noFill/>
          </a:ln>
        </p:spPr>
        <p:txBody>
          <a:bodyPr/>
          <a:lstStyle/>
          <a:p>
            <a:pPr marL="343080" indent="-342720">
              <a:buClr>
                <a:srgbClr val="3333CC"/>
              </a:buClr>
              <a:buSzPct val="60000"/>
              <a:buFont typeface="Wingdings" charset="2"/>
              <a:buChar char=""/>
            </a:pPr>
            <a:r>
              <a:rPr lang="en-US" sz="3200" b="1" spc="-1" dirty="0">
                <a:solidFill>
                  <a:srgbClr val="000000"/>
                </a:solidFill>
                <a:uFill>
                  <a:solidFill>
                    <a:srgbClr val="FFFFFF"/>
                  </a:solidFill>
                </a:uFill>
                <a:latin typeface="Tahoma"/>
              </a:rPr>
              <a:t>Determine Specifications</a:t>
            </a:r>
            <a:r>
              <a:rPr lang="en-US" sz="3200" spc="-1" dirty="0">
                <a:solidFill>
                  <a:srgbClr val="000000"/>
                </a:solidFill>
                <a:uFill>
                  <a:solidFill>
                    <a:srgbClr val="FFFFFF"/>
                  </a:solidFill>
                </a:uFill>
                <a:latin typeface="Tahoma"/>
              </a:rPr>
              <a:t>
Describe exactly what your program will do.</a:t>
            </a: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Don</a:t>
            </a:r>
            <a:r>
              <a:rPr lang="en-US" sz="2800" spc="-1" dirty="0">
                <a:solidFill>
                  <a:srgbClr val="000000"/>
                </a:solidFill>
                <a:uFill>
                  <a:solidFill>
                    <a:srgbClr val="FFFFFF"/>
                  </a:solidFill>
                </a:uFill>
                <a:latin typeface="Times New Roman"/>
              </a:rPr>
              <a:t>’</a:t>
            </a:r>
            <a:r>
              <a:rPr lang="en-US" sz="2800" spc="-1" dirty="0">
                <a:solidFill>
                  <a:srgbClr val="000000"/>
                </a:solidFill>
                <a:uFill>
                  <a:solidFill>
                    <a:srgbClr val="FFFFFF"/>
                  </a:solidFill>
                </a:uFill>
                <a:latin typeface="Tahoma"/>
              </a:rPr>
              <a:t>t worry about </a:t>
            </a:r>
            <a:r>
              <a:rPr lang="en-US" sz="2800" i="1" spc="-1" dirty="0">
                <a:solidFill>
                  <a:srgbClr val="000000"/>
                </a:solidFill>
                <a:uFill>
                  <a:solidFill>
                    <a:srgbClr val="FFFFFF"/>
                  </a:solidFill>
                </a:uFill>
                <a:latin typeface="Tahoma"/>
              </a:rPr>
              <a:t>how </a:t>
            </a:r>
            <a:r>
              <a:rPr lang="en-US" sz="2800" spc="-1" dirty="0">
                <a:solidFill>
                  <a:srgbClr val="000000"/>
                </a:solidFill>
                <a:uFill>
                  <a:solidFill>
                    <a:srgbClr val="FFFFFF"/>
                  </a:solidFill>
                </a:uFill>
                <a:latin typeface="Tahoma"/>
              </a:rPr>
              <a:t>the program will work, but </a:t>
            </a:r>
            <a:r>
              <a:rPr lang="en-US" sz="2800" i="1" spc="-1" dirty="0">
                <a:solidFill>
                  <a:srgbClr val="000000"/>
                </a:solidFill>
                <a:uFill>
                  <a:solidFill>
                    <a:srgbClr val="FFFFFF"/>
                  </a:solidFill>
                </a:uFill>
                <a:latin typeface="Tahoma"/>
              </a:rPr>
              <a:t>what</a:t>
            </a:r>
            <a:r>
              <a:rPr lang="en-US" sz="2800" spc="-1" dirty="0">
                <a:solidFill>
                  <a:srgbClr val="000000"/>
                </a:solidFill>
                <a:uFill>
                  <a:solidFill>
                    <a:srgbClr val="FFFFFF"/>
                  </a:solidFill>
                </a:uFill>
                <a:latin typeface="Tahoma"/>
              </a:rPr>
              <a:t> it will do.</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Includes describing the inputs, outputs, and how they relate to one another.</a:t>
            </a:r>
            <a:endParaRPr lang="en-US" sz="2400" spc="-1" dirty="0">
              <a:solidFill>
                <a:srgbClr val="000000"/>
              </a:solidFill>
              <a:uFill>
                <a:solidFill>
                  <a:srgbClr val="FFFFFF"/>
                </a:solidFill>
              </a:uFill>
              <a:latin typeface="Tahoma"/>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75">
                                            <p:txEl>
                                              <p:charRg st="0" end="212"/>
                                            </p:txEl>
                                          </p:spTgt>
                                        </p:tgtEl>
                                        <p:attrNameLst>
                                          <p:attrName>style.visibility</p:attrName>
                                        </p:attrNameLst>
                                      </p:cBhvr>
                                      <p:to>
                                        <p:strVal val="visible"/>
                                      </p:to>
                                    </p:set>
                                    <p:anim calcmode="lin" valueType="num">
                                      <p:cBhvr additive="repl">
                                        <p:cTn id="7" dur="500" fill="hold"/>
                                        <p:tgtEl>
                                          <p:spTgt spid="175">
                                            <p:txEl>
                                              <p:charRg st="0" end="212"/>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175">
                                            <p:txEl>
                                              <p:charRg st="0" end="212"/>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Effect">
                      <p:stCondLst>
                        <p:cond delay="indefinite"/>
                      </p:stCondLst>
                      <p:childTnLst>
                        <p:par>
                          <p:cTn id="10" fill="hold" nodeType="withEffect">
                            <p:stCondLst>
                              <p:cond delay="0"/>
                            </p:stCondLst>
                            <p:childTnLst>
                              <p:par>
                                <p:cTn id="11" presetID="2" presetClass="entr" presetSubtype="8" fill="hold" nodeType="clickEffect">
                                  <p:stCondLst>
                                    <p:cond delay="0"/>
                                  </p:stCondLst>
                                  <p:childTnLst>
                                    <p:set>
                                      <p:cBhvr>
                                        <p:cTn id="12" dur="1" fill="hold">
                                          <p:stCondLst>
                                            <p:cond delay="0"/>
                                          </p:stCondLst>
                                        </p:cTn>
                                        <p:tgtEl>
                                          <p:spTgt spid="175">
                                            <p:txEl>
                                              <p:charRg st="212" end="212"/>
                                            </p:txEl>
                                          </p:spTgt>
                                        </p:tgtEl>
                                        <p:attrNameLst>
                                          <p:attrName>style.visibility</p:attrName>
                                        </p:attrNameLst>
                                      </p:cBhvr>
                                      <p:to>
                                        <p:strVal val="visible"/>
                                      </p:to>
                                    </p:set>
                                    <p:anim calcmode="lin" valueType="num">
                                      <p:cBhvr additive="repl">
                                        <p:cTn id="13" dur="500" fill="hold"/>
                                        <p:tgtEl>
                                          <p:spTgt spid="175">
                                            <p:txEl>
                                              <p:charRg st="212" end="212"/>
                                            </p:txEl>
                                          </p:spTgt>
                                        </p:tgtEl>
                                        <p:attrNameLst>
                                          <p:attrName>ppt_x</p:attrName>
                                        </p:attrNameLst>
                                      </p:cBhvr>
                                      <p:tavLst>
                                        <p:tav tm="0">
                                          <p:val>
                                            <p:strVal val="0-#ppt_w/2"/>
                                          </p:val>
                                        </p:tav>
                                        <p:tav tm="100000">
                                          <p:val>
                                            <p:strVal val="#ppt_x"/>
                                          </p:val>
                                        </p:tav>
                                      </p:tavLst>
                                    </p:anim>
                                    <p:anim calcmode="lin" valueType="num">
                                      <p:cBhvr additive="repl">
                                        <p:cTn id="14" dur="500" fill="hold"/>
                                        <p:tgtEl>
                                          <p:spTgt spid="175">
                                            <p:txEl>
                                              <p:charRg st="212" end="212"/>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2" presetClass="entr" presetSubtype="8" fill="hold" nodeType="clickEffect">
                                  <p:stCondLst>
                                    <p:cond delay="0"/>
                                  </p:stCondLst>
                                  <p:childTnLst>
                                    <p:set>
                                      <p:cBhvr>
                                        <p:cTn id="18" dur="1" fill="hold">
                                          <p:stCondLst>
                                            <p:cond delay="0"/>
                                          </p:stCondLst>
                                        </p:cTn>
                                        <p:tgtEl>
                                          <p:spTgt spid="175">
                                            <p:txEl>
                                              <p:charRg st="212" end="212"/>
                                            </p:txEl>
                                          </p:spTgt>
                                        </p:tgtEl>
                                        <p:attrNameLst>
                                          <p:attrName>style.visibility</p:attrName>
                                        </p:attrNameLst>
                                      </p:cBhvr>
                                      <p:to>
                                        <p:strVal val="visible"/>
                                      </p:to>
                                    </p:set>
                                    <p:anim calcmode="lin" valueType="num">
                                      <p:cBhvr additive="repl">
                                        <p:cTn id="19" dur="500" fill="hold"/>
                                        <p:tgtEl>
                                          <p:spTgt spid="175">
                                            <p:txEl>
                                              <p:charRg st="212" end="212"/>
                                            </p:txEl>
                                          </p:spTgt>
                                        </p:tgtEl>
                                        <p:attrNameLst>
                                          <p:attrName>ppt_x</p:attrName>
                                        </p:attrNameLst>
                                      </p:cBhvr>
                                      <p:tavLst>
                                        <p:tav tm="0">
                                          <p:val>
                                            <p:strVal val="0-#ppt_w/2"/>
                                          </p:val>
                                        </p:tav>
                                        <p:tav tm="100000">
                                          <p:val>
                                            <p:strVal val="#ppt_x"/>
                                          </p:val>
                                        </p:tav>
                                      </p:tavLst>
                                    </p:anim>
                                    <p:anim calcmode="lin" valueType="num">
                                      <p:cBhvr additive="repl">
                                        <p:cTn id="20" dur="500" fill="hold"/>
                                        <p:tgtEl>
                                          <p:spTgt spid="175">
                                            <p:txEl>
                                              <p:charRg st="212" end="21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Shape 3"/>
          <p:cNvSpPr txBox="1"/>
          <p:nvPr/>
        </p:nvSpPr>
        <p:spPr>
          <a:xfrm>
            <a:off x="1128713" y="617400"/>
            <a:ext cx="9338767" cy="1142640"/>
          </a:xfrm>
          <a:prstGeom prst="rect">
            <a:avLst/>
          </a:prstGeom>
          <a:noFill/>
          <a:ln>
            <a:noFill/>
          </a:ln>
        </p:spPr>
        <p:txBody>
          <a:bodyPr anchor="b"/>
          <a:lstStyle/>
          <a:p>
            <a:pPr>
              <a:lnSpc>
                <a:spcPct val="100000"/>
              </a:lnSpc>
            </a:pPr>
            <a:r>
              <a:rPr lang="en-US" sz="4400" spc="-1" dirty="0">
                <a:solidFill>
                  <a:srgbClr val="333399"/>
                </a:solidFill>
                <a:uFill>
                  <a:solidFill>
                    <a:srgbClr val="FFFFFF"/>
                  </a:solidFill>
                </a:uFill>
                <a:latin typeface="Times" pitchFamily="2" charset="0"/>
              </a:rPr>
              <a:t>The Software Development Process</a:t>
            </a:r>
            <a:endParaRPr lang="en-US" sz="2400" spc="-1" dirty="0">
              <a:solidFill>
                <a:srgbClr val="000000"/>
              </a:solidFill>
              <a:uFill>
                <a:solidFill>
                  <a:srgbClr val="FFFFFF"/>
                </a:solidFill>
              </a:uFill>
              <a:latin typeface="Times" pitchFamily="2" charset="0"/>
            </a:endParaRPr>
          </a:p>
        </p:txBody>
      </p:sp>
      <p:sp>
        <p:nvSpPr>
          <p:cNvPr id="179" name="TextShape 4"/>
          <p:cNvSpPr txBox="1"/>
          <p:nvPr/>
        </p:nvSpPr>
        <p:spPr>
          <a:xfrm>
            <a:off x="1271588" y="2017800"/>
            <a:ext cx="9207052" cy="4114440"/>
          </a:xfrm>
          <a:prstGeom prst="rect">
            <a:avLst/>
          </a:prstGeom>
          <a:noFill/>
          <a:ln>
            <a:noFill/>
          </a:ln>
        </p:spPr>
        <p:txBody>
          <a:bodyPr/>
          <a:lstStyle/>
          <a:p>
            <a:pPr marL="343080" indent="-342720">
              <a:buClr>
                <a:srgbClr val="3333CC"/>
              </a:buClr>
              <a:buSzPct val="60000"/>
              <a:buFont typeface="Wingdings" charset="2"/>
              <a:buChar char=""/>
            </a:pPr>
            <a:r>
              <a:rPr lang="en-US" sz="3200" b="1" spc="-1" dirty="0">
                <a:solidFill>
                  <a:srgbClr val="000000"/>
                </a:solidFill>
                <a:uFill>
                  <a:solidFill>
                    <a:srgbClr val="FFFFFF"/>
                  </a:solidFill>
                </a:uFill>
                <a:latin typeface="Tahoma"/>
              </a:rPr>
              <a:t>Create a Design</a:t>
            </a:r>
            <a:endParaRPr lang="en-US" sz="32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Formulate the overall structure of the program.</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This is where the </a:t>
            </a:r>
            <a:r>
              <a:rPr lang="en-US" sz="2800" i="1" spc="-1" dirty="0">
                <a:solidFill>
                  <a:srgbClr val="000000"/>
                </a:solidFill>
                <a:uFill>
                  <a:solidFill>
                    <a:srgbClr val="FFFFFF"/>
                  </a:solidFill>
                </a:uFill>
                <a:latin typeface="Tahoma"/>
              </a:rPr>
              <a:t>how</a:t>
            </a:r>
            <a:r>
              <a:rPr lang="en-US" sz="2800" spc="-1" dirty="0">
                <a:solidFill>
                  <a:srgbClr val="000000"/>
                </a:solidFill>
                <a:uFill>
                  <a:solidFill>
                    <a:srgbClr val="FFFFFF"/>
                  </a:solidFill>
                </a:uFill>
                <a:latin typeface="Tahoma"/>
              </a:rPr>
              <a:t> of the program gets worked out.</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Develop your own algorithm that meets the specifications.</a:t>
            </a:r>
            <a:endParaRPr lang="en-US" sz="2400" spc="-1" dirty="0">
              <a:solidFill>
                <a:srgbClr val="000000"/>
              </a:solidFill>
              <a:uFill>
                <a:solidFill>
                  <a:srgbClr val="FFFFFF"/>
                </a:solidFill>
              </a:uFill>
              <a:latin typeface="Tahoma"/>
            </a:endParaRPr>
          </a:p>
          <a:p>
            <a:endParaRPr lang="en-US" sz="3200" spc="-1" dirty="0">
              <a:solidFill>
                <a:srgbClr val="000000"/>
              </a:solidFill>
              <a:uFill>
                <a:solidFill>
                  <a:srgbClr val="FFFFFF"/>
                </a:solidFill>
              </a:uFill>
              <a:latin typeface="Tahoma"/>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79">
                                            <p:txEl>
                                              <p:charRg st="0" end="177"/>
                                            </p:txEl>
                                          </p:spTgt>
                                        </p:tgtEl>
                                        <p:attrNameLst>
                                          <p:attrName>style.visibility</p:attrName>
                                        </p:attrNameLst>
                                      </p:cBhvr>
                                      <p:to>
                                        <p:strVal val="visible"/>
                                      </p:to>
                                    </p:set>
                                    <p:anim calcmode="lin" valueType="num">
                                      <p:cBhvr additive="repl">
                                        <p:cTn id="7" dur="500" fill="hold"/>
                                        <p:tgtEl>
                                          <p:spTgt spid="179">
                                            <p:txEl>
                                              <p:charRg st="0" end="177"/>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179">
                                            <p:txEl>
                                              <p:charRg st="0" end="177"/>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Effect">
                      <p:stCondLst>
                        <p:cond delay="indefinite"/>
                      </p:stCondLst>
                      <p:childTnLst>
                        <p:par>
                          <p:cTn id="10" fill="hold" nodeType="withEffect">
                            <p:stCondLst>
                              <p:cond delay="0"/>
                            </p:stCondLst>
                            <p:childTnLst>
                              <p:par>
                                <p:cTn id="11" presetID="2" presetClass="entr" presetSubtype="8" fill="hold" nodeType="clickEffect">
                                  <p:stCondLst>
                                    <p:cond delay="0"/>
                                  </p:stCondLst>
                                  <p:childTnLst>
                                    <p:set>
                                      <p:cBhvr>
                                        <p:cTn id="12" dur="1" fill="hold">
                                          <p:stCondLst>
                                            <p:cond delay="0"/>
                                          </p:stCondLst>
                                        </p:cTn>
                                        <p:tgtEl>
                                          <p:spTgt spid="179">
                                            <p:txEl>
                                              <p:charRg st="177" end="177"/>
                                            </p:txEl>
                                          </p:spTgt>
                                        </p:tgtEl>
                                        <p:attrNameLst>
                                          <p:attrName>style.visibility</p:attrName>
                                        </p:attrNameLst>
                                      </p:cBhvr>
                                      <p:to>
                                        <p:strVal val="visible"/>
                                      </p:to>
                                    </p:set>
                                    <p:anim calcmode="lin" valueType="num">
                                      <p:cBhvr additive="repl">
                                        <p:cTn id="13" dur="500" fill="hold"/>
                                        <p:tgtEl>
                                          <p:spTgt spid="179">
                                            <p:txEl>
                                              <p:charRg st="177" end="177"/>
                                            </p:txEl>
                                          </p:spTgt>
                                        </p:tgtEl>
                                        <p:attrNameLst>
                                          <p:attrName>ppt_x</p:attrName>
                                        </p:attrNameLst>
                                      </p:cBhvr>
                                      <p:tavLst>
                                        <p:tav tm="0">
                                          <p:val>
                                            <p:strVal val="0-#ppt_w/2"/>
                                          </p:val>
                                        </p:tav>
                                        <p:tav tm="100000">
                                          <p:val>
                                            <p:strVal val="#ppt_x"/>
                                          </p:val>
                                        </p:tav>
                                      </p:tavLst>
                                    </p:anim>
                                    <p:anim calcmode="lin" valueType="num">
                                      <p:cBhvr additive="repl">
                                        <p:cTn id="14" dur="500" fill="hold"/>
                                        <p:tgtEl>
                                          <p:spTgt spid="179">
                                            <p:txEl>
                                              <p:charRg st="177" end="177"/>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2" presetClass="entr" presetSubtype="8" fill="hold" nodeType="clickEffect">
                                  <p:stCondLst>
                                    <p:cond delay="0"/>
                                  </p:stCondLst>
                                  <p:childTnLst>
                                    <p:set>
                                      <p:cBhvr>
                                        <p:cTn id="18" dur="1" fill="hold">
                                          <p:stCondLst>
                                            <p:cond delay="0"/>
                                          </p:stCondLst>
                                        </p:cTn>
                                        <p:tgtEl>
                                          <p:spTgt spid="179">
                                            <p:txEl>
                                              <p:charRg st="177" end="177"/>
                                            </p:txEl>
                                          </p:spTgt>
                                        </p:tgtEl>
                                        <p:attrNameLst>
                                          <p:attrName>style.visibility</p:attrName>
                                        </p:attrNameLst>
                                      </p:cBhvr>
                                      <p:to>
                                        <p:strVal val="visible"/>
                                      </p:to>
                                    </p:set>
                                    <p:anim calcmode="lin" valueType="num">
                                      <p:cBhvr additive="repl">
                                        <p:cTn id="19" dur="500" fill="hold"/>
                                        <p:tgtEl>
                                          <p:spTgt spid="179">
                                            <p:txEl>
                                              <p:charRg st="177" end="177"/>
                                            </p:txEl>
                                          </p:spTgt>
                                        </p:tgtEl>
                                        <p:attrNameLst>
                                          <p:attrName>ppt_x</p:attrName>
                                        </p:attrNameLst>
                                      </p:cBhvr>
                                      <p:tavLst>
                                        <p:tav tm="0">
                                          <p:val>
                                            <p:strVal val="0-#ppt_w/2"/>
                                          </p:val>
                                        </p:tav>
                                        <p:tav tm="100000">
                                          <p:val>
                                            <p:strVal val="#ppt_x"/>
                                          </p:val>
                                        </p:tav>
                                      </p:tavLst>
                                    </p:anim>
                                    <p:anim calcmode="lin" valueType="num">
                                      <p:cBhvr additive="repl">
                                        <p:cTn id="20" dur="500" fill="hold"/>
                                        <p:tgtEl>
                                          <p:spTgt spid="179">
                                            <p:txEl>
                                              <p:charRg st="177" end="177"/>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Effect">
                      <p:stCondLst>
                        <p:cond delay="indefinite"/>
                      </p:stCondLst>
                      <p:childTnLst>
                        <p:par>
                          <p:cTn id="22" fill="hold" nodeType="withEffect">
                            <p:stCondLst>
                              <p:cond delay="0"/>
                            </p:stCondLst>
                            <p:childTnLst>
                              <p:par>
                                <p:cTn id="23" presetID="2" presetClass="entr" presetSubtype="8" fill="hold" nodeType="clickEffect">
                                  <p:stCondLst>
                                    <p:cond delay="0"/>
                                  </p:stCondLst>
                                  <p:childTnLst>
                                    <p:set>
                                      <p:cBhvr>
                                        <p:cTn id="24" dur="1" fill="hold">
                                          <p:stCondLst>
                                            <p:cond delay="0"/>
                                          </p:stCondLst>
                                        </p:cTn>
                                        <p:tgtEl>
                                          <p:spTgt spid="179">
                                            <p:txEl>
                                              <p:charRg st="177" end="177"/>
                                            </p:txEl>
                                          </p:spTgt>
                                        </p:tgtEl>
                                        <p:attrNameLst>
                                          <p:attrName>style.visibility</p:attrName>
                                        </p:attrNameLst>
                                      </p:cBhvr>
                                      <p:to>
                                        <p:strVal val="visible"/>
                                      </p:to>
                                    </p:set>
                                    <p:anim calcmode="lin" valueType="num">
                                      <p:cBhvr additive="repl">
                                        <p:cTn id="25" dur="500" fill="hold"/>
                                        <p:tgtEl>
                                          <p:spTgt spid="179">
                                            <p:txEl>
                                              <p:charRg st="177" end="177"/>
                                            </p:txEl>
                                          </p:spTgt>
                                        </p:tgtEl>
                                        <p:attrNameLst>
                                          <p:attrName>ppt_x</p:attrName>
                                        </p:attrNameLst>
                                      </p:cBhvr>
                                      <p:tavLst>
                                        <p:tav tm="0">
                                          <p:val>
                                            <p:strVal val="0-#ppt_w/2"/>
                                          </p:val>
                                        </p:tav>
                                        <p:tav tm="100000">
                                          <p:val>
                                            <p:strVal val="#ppt_x"/>
                                          </p:val>
                                        </p:tav>
                                      </p:tavLst>
                                    </p:anim>
                                    <p:anim calcmode="lin" valueType="num">
                                      <p:cBhvr additive="repl">
                                        <p:cTn id="26" dur="500" fill="hold"/>
                                        <p:tgtEl>
                                          <p:spTgt spid="179">
                                            <p:txEl>
                                              <p:charRg st="177" end="177"/>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 name="TextShape 3"/>
          <p:cNvSpPr txBox="1"/>
          <p:nvPr/>
        </p:nvSpPr>
        <p:spPr>
          <a:xfrm>
            <a:off x="1042988" y="617400"/>
            <a:ext cx="9424492" cy="1142640"/>
          </a:xfrm>
          <a:prstGeom prst="rect">
            <a:avLst/>
          </a:prstGeom>
          <a:noFill/>
          <a:ln>
            <a:noFill/>
          </a:ln>
        </p:spPr>
        <p:txBody>
          <a:bodyPr anchor="b"/>
          <a:lstStyle/>
          <a:p>
            <a:pPr>
              <a:lnSpc>
                <a:spcPct val="100000"/>
              </a:lnSpc>
            </a:pPr>
            <a:r>
              <a:rPr lang="en-US" sz="4400" spc="-1" dirty="0">
                <a:solidFill>
                  <a:srgbClr val="333399"/>
                </a:solidFill>
                <a:uFill>
                  <a:solidFill>
                    <a:srgbClr val="FFFFFF"/>
                  </a:solidFill>
                </a:uFill>
                <a:latin typeface="Times" pitchFamily="2" charset="0"/>
              </a:rPr>
              <a:t>The Software Development Process</a:t>
            </a:r>
            <a:endParaRPr lang="en-US" sz="2400" spc="-1" dirty="0">
              <a:solidFill>
                <a:srgbClr val="000000"/>
              </a:solidFill>
              <a:uFill>
                <a:solidFill>
                  <a:srgbClr val="FFFFFF"/>
                </a:solidFill>
              </a:uFill>
              <a:latin typeface="Times" pitchFamily="2" charset="0"/>
            </a:endParaRPr>
          </a:p>
        </p:txBody>
      </p:sp>
      <p:sp>
        <p:nvSpPr>
          <p:cNvPr id="183" name="TextShape 4"/>
          <p:cNvSpPr txBox="1"/>
          <p:nvPr/>
        </p:nvSpPr>
        <p:spPr>
          <a:xfrm>
            <a:off x="1300163" y="2017800"/>
            <a:ext cx="9178477" cy="4114440"/>
          </a:xfrm>
          <a:prstGeom prst="rect">
            <a:avLst/>
          </a:prstGeom>
          <a:noFill/>
          <a:ln>
            <a:noFill/>
          </a:ln>
        </p:spPr>
        <p:txBody>
          <a:bodyPr/>
          <a:lstStyle/>
          <a:p>
            <a:pPr marL="343080" indent="-342720">
              <a:buClr>
                <a:srgbClr val="3333CC"/>
              </a:buClr>
              <a:buSzPct val="60000"/>
              <a:buFont typeface="Wingdings" charset="2"/>
              <a:buChar char=""/>
            </a:pPr>
            <a:r>
              <a:rPr lang="en-US" sz="3200" b="1" spc="-1" dirty="0">
                <a:solidFill>
                  <a:srgbClr val="000000"/>
                </a:solidFill>
                <a:uFill>
                  <a:solidFill>
                    <a:srgbClr val="FFFFFF"/>
                  </a:solidFill>
                </a:uFill>
                <a:latin typeface="Tahoma"/>
              </a:rPr>
              <a:t>Implement the Design</a:t>
            </a:r>
            <a:endParaRPr lang="en-US" sz="32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Translate the design into a computer language.</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In this course we will use Python.</a:t>
            </a:r>
            <a:endParaRPr lang="en-US" sz="2400" spc="-1" dirty="0">
              <a:solidFill>
                <a:srgbClr val="000000"/>
              </a:solidFill>
              <a:uFill>
                <a:solidFill>
                  <a:srgbClr val="FFFFFF"/>
                </a:solidFill>
              </a:uFill>
              <a:latin typeface="Tahoma"/>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83">
                                            <p:txEl>
                                              <p:charRg st="0" end="103"/>
                                            </p:txEl>
                                          </p:spTgt>
                                        </p:tgtEl>
                                        <p:attrNameLst>
                                          <p:attrName>style.visibility</p:attrName>
                                        </p:attrNameLst>
                                      </p:cBhvr>
                                      <p:to>
                                        <p:strVal val="visible"/>
                                      </p:to>
                                    </p:set>
                                    <p:anim calcmode="lin" valueType="num">
                                      <p:cBhvr additive="repl">
                                        <p:cTn id="7" dur="500" fill="hold"/>
                                        <p:tgtEl>
                                          <p:spTgt spid="183">
                                            <p:txEl>
                                              <p:charRg st="0" end="103"/>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183">
                                            <p:txEl>
                                              <p:charRg st="0" end="103"/>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Effect">
                      <p:stCondLst>
                        <p:cond delay="indefinite"/>
                      </p:stCondLst>
                      <p:childTnLst>
                        <p:par>
                          <p:cTn id="10" fill="hold" nodeType="withEffect">
                            <p:stCondLst>
                              <p:cond delay="0"/>
                            </p:stCondLst>
                            <p:childTnLst>
                              <p:par>
                                <p:cTn id="11" presetID="2" presetClass="entr" presetSubtype="8" fill="hold" nodeType="clickEffect">
                                  <p:stCondLst>
                                    <p:cond delay="0"/>
                                  </p:stCondLst>
                                  <p:childTnLst>
                                    <p:set>
                                      <p:cBhvr>
                                        <p:cTn id="12" dur="1" fill="hold">
                                          <p:stCondLst>
                                            <p:cond delay="0"/>
                                          </p:stCondLst>
                                        </p:cTn>
                                        <p:tgtEl>
                                          <p:spTgt spid="183">
                                            <p:txEl>
                                              <p:charRg st="103" end="103"/>
                                            </p:txEl>
                                          </p:spTgt>
                                        </p:tgtEl>
                                        <p:attrNameLst>
                                          <p:attrName>style.visibility</p:attrName>
                                        </p:attrNameLst>
                                      </p:cBhvr>
                                      <p:to>
                                        <p:strVal val="visible"/>
                                      </p:to>
                                    </p:set>
                                    <p:anim calcmode="lin" valueType="num">
                                      <p:cBhvr additive="repl">
                                        <p:cTn id="13" dur="500" fill="hold"/>
                                        <p:tgtEl>
                                          <p:spTgt spid="183">
                                            <p:txEl>
                                              <p:charRg st="103" end="103"/>
                                            </p:txEl>
                                          </p:spTgt>
                                        </p:tgtEl>
                                        <p:attrNameLst>
                                          <p:attrName>ppt_x</p:attrName>
                                        </p:attrNameLst>
                                      </p:cBhvr>
                                      <p:tavLst>
                                        <p:tav tm="0">
                                          <p:val>
                                            <p:strVal val="0-#ppt_w/2"/>
                                          </p:val>
                                        </p:tav>
                                        <p:tav tm="100000">
                                          <p:val>
                                            <p:strVal val="#ppt_x"/>
                                          </p:val>
                                        </p:tav>
                                      </p:tavLst>
                                    </p:anim>
                                    <p:anim calcmode="lin" valueType="num">
                                      <p:cBhvr additive="repl">
                                        <p:cTn id="14" dur="500" fill="hold"/>
                                        <p:tgtEl>
                                          <p:spTgt spid="183">
                                            <p:txEl>
                                              <p:charRg st="103" end="103"/>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2" presetClass="entr" presetSubtype="8" fill="hold" nodeType="clickEffect">
                                  <p:stCondLst>
                                    <p:cond delay="0"/>
                                  </p:stCondLst>
                                  <p:childTnLst>
                                    <p:set>
                                      <p:cBhvr>
                                        <p:cTn id="18" dur="1" fill="hold">
                                          <p:stCondLst>
                                            <p:cond delay="0"/>
                                          </p:stCondLst>
                                        </p:cTn>
                                        <p:tgtEl>
                                          <p:spTgt spid="183">
                                            <p:txEl>
                                              <p:charRg st="103" end="103"/>
                                            </p:txEl>
                                          </p:spTgt>
                                        </p:tgtEl>
                                        <p:attrNameLst>
                                          <p:attrName>style.visibility</p:attrName>
                                        </p:attrNameLst>
                                      </p:cBhvr>
                                      <p:to>
                                        <p:strVal val="visible"/>
                                      </p:to>
                                    </p:set>
                                    <p:anim calcmode="lin" valueType="num">
                                      <p:cBhvr additive="repl">
                                        <p:cTn id="19" dur="500" fill="hold"/>
                                        <p:tgtEl>
                                          <p:spTgt spid="183">
                                            <p:txEl>
                                              <p:charRg st="103" end="103"/>
                                            </p:txEl>
                                          </p:spTgt>
                                        </p:tgtEl>
                                        <p:attrNameLst>
                                          <p:attrName>ppt_x</p:attrName>
                                        </p:attrNameLst>
                                      </p:cBhvr>
                                      <p:tavLst>
                                        <p:tav tm="0">
                                          <p:val>
                                            <p:strVal val="0-#ppt_w/2"/>
                                          </p:val>
                                        </p:tav>
                                        <p:tav tm="100000">
                                          <p:val>
                                            <p:strVal val="#ppt_x"/>
                                          </p:val>
                                        </p:tav>
                                      </p:tavLst>
                                    </p:anim>
                                    <p:anim calcmode="lin" valueType="num">
                                      <p:cBhvr additive="repl">
                                        <p:cTn id="20" dur="500" fill="hold"/>
                                        <p:tgtEl>
                                          <p:spTgt spid="183">
                                            <p:txEl>
                                              <p:charRg st="103" end="103"/>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 name="TextShape 3"/>
          <p:cNvSpPr txBox="1"/>
          <p:nvPr/>
        </p:nvSpPr>
        <p:spPr>
          <a:xfrm>
            <a:off x="485775" y="617400"/>
            <a:ext cx="9981705" cy="1142640"/>
          </a:xfrm>
          <a:prstGeom prst="rect">
            <a:avLst/>
          </a:prstGeom>
          <a:noFill/>
          <a:ln>
            <a:noFill/>
          </a:ln>
        </p:spPr>
        <p:txBody>
          <a:bodyPr anchor="b"/>
          <a:lstStyle/>
          <a:p>
            <a:pPr>
              <a:lnSpc>
                <a:spcPct val="100000"/>
              </a:lnSpc>
            </a:pPr>
            <a:r>
              <a:rPr lang="en-US" sz="4400" spc="-1" dirty="0">
                <a:solidFill>
                  <a:srgbClr val="333399"/>
                </a:solidFill>
                <a:uFill>
                  <a:solidFill>
                    <a:srgbClr val="FFFFFF"/>
                  </a:solidFill>
                </a:uFill>
                <a:latin typeface="Times" pitchFamily="2" charset="0"/>
              </a:rPr>
              <a:t>The Software Development Process</a:t>
            </a:r>
            <a:endParaRPr lang="en-US" sz="2400" spc="-1" dirty="0">
              <a:solidFill>
                <a:srgbClr val="000000"/>
              </a:solidFill>
              <a:uFill>
                <a:solidFill>
                  <a:srgbClr val="FFFFFF"/>
                </a:solidFill>
              </a:uFill>
              <a:latin typeface="Times" pitchFamily="2" charset="0"/>
            </a:endParaRPr>
          </a:p>
        </p:txBody>
      </p:sp>
      <p:sp>
        <p:nvSpPr>
          <p:cNvPr id="187" name="TextShape 4"/>
          <p:cNvSpPr txBox="1"/>
          <p:nvPr/>
        </p:nvSpPr>
        <p:spPr>
          <a:xfrm>
            <a:off x="728663" y="2017800"/>
            <a:ext cx="9749977" cy="4114440"/>
          </a:xfrm>
          <a:prstGeom prst="rect">
            <a:avLst/>
          </a:prstGeom>
          <a:noFill/>
          <a:ln>
            <a:noFill/>
          </a:ln>
        </p:spPr>
        <p:txBody>
          <a:bodyPr/>
          <a:lstStyle/>
          <a:p>
            <a:pPr marL="343080" indent="-342720">
              <a:buClr>
                <a:srgbClr val="3333CC"/>
              </a:buClr>
              <a:buSzPct val="60000"/>
              <a:buFont typeface="Wingdings" charset="2"/>
              <a:buChar char=""/>
            </a:pPr>
            <a:r>
              <a:rPr lang="en-US" sz="3200" b="1" spc="-1" dirty="0">
                <a:solidFill>
                  <a:srgbClr val="000000"/>
                </a:solidFill>
                <a:uFill>
                  <a:solidFill>
                    <a:srgbClr val="FFFFFF"/>
                  </a:solidFill>
                </a:uFill>
                <a:latin typeface="Tahoma"/>
              </a:rPr>
              <a:t>Test/Debug the Program</a:t>
            </a:r>
            <a:endParaRPr lang="en-US" sz="32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Try out your program to see if it works.</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If there are any errors (</a:t>
            </a:r>
            <a:r>
              <a:rPr lang="en-US" sz="2800" i="1" spc="-1" dirty="0">
                <a:solidFill>
                  <a:srgbClr val="000000"/>
                </a:solidFill>
                <a:uFill>
                  <a:solidFill>
                    <a:srgbClr val="FFFFFF"/>
                  </a:solidFill>
                </a:uFill>
                <a:latin typeface="Tahoma"/>
              </a:rPr>
              <a:t>bugs</a:t>
            </a:r>
            <a:r>
              <a:rPr lang="en-US" sz="2800" spc="-1" dirty="0">
                <a:solidFill>
                  <a:srgbClr val="000000"/>
                </a:solidFill>
                <a:uFill>
                  <a:solidFill>
                    <a:srgbClr val="FFFFFF"/>
                  </a:solidFill>
                </a:uFill>
                <a:latin typeface="Tahoma"/>
              </a:rPr>
              <a:t>), they need to be located and fixed. This process is called </a:t>
            </a:r>
            <a:r>
              <a:rPr lang="en-US" sz="2800" i="1" spc="-1" dirty="0">
                <a:solidFill>
                  <a:srgbClr val="000000"/>
                </a:solidFill>
                <a:uFill>
                  <a:solidFill>
                    <a:srgbClr val="FFFFFF"/>
                  </a:solidFill>
                </a:uFill>
                <a:latin typeface="Tahoma"/>
              </a:rPr>
              <a:t>debugging</a:t>
            </a:r>
            <a:r>
              <a:rPr lang="en-US" sz="2800" spc="-1" dirty="0">
                <a:solidFill>
                  <a:srgbClr val="000000"/>
                </a:solidFill>
                <a:uFill>
                  <a:solidFill>
                    <a:srgbClr val="FFFFFF"/>
                  </a:solidFill>
                </a:uFill>
                <a:latin typeface="Tahoma"/>
              </a:rPr>
              <a:t>.</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Your goal is to find errors, so try everything that might </a:t>
            </a:r>
            <a:r>
              <a:rPr lang="en-US" sz="2800" spc="-1" dirty="0">
                <a:solidFill>
                  <a:srgbClr val="000000"/>
                </a:solidFill>
                <a:uFill>
                  <a:solidFill>
                    <a:srgbClr val="FFFFFF"/>
                  </a:solidFill>
                </a:uFill>
                <a:latin typeface="Times New Roman"/>
              </a:rPr>
              <a:t>“</a:t>
            </a:r>
            <a:r>
              <a:rPr lang="en-US" sz="2800" spc="-1" dirty="0">
                <a:solidFill>
                  <a:srgbClr val="000000"/>
                </a:solidFill>
                <a:uFill>
                  <a:solidFill>
                    <a:srgbClr val="FFFFFF"/>
                  </a:solidFill>
                </a:uFill>
                <a:latin typeface="Tahoma"/>
              </a:rPr>
              <a:t>break</a:t>
            </a:r>
            <a:r>
              <a:rPr lang="en-US" sz="2800" spc="-1" dirty="0">
                <a:solidFill>
                  <a:srgbClr val="000000"/>
                </a:solidFill>
                <a:uFill>
                  <a:solidFill>
                    <a:srgbClr val="FFFFFF"/>
                  </a:solidFill>
                </a:uFill>
                <a:latin typeface="Times New Roman"/>
              </a:rPr>
              <a:t>”</a:t>
            </a:r>
            <a:r>
              <a:rPr lang="en-US" sz="2800" spc="-1" dirty="0">
                <a:solidFill>
                  <a:srgbClr val="000000"/>
                </a:solidFill>
                <a:uFill>
                  <a:solidFill>
                    <a:srgbClr val="FFFFFF"/>
                  </a:solidFill>
                </a:uFill>
                <a:latin typeface="Tahoma"/>
              </a:rPr>
              <a:t> your program!</a:t>
            </a:r>
            <a:endParaRPr lang="en-US" sz="2400" spc="-1" dirty="0">
              <a:solidFill>
                <a:srgbClr val="000000"/>
              </a:solidFill>
              <a:uFill>
                <a:solidFill>
                  <a:srgbClr val="FFFFFF"/>
                </a:solidFill>
              </a:uFill>
              <a:latin typeface="Tahoma"/>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87">
                                            <p:txEl>
                                              <p:charRg st="0" end="246"/>
                                            </p:txEl>
                                          </p:spTgt>
                                        </p:tgtEl>
                                        <p:attrNameLst>
                                          <p:attrName>style.visibility</p:attrName>
                                        </p:attrNameLst>
                                      </p:cBhvr>
                                      <p:to>
                                        <p:strVal val="visible"/>
                                      </p:to>
                                    </p:set>
                                    <p:anim calcmode="lin" valueType="num">
                                      <p:cBhvr additive="repl">
                                        <p:cTn id="7" dur="500" fill="hold"/>
                                        <p:tgtEl>
                                          <p:spTgt spid="187">
                                            <p:txEl>
                                              <p:charRg st="0" end="246"/>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187">
                                            <p:txEl>
                                              <p:charRg st="0" end="246"/>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Effect">
                      <p:stCondLst>
                        <p:cond delay="indefinite"/>
                      </p:stCondLst>
                      <p:childTnLst>
                        <p:par>
                          <p:cTn id="10" fill="hold" nodeType="withEffect">
                            <p:stCondLst>
                              <p:cond delay="0"/>
                            </p:stCondLst>
                            <p:childTnLst>
                              <p:par>
                                <p:cTn id="11" presetID="2" presetClass="entr" presetSubtype="8" fill="hold" nodeType="clickEffect">
                                  <p:stCondLst>
                                    <p:cond delay="0"/>
                                  </p:stCondLst>
                                  <p:childTnLst>
                                    <p:set>
                                      <p:cBhvr>
                                        <p:cTn id="12" dur="1" fill="hold">
                                          <p:stCondLst>
                                            <p:cond delay="0"/>
                                          </p:stCondLst>
                                        </p:cTn>
                                        <p:tgtEl>
                                          <p:spTgt spid="187">
                                            <p:txEl>
                                              <p:charRg st="246" end="246"/>
                                            </p:txEl>
                                          </p:spTgt>
                                        </p:tgtEl>
                                        <p:attrNameLst>
                                          <p:attrName>style.visibility</p:attrName>
                                        </p:attrNameLst>
                                      </p:cBhvr>
                                      <p:to>
                                        <p:strVal val="visible"/>
                                      </p:to>
                                    </p:set>
                                    <p:anim calcmode="lin" valueType="num">
                                      <p:cBhvr additive="repl">
                                        <p:cTn id="13" dur="500" fill="hold"/>
                                        <p:tgtEl>
                                          <p:spTgt spid="187">
                                            <p:txEl>
                                              <p:charRg st="246" end="246"/>
                                            </p:txEl>
                                          </p:spTgt>
                                        </p:tgtEl>
                                        <p:attrNameLst>
                                          <p:attrName>ppt_x</p:attrName>
                                        </p:attrNameLst>
                                      </p:cBhvr>
                                      <p:tavLst>
                                        <p:tav tm="0">
                                          <p:val>
                                            <p:strVal val="0-#ppt_w/2"/>
                                          </p:val>
                                        </p:tav>
                                        <p:tav tm="100000">
                                          <p:val>
                                            <p:strVal val="#ppt_x"/>
                                          </p:val>
                                        </p:tav>
                                      </p:tavLst>
                                    </p:anim>
                                    <p:anim calcmode="lin" valueType="num">
                                      <p:cBhvr additive="repl">
                                        <p:cTn id="14" dur="500" fill="hold"/>
                                        <p:tgtEl>
                                          <p:spTgt spid="187">
                                            <p:txEl>
                                              <p:charRg st="246" end="246"/>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2" presetClass="entr" presetSubtype="8" fill="hold" nodeType="clickEffect">
                                  <p:stCondLst>
                                    <p:cond delay="0"/>
                                  </p:stCondLst>
                                  <p:childTnLst>
                                    <p:set>
                                      <p:cBhvr>
                                        <p:cTn id="18" dur="1" fill="hold">
                                          <p:stCondLst>
                                            <p:cond delay="0"/>
                                          </p:stCondLst>
                                        </p:cTn>
                                        <p:tgtEl>
                                          <p:spTgt spid="187">
                                            <p:txEl>
                                              <p:charRg st="246" end="246"/>
                                            </p:txEl>
                                          </p:spTgt>
                                        </p:tgtEl>
                                        <p:attrNameLst>
                                          <p:attrName>style.visibility</p:attrName>
                                        </p:attrNameLst>
                                      </p:cBhvr>
                                      <p:to>
                                        <p:strVal val="visible"/>
                                      </p:to>
                                    </p:set>
                                    <p:anim calcmode="lin" valueType="num">
                                      <p:cBhvr additive="repl">
                                        <p:cTn id="19" dur="500" fill="hold"/>
                                        <p:tgtEl>
                                          <p:spTgt spid="187">
                                            <p:txEl>
                                              <p:charRg st="246" end="246"/>
                                            </p:txEl>
                                          </p:spTgt>
                                        </p:tgtEl>
                                        <p:attrNameLst>
                                          <p:attrName>ppt_x</p:attrName>
                                        </p:attrNameLst>
                                      </p:cBhvr>
                                      <p:tavLst>
                                        <p:tav tm="0">
                                          <p:val>
                                            <p:strVal val="0-#ppt_w/2"/>
                                          </p:val>
                                        </p:tav>
                                        <p:tav tm="100000">
                                          <p:val>
                                            <p:strVal val="#ppt_x"/>
                                          </p:val>
                                        </p:tav>
                                      </p:tavLst>
                                    </p:anim>
                                    <p:anim calcmode="lin" valueType="num">
                                      <p:cBhvr additive="repl">
                                        <p:cTn id="20" dur="500" fill="hold"/>
                                        <p:tgtEl>
                                          <p:spTgt spid="187">
                                            <p:txEl>
                                              <p:charRg st="246" end="246"/>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Effect">
                      <p:stCondLst>
                        <p:cond delay="indefinite"/>
                      </p:stCondLst>
                      <p:childTnLst>
                        <p:par>
                          <p:cTn id="22" fill="hold" nodeType="withEffect">
                            <p:stCondLst>
                              <p:cond delay="0"/>
                            </p:stCondLst>
                            <p:childTnLst>
                              <p:par>
                                <p:cTn id="23" presetID="2" presetClass="entr" presetSubtype="8" fill="hold" nodeType="clickEffect">
                                  <p:stCondLst>
                                    <p:cond delay="0"/>
                                  </p:stCondLst>
                                  <p:childTnLst>
                                    <p:set>
                                      <p:cBhvr>
                                        <p:cTn id="24" dur="1" fill="hold">
                                          <p:stCondLst>
                                            <p:cond delay="0"/>
                                          </p:stCondLst>
                                        </p:cTn>
                                        <p:tgtEl>
                                          <p:spTgt spid="187">
                                            <p:txEl>
                                              <p:charRg st="246" end="246"/>
                                            </p:txEl>
                                          </p:spTgt>
                                        </p:tgtEl>
                                        <p:attrNameLst>
                                          <p:attrName>style.visibility</p:attrName>
                                        </p:attrNameLst>
                                      </p:cBhvr>
                                      <p:to>
                                        <p:strVal val="visible"/>
                                      </p:to>
                                    </p:set>
                                    <p:anim calcmode="lin" valueType="num">
                                      <p:cBhvr additive="repl">
                                        <p:cTn id="25" dur="500" fill="hold"/>
                                        <p:tgtEl>
                                          <p:spTgt spid="187">
                                            <p:txEl>
                                              <p:charRg st="246" end="246"/>
                                            </p:txEl>
                                          </p:spTgt>
                                        </p:tgtEl>
                                        <p:attrNameLst>
                                          <p:attrName>ppt_x</p:attrName>
                                        </p:attrNameLst>
                                      </p:cBhvr>
                                      <p:tavLst>
                                        <p:tav tm="0">
                                          <p:val>
                                            <p:strVal val="0-#ppt_w/2"/>
                                          </p:val>
                                        </p:tav>
                                        <p:tav tm="100000">
                                          <p:val>
                                            <p:strVal val="#ppt_x"/>
                                          </p:val>
                                        </p:tav>
                                      </p:tavLst>
                                    </p:anim>
                                    <p:anim calcmode="lin" valueType="num">
                                      <p:cBhvr additive="repl">
                                        <p:cTn id="26" dur="500" fill="hold"/>
                                        <p:tgtEl>
                                          <p:spTgt spid="187">
                                            <p:txEl>
                                              <p:charRg st="246" end="246"/>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TextShape 3"/>
          <p:cNvSpPr txBox="1"/>
          <p:nvPr/>
        </p:nvSpPr>
        <p:spPr>
          <a:xfrm>
            <a:off x="442913" y="617400"/>
            <a:ext cx="10024567" cy="1142640"/>
          </a:xfrm>
          <a:prstGeom prst="rect">
            <a:avLst/>
          </a:prstGeom>
          <a:noFill/>
          <a:ln>
            <a:noFill/>
          </a:ln>
        </p:spPr>
        <p:txBody>
          <a:bodyPr anchor="b"/>
          <a:lstStyle/>
          <a:p>
            <a:pPr>
              <a:lnSpc>
                <a:spcPct val="100000"/>
              </a:lnSpc>
            </a:pPr>
            <a:r>
              <a:rPr lang="en-US" sz="4400" spc="-1" dirty="0">
                <a:solidFill>
                  <a:srgbClr val="333399"/>
                </a:solidFill>
                <a:uFill>
                  <a:solidFill>
                    <a:srgbClr val="FFFFFF"/>
                  </a:solidFill>
                </a:uFill>
                <a:latin typeface="Times" pitchFamily="2" charset="0"/>
              </a:rPr>
              <a:t>The Software Development Process</a:t>
            </a:r>
            <a:endParaRPr lang="en-US" sz="2400" spc="-1" dirty="0">
              <a:solidFill>
                <a:srgbClr val="000000"/>
              </a:solidFill>
              <a:uFill>
                <a:solidFill>
                  <a:srgbClr val="FFFFFF"/>
                </a:solidFill>
              </a:uFill>
              <a:latin typeface="Times" pitchFamily="2" charset="0"/>
            </a:endParaRPr>
          </a:p>
        </p:txBody>
      </p:sp>
      <p:sp>
        <p:nvSpPr>
          <p:cNvPr id="191" name="TextShape 4"/>
          <p:cNvSpPr txBox="1"/>
          <p:nvPr/>
        </p:nvSpPr>
        <p:spPr>
          <a:xfrm>
            <a:off x="814388" y="2017800"/>
            <a:ext cx="9664252" cy="4114440"/>
          </a:xfrm>
          <a:prstGeom prst="rect">
            <a:avLst/>
          </a:prstGeom>
          <a:noFill/>
          <a:ln>
            <a:noFill/>
          </a:ln>
        </p:spPr>
        <p:txBody>
          <a:bodyPr/>
          <a:lstStyle/>
          <a:p>
            <a:pPr marL="343080" indent="-342720">
              <a:buClr>
                <a:srgbClr val="3333CC"/>
              </a:buClr>
              <a:buSzPct val="60000"/>
              <a:buFont typeface="Wingdings" charset="2"/>
              <a:buChar char=""/>
            </a:pPr>
            <a:r>
              <a:rPr lang="en-US" sz="3200" b="1" spc="-1" dirty="0">
                <a:solidFill>
                  <a:srgbClr val="000000"/>
                </a:solidFill>
                <a:uFill>
                  <a:solidFill>
                    <a:srgbClr val="FFFFFF"/>
                  </a:solidFill>
                </a:uFill>
                <a:latin typeface="Tahoma"/>
              </a:rPr>
              <a:t>Maintain the Program</a:t>
            </a:r>
            <a:endParaRPr lang="en-US" sz="32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Continue developing the program in response to the needs of your users.</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In the real world, most programs are never completely finished </a:t>
            </a:r>
            <a:r>
              <a:rPr lang="en-US" sz="2800" spc="-1" dirty="0">
                <a:solidFill>
                  <a:srgbClr val="000000"/>
                </a:solidFill>
                <a:uFill>
                  <a:solidFill>
                    <a:srgbClr val="FFFFFF"/>
                  </a:solidFill>
                </a:uFill>
                <a:latin typeface="Times New Roman"/>
              </a:rPr>
              <a:t>–</a:t>
            </a:r>
            <a:r>
              <a:rPr lang="en-US" sz="2800" spc="-1" dirty="0">
                <a:solidFill>
                  <a:srgbClr val="000000"/>
                </a:solidFill>
                <a:uFill>
                  <a:solidFill>
                    <a:srgbClr val="FFFFFF"/>
                  </a:solidFill>
                </a:uFill>
                <a:latin typeface="Tahoma"/>
              </a:rPr>
              <a:t> they evolve over time.</a:t>
            </a:r>
            <a:endParaRPr lang="en-US" sz="2400" spc="-1" dirty="0">
              <a:solidFill>
                <a:srgbClr val="000000"/>
              </a:solidFill>
              <a:uFill>
                <a:solidFill>
                  <a:srgbClr val="FFFFFF"/>
                </a:solidFill>
              </a:uFill>
              <a:latin typeface="Tahoma"/>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91">
                                            <p:txEl>
                                              <p:charRg st="0" end="181"/>
                                            </p:txEl>
                                          </p:spTgt>
                                        </p:tgtEl>
                                        <p:attrNameLst>
                                          <p:attrName>style.visibility</p:attrName>
                                        </p:attrNameLst>
                                      </p:cBhvr>
                                      <p:to>
                                        <p:strVal val="visible"/>
                                      </p:to>
                                    </p:set>
                                    <p:anim calcmode="lin" valueType="num">
                                      <p:cBhvr additive="repl">
                                        <p:cTn id="7" dur="500" fill="hold"/>
                                        <p:tgtEl>
                                          <p:spTgt spid="191">
                                            <p:txEl>
                                              <p:charRg st="0" end="181"/>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191">
                                            <p:txEl>
                                              <p:charRg st="0" end="18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Effect">
                      <p:stCondLst>
                        <p:cond delay="indefinite"/>
                      </p:stCondLst>
                      <p:childTnLst>
                        <p:par>
                          <p:cTn id="10" fill="hold" nodeType="withEffect">
                            <p:stCondLst>
                              <p:cond delay="0"/>
                            </p:stCondLst>
                            <p:childTnLst>
                              <p:par>
                                <p:cTn id="11" presetID="2" presetClass="entr" presetSubtype="8" fill="hold" nodeType="clickEffect">
                                  <p:stCondLst>
                                    <p:cond delay="0"/>
                                  </p:stCondLst>
                                  <p:childTnLst>
                                    <p:set>
                                      <p:cBhvr>
                                        <p:cTn id="12" dur="1" fill="hold">
                                          <p:stCondLst>
                                            <p:cond delay="0"/>
                                          </p:stCondLst>
                                        </p:cTn>
                                        <p:tgtEl>
                                          <p:spTgt spid="191">
                                            <p:txEl>
                                              <p:charRg st="181" end="181"/>
                                            </p:txEl>
                                          </p:spTgt>
                                        </p:tgtEl>
                                        <p:attrNameLst>
                                          <p:attrName>style.visibility</p:attrName>
                                        </p:attrNameLst>
                                      </p:cBhvr>
                                      <p:to>
                                        <p:strVal val="visible"/>
                                      </p:to>
                                    </p:set>
                                    <p:anim calcmode="lin" valueType="num">
                                      <p:cBhvr additive="repl">
                                        <p:cTn id="13" dur="500" fill="hold"/>
                                        <p:tgtEl>
                                          <p:spTgt spid="191">
                                            <p:txEl>
                                              <p:charRg st="181" end="181"/>
                                            </p:txEl>
                                          </p:spTgt>
                                        </p:tgtEl>
                                        <p:attrNameLst>
                                          <p:attrName>ppt_x</p:attrName>
                                        </p:attrNameLst>
                                      </p:cBhvr>
                                      <p:tavLst>
                                        <p:tav tm="0">
                                          <p:val>
                                            <p:strVal val="0-#ppt_w/2"/>
                                          </p:val>
                                        </p:tav>
                                        <p:tav tm="100000">
                                          <p:val>
                                            <p:strVal val="#ppt_x"/>
                                          </p:val>
                                        </p:tav>
                                      </p:tavLst>
                                    </p:anim>
                                    <p:anim calcmode="lin" valueType="num">
                                      <p:cBhvr additive="repl">
                                        <p:cTn id="14" dur="500" fill="hold"/>
                                        <p:tgtEl>
                                          <p:spTgt spid="191">
                                            <p:txEl>
                                              <p:charRg st="181" end="18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2" presetClass="entr" presetSubtype="8" fill="hold" nodeType="clickEffect">
                                  <p:stCondLst>
                                    <p:cond delay="0"/>
                                  </p:stCondLst>
                                  <p:childTnLst>
                                    <p:set>
                                      <p:cBhvr>
                                        <p:cTn id="18" dur="1" fill="hold">
                                          <p:stCondLst>
                                            <p:cond delay="0"/>
                                          </p:stCondLst>
                                        </p:cTn>
                                        <p:tgtEl>
                                          <p:spTgt spid="191">
                                            <p:txEl>
                                              <p:charRg st="181" end="181"/>
                                            </p:txEl>
                                          </p:spTgt>
                                        </p:tgtEl>
                                        <p:attrNameLst>
                                          <p:attrName>style.visibility</p:attrName>
                                        </p:attrNameLst>
                                      </p:cBhvr>
                                      <p:to>
                                        <p:strVal val="visible"/>
                                      </p:to>
                                    </p:set>
                                    <p:anim calcmode="lin" valueType="num">
                                      <p:cBhvr additive="repl">
                                        <p:cTn id="19" dur="500" fill="hold"/>
                                        <p:tgtEl>
                                          <p:spTgt spid="191">
                                            <p:txEl>
                                              <p:charRg st="181" end="181"/>
                                            </p:txEl>
                                          </p:spTgt>
                                        </p:tgtEl>
                                        <p:attrNameLst>
                                          <p:attrName>ppt_x</p:attrName>
                                        </p:attrNameLst>
                                      </p:cBhvr>
                                      <p:tavLst>
                                        <p:tav tm="0">
                                          <p:val>
                                            <p:strVal val="0-#ppt_w/2"/>
                                          </p:val>
                                        </p:tav>
                                        <p:tav tm="100000">
                                          <p:val>
                                            <p:strVal val="#ppt_x"/>
                                          </p:val>
                                        </p:tav>
                                      </p:tavLst>
                                    </p:anim>
                                    <p:anim calcmode="lin" valueType="num">
                                      <p:cBhvr additive="repl">
                                        <p:cTn id="20" dur="500" fill="hold"/>
                                        <p:tgtEl>
                                          <p:spTgt spid="191">
                                            <p:txEl>
                                              <p:charRg st="181" end="18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TextShape 3"/>
          <p:cNvSpPr txBox="1"/>
          <p:nvPr/>
        </p:nvSpPr>
        <p:spPr>
          <a:xfrm>
            <a:off x="457200" y="617400"/>
            <a:ext cx="10010280" cy="1142640"/>
          </a:xfrm>
          <a:prstGeom prst="rect">
            <a:avLst/>
          </a:prstGeom>
          <a:noFill/>
          <a:ln>
            <a:noFill/>
          </a:ln>
        </p:spPr>
        <p:txBody>
          <a:bodyPr anchor="b"/>
          <a:lstStyle/>
          <a:p>
            <a:r>
              <a:rPr lang="en-US" sz="4400" spc="-1" dirty="0">
                <a:solidFill>
                  <a:srgbClr val="333399"/>
                </a:solidFill>
                <a:uFill>
                  <a:solidFill>
                    <a:srgbClr val="FFFFFF"/>
                  </a:solidFill>
                </a:uFill>
                <a:latin typeface="Times" pitchFamily="2" charset="0"/>
              </a:rPr>
              <a:t>Example Program: Temperature Converter</a:t>
            </a:r>
          </a:p>
        </p:txBody>
      </p:sp>
      <p:sp>
        <p:nvSpPr>
          <p:cNvPr id="195" name="TextShape 4"/>
          <p:cNvSpPr txBox="1"/>
          <p:nvPr/>
        </p:nvSpPr>
        <p:spPr>
          <a:xfrm>
            <a:off x="671513" y="2017800"/>
            <a:ext cx="9807127" cy="4114440"/>
          </a:xfrm>
          <a:prstGeom prst="rect">
            <a:avLst/>
          </a:prstGeom>
          <a:noFill/>
          <a:ln>
            <a:noFill/>
          </a:ln>
        </p:spPr>
        <p:txBody>
          <a:bodyPr/>
          <a:lstStyle/>
          <a:p>
            <a:pPr marL="343080" indent="-342720">
              <a:buClr>
                <a:srgbClr val="3333CC"/>
              </a:buClr>
              <a:buSzPct val="60000"/>
              <a:buFont typeface="Wingdings" charset="2"/>
              <a:buChar char=""/>
            </a:pPr>
            <a:r>
              <a:rPr lang="en-US" sz="3200" spc="-1" dirty="0">
                <a:solidFill>
                  <a:srgbClr val="000000"/>
                </a:solidFill>
                <a:uFill>
                  <a:solidFill>
                    <a:srgbClr val="FFFFFF"/>
                  </a:solidFill>
                </a:uFill>
                <a:latin typeface="Tahoma"/>
              </a:rPr>
              <a:t>Analysis </a:t>
            </a:r>
            <a:r>
              <a:rPr lang="en-US" sz="3200" spc="-1" dirty="0">
                <a:solidFill>
                  <a:srgbClr val="000000"/>
                </a:solidFill>
                <a:uFill>
                  <a:solidFill>
                    <a:srgbClr val="FFFFFF"/>
                  </a:solidFill>
                </a:uFill>
                <a:latin typeface="Times New Roman"/>
              </a:rPr>
              <a:t>–</a:t>
            </a:r>
            <a:r>
              <a:rPr lang="en-US" sz="3200" spc="-1" dirty="0">
                <a:solidFill>
                  <a:srgbClr val="000000"/>
                </a:solidFill>
                <a:uFill>
                  <a:solidFill>
                    <a:srgbClr val="FFFFFF"/>
                  </a:solidFill>
                </a:uFill>
                <a:latin typeface="Tahoma"/>
              </a:rPr>
              <a:t> the temperature is given in Celsius, user wants it expressed in degrees Fahrenheit.</a:t>
            </a:r>
          </a:p>
          <a:p>
            <a:pPr marL="343080" indent="-342720">
              <a:buClr>
                <a:srgbClr val="3333CC"/>
              </a:buClr>
              <a:buSzPct val="60000"/>
              <a:buFont typeface="Wingdings" charset="2"/>
              <a:buChar char=""/>
            </a:pPr>
            <a:r>
              <a:rPr lang="en-US" sz="3200" spc="-1" dirty="0">
                <a:solidFill>
                  <a:srgbClr val="000000"/>
                </a:solidFill>
                <a:uFill>
                  <a:solidFill>
                    <a:srgbClr val="FFFFFF"/>
                  </a:solidFill>
                </a:uFill>
                <a:latin typeface="Tahoma"/>
              </a:rPr>
              <a:t>Specification</a:t>
            </a: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Input </a:t>
            </a:r>
            <a:r>
              <a:rPr lang="en-US" sz="2800" spc="-1" dirty="0">
                <a:solidFill>
                  <a:srgbClr val="000000"/>
                </a:solidFill>
                <a:uFill>
                  <a:solidFill>
                    <a:srgbClr val="FFFFFF"/>
                  </a:solidFill>
                </a:uFill>
                <a:latin typeface="Times New Roman"/>
              </a:rPr>
              <a:t>–</a:t>
            </a:r>
            <a:r>
              <a:rPr lang="en-US" sz="2800" spc="-1" dirty="0">
                <a:solidFill>
                  <a:srgbClr val="000000"/>
                </a:solidFill>
                <a:uFill>
                  <a:solidFill>
                    <a:srgbClr val="FFFFFF"/>
                  </a:solidFill>
                </a:uFill>
                <a:latin typeface="Tahoma"/>
              </a:rPr>
              <a:t> temperature in Celsius</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Output </a:t>
            </a:r>
            <a:r>
              <a:rPr lang="en-US" sz="2800" spc="-1" dirty="0">
                <a:solidFill>
                  <a:srgbClr val="000000"/>
                </a:solidFill>
                <a:uFill>
                  <a:solidFill>
                    <a:srgbClr val="FFFFFF"/>
                  </a:solidFill>
                </a:uFill>
                <a:latin typeface="Times New Roman"/>
              </a:rPr>
              <a:t>–</a:t>
            </a:r>
            <a:r>
              <a:rPr lang="en-US" sz="2800" spc="-1" dirty="0">
                <a:solidFill>
                  <a:srgbClr val="000000"/>
                </a:solidFill>
                <a:uFill>
                  <a:solidFill>
                    <a:srgbClr val="FFFFFF"/>
                  </a:solidFill>
                </a:uFill>
                <a:latin typeface="Tahoma"/>
              </a:rPr>
              <a:t> temperature in Fahrenheit</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Output = 9/5(input) + 32</a:t>
            </a:r>
            <a:endParaRPr lang="en-US" sz="2400" spc="-1" dirty="0">
              <a:solidFill>
                <a:srgbClr val="000000"/>
              </a:solidFill>
              <a:uFill>
                <a:solidFill>
                  <a:srgbClr val="FFFFFF"/>
                </a:solidFill>
              </a:uFill>
              <a:latin typeface="Tahoma"/>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95">
                                            <p:txEl>
                                              <p:charRg st="0" end="200"/>
                                            </p:txEl>
                                          </p:spTgt>
                                        </p:tgtEl>
                                        <p:attrNameLst>
                                          <p:attrName>style.visibility</p:attrName>
                                        </p:attrNameLst>
                                      </p:cBhvr>
                                      <p:to>
                                        <p:strVal val="visible"/>
                                      </p:to>
                                    </p:set>
                                    <p:anim calcmode="lin" valueType="num">
                                      <p:cBhvr additive="repl">
                                        <p:cTn id="7" dur="500" fill="hold"/>
                                        <p:tgtEl>
                                          <p:spTgt spid="195">
                                            <p:txEl>
                                              <p:charRg st="0" end="200"/>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195">
                                            <p:txEl>
                                              <p:charRg st="0" end="200"/>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Effect">
                      <p:stCondLst>
                        <p:cond delay="indefinite"/>
                      </p:stCondLst>
                      <p:childTnLst>
                        <p:par>
                          <p:cTn id="10" fill="hold" nodeType="withEffect">
                            <p:stCondLst>
                              <p:cond delay="0"/>
                            </p:stCondLst>
                            <p:childTnLst>
                              <p:par>
                                <p:cTn id="11" presetID="2" presetClass="entr" presetSubtype="8" fill="hold" nodeType="clickEffect">
                                  <p:stCondLst>
                                    <p:cond delay="0"/>
                                  </p:stCondLst>
                                  <p:childTnLst>
                                    <p:set>
                                      <p:cBhvr>
                                        <p:cTn id="12" dur="1" fill="hold">
                                          <p:stCondLst>
                                            <p:cond delay="0"/>
                                          </p:stCondLst>
                                        </p:cTn>
                                        <p:tgtEl>
                                          <p:spTgt spid="195">
                                            <p:txEl>
                                              <p:charRg st="200" end="200"/>
                                            </p:txEl>
                                          </p:spTgt>
                                        </p:tgtEl>
                                        <p:attrNameLst>
                                          <p:attrName>style.visibility</p:attrName>
                                        </p:attrNameLst>
                                      </p:cBhvr>
                                      <p:to>
                                        <p:strVal val="visible"/>
                                      </p:to>
                                    </p:set>
                                    <p:anim calcmode="lin" valueType="num">
                                      <p:cBhvr additive="repl">
                                        <p:cTn id="13" dur="500" fill="hold"/>
                                        <p:tgtEl>
                                          <p:spTgt spid="195">
                                            <p:txEl>
                                              <p:charRg st="200" end="200"/>
                                            </p:txEl>
                                          </p:spTgt>
                                        </p:tgtEl>
                                        <p:attrNameLst>
                                          <p:attrName>ppt_x</p:attrName>
                                        </p:attrNameLst>
                                      </p:cBhvr>
                                      <p:tavLst>
                                        <p:tav tm="0">
                                          <p:val>
                                            <p:strVal val="0-#ppt_w/2"/>
                                          </p:val>
                                        </p:tav>
                                        <p:tav tm="100000">
                                          <p:val>
                                            <p:strVal val="#ppt_x"/>
                                          </p:val>
                                        </p:tav>
                                      </p:tavLst>
                                    </p:anim>
                                    <p:anim calcmode="lin" valueType="num">
                                      <p:cBhvr additive="repl">
                                        <p:cTn id="14" dur="500" fill="hold"/>
                                        <p:tgtEl>
                                          <p:spTgt spid="195">
                                            <p:txEl>
                                              <p:charRg st="200" end="200"/>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2" presetClass="entr" presetSubtype="8" fill="hold" nodeType="clickEffect">
                                  <p:stCondLst>
                                    <p:cond delay="0"/>
                                  </p:stCondLst>
                                  <p:childTnLst>
                                    <p:set>
                                      <p:cBhvr>
                                        <p:cTn id="18" dur="1" fill="hold">
                                          <p:stCondLst>
                                            <p:cond delay="0"/>
                                          </p:stCondLst>
                                        </p:cTn>
                                        <p:tgtEl>
                                          <p:spTgt spid="195">
                                            <p:txEl>
                                              <p:charRg st="200" end="200"/>
                                            </p:txEl>
                                          </p:spTgt>
                                        </p:tgtEl>
                                        <p:attrNameLst>
                                          <p:attrName>style.visibility</p:attrName>
                                        </p:attrNameLst>
                                      </p:cBhvr>
                                      <p:to>
                                        <p:strVal val="visible"/>
                                      </p:to>
                                    </p:set>
                                    <p:anim calcmode="lin" valueType="num">
                                      <p:cBhvr additive="repl">
                                        <p:cTn id="19" dur="500" fill="hold"/>
                                        <p:tgtEl>
                                          <p:spTgt spid="195">
                                            <p:txEl>
                                              <p:charRg st="200" end="200"/>
                                            </p:txEl>
                                          </p:spTgt>
                                        </p:tgtEl>
                                        <p:attrNameLst>
                                          <p:attrName>ppt_x</p:attrName>
                                        </p:attrNameLst>
                                      </p:cBhvr>
                                      <p:tavLst>
                                        <p:tav tm="0">
                                          <p:val>
                                            <p:strVal val="0-#ppt_w/2"/>
                                          </p:val>
                                        </p:tav>
                                        <p:tav tm="100000">
                                          <p:val>
                                            <p:strVal val="#ppt_x"/>
                                          </p:val>
                                        </p:tav>
                                      </p:tavLst>
                                    </p:anim>
                                    <p:anim calcmode="lin" valueType="num">
                                      <p:cBhvr additive="repl">
                                        <p:cTn id="20" dur="500" fill="hold"/>
                                        <p:tgtEl>
                                          <p:spTgt spid="195">
                                            <p:txEl>
                                              <p:charRg st="200" end="200"/>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Effect">
                      <p:stCondLst>
                        <p:cond delay="indefinite"/>
                      </p:stCondLst>
                      <p:childTnLst>
                        <p:par>
                          <p:cTn id="22" fill="hold" nodeType="withEffect">
                            <p:stCondLst>
                              <p:cond delay="0"/>
                            </p:stCondLst>
                            <p:childTnLst>
                              <p:par>
                                <p:cTn id="23" presetID="2" presetClass="entr" presetSubtype="8" fill="hold" nodeType="clickEffect">
                                  <p:stCondLst>
                                    <p:cond delay="0"/>
                                  </p:stCondLst>
                                  <p:childTnLst>
                                    <p:set>
                                      <p:cBhvr>
                                        <p:cTn id="24" dur="1" fill="hold">
                                          <p:stCondLst>
                                            <p:cond delay="0"/>
                                          </p:stCondLst>
                                        </p:cTn>
                                        <p:tgtEl>
                                          <p:spTgt spid="195">
                                            <p:txEl>
                                              <p:charRg st="200" end="200"/>
                                            </p:txEl>
                                          </p:spTgt>
                                        </p:tgtEl>
                                        <p:attrNameLst>
                                          <p:attrName>style.visibility</p:attrName>
                                        </p:attrNameLst>
                                      </p:cBhvr>
                                      <p:to>
                                        <p:strVal val="visible"/>
                                      </p:to>
                                    </p:set>
                                    <p:anim calcmode="lin" valueType="num">
                                      <p:cBhvr additive="repl">
                                        <p:cTn id="25" dur="500" fill="hold"/>
                                        <p:tgtEl>
                                          <p:spTgt spid="195">
                                            <p:txEl>
                                              <p:charRg st="200" end="200"/>
                                            </p:txEl>
                                          </p:spTgt>
                                        </p:tgtEl>
                                        <p:attrNameLst>
                                          <p:attrName>ppt_x</p:attrName>
                                        </p:attrNameLst>
                                      </p:cBhvr>
                                      <p:tavLst>
                                        <p:tav tm="0">
                                          <p:val>
                                            <p:strVal val="0-#ppt_w/2"/>
                                          </p:val>
                                        </p:tav>
                                        <p:tav tm="100000">
                                          <p:val>
                                            <p:strVal val="#ppt_x"/>
                                          </p:val>
                                        </p:tav>
                                      </p:tavLst>
                                    </p:anim>
                                    <p:anim calcmode="lin" valueType="num">
                                      <p:cBhvr additive="repl">
                                        <p:cTn id="26" dur="500" fill="hold"/>
                                        <p:tgtEl>
                                          <p:spTgt spid="195">
                                            <p:txEl>
                                              <p:charRg st="200" end="200"/>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Effect">
                      <p:stCondLst>
                        <p:cond delay="indefinite"/>
                      </p:stCondLst>
                      <p:childTnLst>
                        <p:par>
                          <p:cTn id="28" fill="hold" nodeType="withEffect">
                            <p:stCondLst>
                              <p:cond delay="0"/>
                            </p:stCondLst>
                            <p:childTnLst>
                              <p:par>
                                <p:cTn id="29" presetID="2" presetClass="entr" presetSubtype="8" fill="hold" nodeType="clickEffect">
                                  <p:stCondLst>
                                    <p:cond delay="0"/>
                                  </p:stCondLst>
                                  <p:childTnLst>
                                    <p:set>
                                      <p:cBhvr>
                                        <p:cTn id="30" dur="1" fill="hold">
                                          <p:stCondLst>
                                            <p:cond delay="0"/>
                                          </p:stCondLst>
                                        </p:cTn>
                                        <p:tgtEl>
                                          <p:spTgt spid="195">
                                            <p:txEl>
                                              <p:charRg st="200" end="200"/>
                                            </p:txEl>
                                          </p:spTgt>
                                        </p:tgtEl>
                                        <p:attrNameLst>
                                          <p:attrName>style.visibility</p:attrName>
                                        </p:attrNameLst>
                                      </p:cBhvr>
                                      <p:to>
                                        <p:strVal val="visible"/>
                                      </p:to>
                                    </p:set>
                                    <p:anim calcmode="lin" valueType="num">
                                      <p:cBhvr additive="repl">
                                        <p:cTn id="31" dur="500" fill="hold"/>
                                        <p:tgtEl>
                                          <p:spTgt spid="195">
                                            <p:txEl>
                                              <p:charRg st="200" end="200"/>
                                            </p:txEl>
                                          </p:spTgt>
                                        </p:tgtEl>
                                        <p:attrNameLst>
                                          <p:attrName>ppt_x</p:attrName>
                                        </p:attrNameLst>
                                      </p:cBhvr>
                                      <p:tavLst>
                                        <p:tav tm="0">
                                          <p:val>
                                            <p:strVal val="0-#ppt_w/2"/>
                                          </p:val>
                                        </p:tav>
                                        <p:tav tm="100000">
                                          <p:val>
                                            <p:strVal val="#ppt_x"/>
                                          </p:val>
                                        </p:tav>
                                      </p:tavLst>
                                    </p:anim>
                                    <p:anim calcmode="lin" valueType="num">
                                      <p:cBhvr additive="repl">
                                        <p:cTn id="32" dur="500" fill="hold"/>
                                        <p:tgtEl>
                                          <p:spTgt spid="195">
                                            <p:txEl>
                                              <p:charRg st="200" end="200"/>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 name="TextShape 3"/>
          <p:cNvSpPr txBox="1"/>
          <p:nvPr/>
        </p:nvSpPr>
        <p:spPr>
          <a:xfrm>
            <a:off x="900113" y="617400"/>
            <a:ext cx="10601325" cy="1142640"/>
          </a:xfrm>
          <a:prstGeom prst="rect">
            <a:avLst/>
          </a:prstGeom>
          <a:noFill/>
          <a:ln>
            <a:noFill/>
          </a:ln>
        </p:spPr>
        <p:txBody>
          <a:bodyPr anchor="b"/>
          <a:lstStyle/>
          <a:p>
            <a:r>
              <a:rPr lang="en-US" sz="4400" spc="-1" dirty="0">
                <a:solidFill>
                  <a:srgbClr val="333399"/>
                </a:solidFill>
                <a:uFill>
                  <a:solidFill>
                    <a:srgbClr val="FFFFFF"/>
                  </a:solidFill>
                </a:uFill>
                <a:latin typeface="Times" pitchFamily="2" charset="0"/>
              </a:rPr>
              <a:t>Example Program: Temperature Converter</a:t>
            </a:r>
          </a:p>
        </p:txBody>
      </p:sp>
      <p:sp>
        <p:nvSpPr>
          <p:cNvPr id="199" name="TextShape 4"/>
          <p:cNvSpPr txBox="1"/>
          <p:nvPr/>
        </p:nvSpPr>
        <p:spPr>
          <a:xfrm>
            <a:off x="757238" y="2017800"/>
            <a:ext cx="9721402" cy="4114440"/>
          </a:xfrm>
          <a:prstGeom prst="rect">
            <a:avLst/>
          </a:prstGeom>
          <a:noFill/>
          <a:ln>
            <a:noFill/>
          </a:ln>
        </p:spPr>
        <p:txBody>
          <a:bodyPr/>
          <a:lstStyle/>
          <a:p>
            <a:pPr marL="343080" indent="-342720">
              <a:buClr>
                <a:srgbClr val="3333CC"/>
              </a:buClr>
              <a:buSzPct val="60000"/>
              <a:buFont typeface="Wingdings" charset="2"/>
              <a:buChar char=""/>
            </a:pPr>
            <a:r>
              <a:rPr lang="en-US" sz="3200" spc="-1" dirty="0">
                <a:solidFill>
                  <a:srgbClr val="000000"/>
                </a:solidFill>
                <a:uFill>
                  <a:solidFill>
                    <a:srgbClr val="FFFFFF"/>
                  </a:solidFill>
                </a:uFill>
                <a:latin typeface="Tahoma"/>
              </a:rPr>
              <a:t>Design</a:t>
            </a: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Input, Process, Output (IPO)</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Prompt the user for input (Celsius temperature)</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Process it to convert it to Fahrenheit using F = 9/5(C) + 32</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Output the result by displaying it on the screen</a:t>
            </a:r>
            <a:endParaRPr lang="en-US" sz="2400" spc="-1" dirty="0">
              <a:solidFill>
                <a:srgbClr val="000000"/>
              </a:solidFill>
              <a:uFill>
                <a:solidFill>
                  <a:srgbClr val="FFFFFF"/>
                </a:solidFill>
              </a:uFill>
              <a:latin typeface="Tahoma"/>
            </a:endParaRP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199">
                                            <p:txEl>
                                              <p:charRg st="0" end="194"/>
                                            </p:txEl>
                                          </p:spTgt>
                                        </p:tgtEl>
                                        <p:attrNameLst>
                                          <p:attrName>style.visibility</p:attrName>
                                        </p:attrNameLst>
                                      </p:cBhvr>
                                      <p:to>
                                        <p:strVal val="visible"/>
                                      </p:to>
                                    </p:set>
                                    <p:anim calcmode="lin" valueType="num">
                                      <p:cBhvr additive="repl">
                                        <p:cTn id="7" dur="500" fill="hold"/>
                                        <p:tgtEl>
                                          <p:spTgt spid="199">
                                            <p:txEl>
                                              <p:charRg st="0" end="194"/>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199">
                                            <p:txEl>
                                              <p:charRg st="0" end="194"/>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Effect">
                      <p:stCondLst>
                        <p:cond delay="indefinite"/>
                      </p:stCondLst>
                      <p:childTnLst>
                        <p:par>
                          <p:cTn id="10" fill="hold" nodeType="withEffect">
                            <p:stCondLst>
                              <p:cond delay="0"/>
                            </p:stCondLst>
                            <p:childTnLst>
                              <p:par>
                                <p:cTn id="11" presetID="2" presetClass="entr" presetSubtype="8" fill="hold" nodeType="clickEffect">
                                  <p:stCondLst>
                                    <p:cond delay="0"/>
                                  </p:stCondLst>
                                  <p:childTnLst>
                                    <p:set>
                                      <p:cBhvr>
                                        <p:cTn id="12" dur="1" fill="hold">
                                          <p:stCondLst>
                                            <p:cond delay="0"/>
                                          </p:stCondLst>
                                        </p:cTn>
                                        <p:tgtEl>
                                          <p:spTgt spid="199">
                                            <p:txEl>
                                              <p:charRg st="194" end="194"/>
                                            </p:txEl>
                                          </p:spTgt>
                                        </p:tgtEl>
                                        <p:attrNameLst>
                                          <p:attrName>style.visibility</p:attrName>
                                        </p:attrNameLst>
                                      </p:cBhvr>
                                      <p:to>
                                        <p:strVal val="visible"/>
                                      </p:to>
                                    </p:set>
                                    <p:anim calcmode="lin" valueType="num">
                                      <p:cBhvr additive="repl">
                                        <p:cTn id="13" dur="500" fill="hold"/>
                                        <p:tgtEl>
                                          <p:spTgt spid="199">
                                            <p:txEl>
                                              <p:charRg st="194" end="194"/>
                                            </p:txEl>
                                          </p:spTgt>
                                        </p:tgtEl>
                                        <p:attrNameLst>
                                          <p:attrName>ppt_x</p:attrName>
                                        </p:attrNameLst>
                                      </p:cBhvr>
                                      <p:tavLst>
                                        <p:tav tm="0">
                                          <p:val>
                                            <p:strVal val="0-#ppt_w/2"/>
                                          </p:val>
                                        </p:tav>
                                        <p:tav tm="100000">
                                          <p:val>
                                            <p:strVal val="#ppt_x"/>
                                          </p:val>
                                        </p:tav>
                                      </p:tavLst>
                                    </p:anim>
                                    <p:anim calcmode="lin" valueType="num">
                                      <p:cBhvr additive="repl">
                                        <p:cTn id="14" dur="500" fill="hold"/>
                                        <p:tgtEl>
                                          <p:spTgt spid="199">
                                            <p:txEl>
                                              <p:charRg st="194" end="194"/>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2" presetClass="entr" presetSubtype="8" fill="hold" nodeType="clickEffect">
                                  <p:stCondLst>
                                    <p:cond delay="0"/>
                                  </p:stCondLst>
                                  <p:childTnLst>
                                    <p:set>
                                      <p:cBhvr>
                                        <p:cTn id="18" dur="1" fill="hold">
                                          <p:stCondLst>
                                            <p:cond delay="0"/>
                                          </p:stCondLst>
                                        </p:cTn>
                                        <p:tgtEl>
                                          <p:spTgt spid="199">
                                            <p:txEl>
                                              <p:charRg st="194" end="194"/>
                                            </p:txEl>
                                          </p:spTgt>
                                        </p:tgtEl>
                                        <p:attrNameLst>
                                          <p:attrName>style.visibility</p:attrName>
                                        </p:attrNameLst>
                                      </p:cBhvr>
                                      <p:to>
                                        <p:strVal val="visible"/>
                                      </p:to>
                                    </p:set>
                                    <p:anim calcmode="lin" valueType="num">
                                      <p:cBhvr additive="repl">
                                        <p:cTn id="19" dur="500" fill="hold"/>
                                        <p:tgtEl>
                                          <p:spTgt spid="199">
                                            <p:txEl>
                                              <p:charRg st="194" end="194"/>
                                            </p:txEl>
                                          </p:spTgt>
                                        </p:tgtEl>
                                        <p:attrNameLst>
                                          <p:attrName>ppt_x</p:attrName>
                                        </p:attrNameLst>
                                      </p:cBhvr>
                                      <p:tavLst>
                                        <p:tav tm="0">
                                          <p:val>
                                            <p:strVal val="0-#ppt_w/2"/>
                                          </p:val>
                                        </p:tav>
                                        <p:tav tm="100000">
                                          <p:val>
                                            <p:strVal val="#ppt_x"/>
                                          </p:val>
                                        </p:tav>
                                      </p:tavLst>
                                    </p:anim>
                                    <p:anim calcmode="lin" valueType="num">
                                      <p:cBhvr additive="repl">
                                        <p:cTn id="20" dur="500" fill="hold"/>
                                        <p:tgtEl>
                                          <p:spTgt spid="199">
                                            <p:txEl>
                                              <p:charRg st="194" end="194"/>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Effect">
                      <p:stCondLst>
                        <p:cond delay="indefinite"/>
                      </p:stCondLst>
                      <p:childTnLst>
                        <p:par>
                          <p:cTn id="22" fill="hold" nodeType="withEffect">
                            <p:stCondLst>
                              <p:cond delay="0"/>
                            </p:stCondLst>
                            <p:childTnLst>
                              <p:par>
                                <p:cTn id="23" presetID="2" presetClass="entr" presetSubtype="8" fill="hold" nodeType="clickEffect">
                                  <p:stCondLst>
                                    <p:cond delay="0"/>
                                  </p:stCondLst>
                                  <p:childTnLst>
                                    <p:set>
                                      <p:cBhvr>
                                        <p:cTn id="24" dur="1" fill="hold">
                                          <p:stCondLst>
                                            <p:cond delay="0"/>
                                          </p:stCondLst>
                                        </p:cTn>
                                        <p:tgtEl>
                                          <p:spTgt spid="199">
                                            <p:txEl>
                                              <p:charRg st="194" end="194"/>
                                            </p:txEl>
                                          </p:spTgt>
                                        </p:tgtEl>
                                        <p:attrNameLst>
                                          <p:attrName>style.visibility</p:attrName>
                                        </p:attrNameLst>
                                      </p:cBhvr>
                                      <p:to>
                                        <p:strVal val="visible"/>
                                      </p:to>
                                    </p:set>
                                    <p:anim calcmode="lin" valueType="num">
                                      <p:cBhvr additive="repl">
                                        <p:cTn id="25" dur="500" fill="hold"/>
                                        <p:tgtEl>
                                          <p:spTgt spid="199">
                                            <p:txEl>
                                              <p:charRg st="194" end="194"/>
                                            </p:txEl>
                                          </p:spTgt>
                                        </p:tgtEl>
                                        <p:attrNameLst>
                                          <p:attrName>ppt_x</p:attrName>
                                        </p:attrNameLst>
                                      </p:cBhvr>
                                      <p:tavLst>
                                        <p:tav tm="0">
                                          <p:val>
                                            <p:strVal val="0-#ppt_w/2"/>
                                          </p:val>
                                        </p:tav>
                                        <p:tav tm="100000">
                                          <p:val>
                                            <p:strVal val="#ppt_x"/>
                                          </p:val>
                                        </p:tav>
                                      </p:tavLst>
                                    </p:anim>
                                    <p:anim calcmode="lin" valueType="num">
                                      <p:cBhvr additive="repl">
                                        <p:cTn id="26" dur="500" fill="hold"/>
                                        <p:tgtEl>
                                          <p:spTgt spid="199">
                                            <p:txEl>
                                              <p:charRg st="194" end="194"/>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Effect">
                      <p:stCondLst>
                        <p:cond delay="indefinite"/>
                      </p:stCondLst>
                      <p:childTnLst>
                        <p:par>
                          <p:cTn id="28" fill="hold" nodeType="withEffect">
                            <p:stCondLst>
                              <p:cond delay="0"/>
                            </p:stCondLst>
                            <p:childTnLst>
                              <p:par>
                                <p:cTn id="29" presetID="2" presetClass="entr" presetSubtype="8" fill="hold" nodeType="clickEffect">
                                  <p:stCondLst>
                                    <p:cond delay="0"/>
                                  </p:stCondLst>
                                  <p:childTnLst>
                                    <p:set>
                                      <p:cBhvr>
                                        <p:cTn id="30" dur="1" fill="hold">
                                          <p:stCondLst>
                                            <p:cond delay="0"/>
                                          </p:stCondLst>
                                        </p:cTn>
                                        <p:tgtEl>
                                          <p:spTgt spid="199">
                                            <p:txEl>
                                              <p:charRg st="194" end="194"/>
                                            </p:txEl>
                                          </p:spTgt>
                                        </p:tgtEl>
                                        <p:attrNameLst>
                                          <p:attrName>style.visibility</p:attrName>
                                        </p:attrNameLst>
                                      </p:cBhvr>
                                      <p:to>
                                        <p:strVal val="visible"/>
                                      </p:to>
                                    </p:set>
                                    <p:anim calcmode="lin" valueType="num">
                                      <p:cBhvr additive="repl">
                                        <p:cTn id="31" dur="500" fill="hold"/>
                                        <p:tgtEl>
                                          <p:spTgt spid="199">
                                            <p:txEl>
                                              <p:charRg st="194" end="194"/>
                                            </p:txEl>
                                          </p:spTgt>
                                        </p:tgtEl>
                                        <p:attrNameLst>
                                          <p:attrName>ppt_x</p:attrName>
                                        </p:attrNameLst>
                                      </p:cBhvr>
                                      <p:tavLst>
                                        <p:tav tm="0">
                                          <p:val>
                                            <p:strVal val="0-#ppt_w/2"/>
                                          </p:val>
                                        </p:tav>
                                        <p:tav tm="100000">
                                          <p:val>
                                            <p:strVal val="#ppt_x"/>
                                          </p:val>
                                        </p:tav>
                                      </p:tavLst>
                                    </p:anim>
                                    <p:anim calcmode="lin" valueType="num">
                                      <p:cBhvr additive="repl">
                                        <p:cTn id="32" dur="500" fill="hold"/>
                                        <p:tgtEl>
                                          <p:spTgt spid="199">
                                            <p:txEl>
                                              <p:charRg st="194" end="19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TextShape 3"/>
          <p:cNvSpPr txBox="1"/>
          <p:nvPr/>
        </p:nvSpPr>
        <p:spPr>
          <a:xfrm>
            <a:off x="771525" y="809905"/>
            <a:ext cx="9695955" cy="1142640"/>
          </a:xfrm>
          <a:prstGeom prst="rect">
            <a:avLst/>
          </a:prstGeom>
          <a:noFill/>
          <a:ln>
            <a:noFill/>
          </a:ln>
        </p:spPr>
        <p:txBody>
          <a:bodyPr anchor="b"/>
          <a:lstStyle/>
          <a:p>
            <a:r>
              <a:rPr lang="en-US" sz="4000" spc="-1" dirty="0">
                <a:solidFill>
                  <a:srgbClr val="333399"/>
                </a:solidFill>
                <a:uFill>
                  <a:solidFill>
                    <a:srgbClr val="FFFFFF"/>
                  </a:solidFill>
                </a:uFill>
                <a:latin typeface="Times" pitchFamily="2" charset="0"/>
              </a:rPr>
              <a:t>Example Program: Temperature Converter</a:t>
            </a:r>
          </a:p>
          <a:p>
            <a:pPr>
              <a:lnSpc>
                <a:spcPct val="100000"/>
              </a:lnSpc>
            </a:pPr>
            <a:endParaRPr lang="en-US" sz="4000" spc="-1" dirty="0">
              <a:solidFill>
                <a:srgbClr val="000000"/>
              </a:solidFill>
              <a:uFill>
                <a:solidFill>
                  <a:srgbClr val="FFFFFF"/>
                </a:solidFill>
              </a:uFill>
              <a:latin typeface="Tahoma"/>
            </a:endParaRPr>
          </a:p>
        </p:txBody>
      </p:sp>
      <p:sp>
        <p:nvSpPr>
          <p:cNvPr id="203" name="TextShape 4"/>
          <p:cNvSpPr txBox="1"/>
          <p:nvPr/>
        </p:nvSpPr>
        <p:spPr>
          <a:xfrm>
            <a:off x="1074690" y="1630421"/>
            <a:ext cx="9392790" cy="4222800"/>
          </a:xfrm>
          <a:prstGeom prst="rect">
            <a:avLst/>
          </a:prstGeom>
          <a:noFill/>
          <a:ln>
            <a:noFill/>
          </a:ln>
        </p:spPr>
        <p:txBody>
          <a:bodyPr/>
          <a:lstStyle/>
          <a:p>
            <a:pPr marL="343080" indent="-342720">
              <a:lnSpc>
                <a:spcPct val="90000"/>
              </a:lnSpc>
              <a:buClr>
                <a:srgbClr val="3333CC"/>
              </a:buClr>
              <a:buSzPct val="60000"/>
              <a:buFont typeface="Wingdings" charset="2"/>
              <a:buChar char=""/>
            </a:pPr>
            <a:r>
              <a:rPr lang="en-US" sz="3600" spc="-1" dirty="0">
                <a:uFill>
                  <a:solidFill>
                    <a:srgbClr val="FFFFFF"/>
                  </a:solidFill>
                </a:uFill>
                <a:latin typeface="Times" pitchFamily="2" charset="0"/>
              </a:rPr>
              <a:t>Before we start coding, let’s write a rough draft of the program in pseudocode</a:t>
            </a:r>
          </a:p>
          <a:p>
            <a:pPr marL="343080" indent="-342720">
              <a:lnSpc>
                <a:spcPct val="90000"/>
              </a:lnSpc>
              <a:buClr>
                <a:srgbClr val="3333CC"/>
              </a:buClr>
              <a:buSzPct val="60000"/>
              <a:buFont typeface="Wingdings" charset="2"/>
              <a:buChar char=""/>
            </a:pPr>
            <a:r>
              <a:rPr lang="en-US" sz="3600" spc="-1" dirty="0">
                <a:uFill>
                  <a:solidFill>
                    <a:srgbClr val="FFFFFF"/>
                  </a:solidFill>
                </a:uFill>
                <a:latin typeface="Times" pitchFamily="2" charset="0"/>
              </a:rPr>
              <a:t>Pseudocode is precise English that describes what a program does, step by step.</a:t>
            </a:r>
          </a:p>
          <a:p>
            <a:pPr marL="343080" indent="-342720">
              <a:lnSpc>
                <a:spcPct val="90000"/>
              </a:lnSpc>
              <a:buClr>
                <a:srgbClr val="3333CC"/>
              </a:buClr>
              <a:buSzPct val="60000"/>
              <a:buFont typeface="Wingdings" charset="2"/>
              <a:buChar char=""/>
            </a:pPr>
            <a:r>
              <a:rPr lang="en-US" sz="3600" spc="-1" dirty="0">
                <a:uFill>
                  <a:solidFill>
                    <a:srgbClr val="FFFFFF"/>
                  </a:solidFill>
                </a:uFill>
                <a:latin typeface="Times" pitchFamily="2" charset="0"/>
              </a:rPr>
              <a:t>Using pseudocode, we can concentrate on the algorithm rather than the programming language.</a:t>
            </a: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203">
                                            <p:txEl>
                                              <p:charRg st="0" end="251"/>
                                            </p:txEl>
                                          </p:spTgt>
                                        </p:tgtEl>
                                        <p:attrNameLst>
                                          <p:attrName>style.visibility</p:attrName>
                                        </p:attrNameLst>
                                      </p:cBhvr>
                                      <p:to>
                                        <p:strVal val="visible"/>
                                      </p:to>
                                    </p:set>
                                    <p:anim calcmode="lin" valueType="num">
                                      <p:cBhvr additive="repl">
                                        <p:cTn id="7" dur="500" fill="hold"/>
                                        <p:tgtEl>
                                          <p:spTgt spid="203">
                                            <p:txEl>
                                              <p:charRg st="0" end="251"/>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203">
                                            <p:txEl>
                                              <p:charRg st="0" end="251"/>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Effect">
                      <p:stCondLst>
                        <p:cond delay="indefinite"/>
                      </p:stCondLst>
                      <p:childTnLst>
                        <p:par>
                          <p:cTn id="10" fill="hold" nodeType="withEffect">
                            <p:stCondLst>
                              <p:cond delay="0"/>
                            </p:stCondLst>
                            <p:childTnLst>
                              <p:par>
                                <p:cTn id="11" presetID="2" presetClass="entr" presetSubtype="8" fill="hold" nodeType="clickEffect">
                                  <p:stCondLst>
                                    <p:cond delay="0"/>
                                  </p:stCondLst>
                                  <p:childTnLst>
                                    <p:set>
                                      <p:cBhvr>
                                        <p:cTn id="12" dur="1" fill="hold">
                                          <p:stCondLst>
                                            <p:cond delay="0"/>
                                          </p:stCondLst>
                                        </p:cTn>
                                        <p:tgtEl>
                                          <p:spTgt spid="203">
                                            <p:txEl>
                                              <p:charRg st="251" end="251"/>
                                            </p:txEl>
                                          </p:spTgt>
                                        </p:tgtEl>
                                        <p:attrNameLst>
                                          <p:attrName>style.visibility</p:attrName>
                                        </p:attrNameLst>
                                      </p:cBhvr>
                                      <p:to>
                                        <p:strVal val="visible"/>
                                      </p:to>
                                    </p:set>
                                    <p:anim calcmode="lin" valueType="num">
                                      <p:cBhvr additive="repl">
                                        <p:cTn id="13" dur="500" fill="hold"/>
                                        <p:tgtEl>
                                          <p:spTgt spid="203">
                                            <p:txEl>
                                              <p:charRg st="251" end="251"/>
                                            </p:txEl>
                                          </p:spTgt>
                                        </p:tgtEl>
                                        <p:attrNameLst>
                                          <p:attrName>ppt_x</p:attrName>
                                        </p:attrNameLst>
                                      </p:cBhvr>
                                      <p:tavLst>
                                        <p:tav tm="0">
                                          <p:val>
                                            <p:strVal val="0-#ppt_w/2"/>
                                          </p:val>
                                        </p:tav>
                                        <p:tav tm="100000">
                                          <p:val>
                                            <p:strVal val="#ppt_x"/>
                                          </p:val>
                                        </p:tav>
                                      </p:tavLst>
                                    </p:anim>
                                    <p:anim calcmode="lin" valueType="num">
                                      <p:cBhvr additive="repl">
                                        <p:cTn id="14" dur="500" fill="hold"/>
                                        <p:tgtEl>
                                          <p:spTgt spid="203">
                                            <p:txEl>
                                              <p:charRg st="251" end="251"/>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2" presetClass="entr" presetSubtype="8" fill="hold" nodeType="clickEffect">
                                  <p:stCondLst>
                                    <p:cond delay="0"/>
                                  </p:stCondLst>
                                  <p:childTnLst>
                                    <p:set>
                                      <p:cBhvr>
                                        <p:cTn id="18" dur="1" fill="hold">
                                          <p:stCondLst>
                                            <p:cond delay="0"/>
                                          </p:stCondLst>
                                        </p:cTn>
                                        <p:tgtEl>
                                          <p:spTgt spid="203">
                                            <p:txEl>
                                              <p:charRg st="251" end="251"/>
                                            </p:txEl>
                                          </p:spTgt>
                                        </p:tgtEl>
                                        <p:attrNameLst>
                                          <p:attrName>style.visibility</p:attrName>
                                        </p:attrNameLst>
                                      </p:cBhvr>
                                      <p:to>
                                        <p:strVal val="visible"/>
                                      </p:to>
                                    </p:set>
                                    <p:anim calcmode="lin" valueType="num">
                                      <p:cBhvr additive="repl">
                                        <p:cTn id="19" dur="500" fill="hold"/>
                                        <p:tgtEl>
                                          <p:spTgt spid="203">
                                            <p:txEl>
                                              <p:charRg st="251" end="251"/>
                                            </p:txEl>
                                          </p:spTgt>
                                        </p:tgtEl>
                                        <p:attrNameLst>
                                          <p:attrName>ppt_x</p:attrName>
                                        </p:attrNameLst>
                                      </p:cBhvr>
                                      <p:tavLst>
                                        <p:tav tm="0">
                                          <p:val>
                                            <p:strVal val="0-#ppt_w/2"/>
                                          </p:val>
                                        </p:tav>
                                        <p:tav tm="100000">
                                          <p:val>
                                            <p:strVal val="#ppt_x"/>
                                          </p:val>
                                        </p:tav>
                                      </p:tavLst>
                                    </p:anim>
                                    <p:anim calcmode="lin" valueType="num">
                                      <p:cBhvr additive="repl">
                                        <p:cTn id="20" dur="500" fill="hold"/>
                                        <p:tgtEl>
                                          <p:spTgt spid="203">
                                            <p:txEl>
                                              <p:charRg st="251" end="251"/>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 name="TextShape 3"/>
          <p:cNvSpPr txBox="1"/>
          <p:nvPr/>
        </p:nvSpPr>
        <p:spPr>
          <a:xfrm>
            <a:off x="814387" y="617400"/>
            <a:ext cx="10487025" cy="1142640"/>
          </a:xfrm>
          <a:prstGeom prst="rect">
            <a:avLst/>
          </a:prstGeom>
          <a:noFill/>
          <a:ln>
            <a:noFill/>
          </a:ln>
        </p:spPr>
        <p:txBody>
          <a:bodyPr anchor="b"/>
          <a:lstStyle/>
          <a:p>
            <a:r>
              <a:rPr lang="en-US" sz="4400" spc="-1" dirty="0">
                <a:solidFill>
                  <a:srgbClr val="333399"/>
                </a:solidFill>
                <a:uFill>
                  <a:solidFill>
                    <a:srgbClr val="FFFFFF"/>
                  </a:solidFill>
                </a:uFill>
                <a:latin typeface="Times" pitchFamily="2" charset="0"/>
              </a:rPr>
              <a:t>Example Program: Temperature Converter</a:t>
            </a:r>
          </a:p>
        </p:txBody>
      </p:sp>
      <p:sp>
        <p:nvSpPr>
          <p:cNvPr id="207" name="TextShape 4"/>
          <p:cNvSpPr txBox="1"/>
          <p:nvPr/>
        </p:nvSpPr>
        <p:spPr>
          <a:xfrm>
            <a:off x="1042988" y="2017800"/>
            <a:ext cx="9435652" cy="4114440"/>
          </a:xfrm>
          <a:prstGeom prst="rect">
            <a:avLst/>
          </a:prstGeom>
          <a:noFill/>
          <a:ln>
            <a:noFill/>
          </a:ln>
        </p:spPr>
        <p:txBody>
          <a:bodyPr/>
          <a:lstStyle/>
          <a:p>
            <a:pPr marL="343080" indent="-342720">
              <a:buClr>
                <a:srgbClr val="3333CC"/>
              </a:buClr>
              <a:buSzPct val="60000"/>
              <a:buFont typeface="Wingdings" charset="2"/>
              <a:buChar char=""/>
            </a:pPr>
            <a:r>
              <a:rPr lang="en-US" sz="3200" spc="-1" dirty="0">
                <a:solidFill>
                  <a:srgbClr val="000000"/>
                </a:solidFill>
                <a:uFill>
                  <a:solidFill>
                    <a:srgbClr val="FFFFFF"/>
                  </a:solidFill>
                </a:uFill>
                <a:latin typeface="Tahoma"/>
              </a:rPr>
              <a:t>Pseudocode:</a:t>
            </a: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Input the temperature in degrees Celsius (call it </a:t>
            </a:r>
            <a:r>
              <a:rPr lang="en-US" sz="2800" spc="-1" dirty="0" err="1">
                <a:solidFill>
                  <a:srgbClr val="000000"/>
                </a:solidFill>
                <a:uFill>
                  <a:solidFill>
                    <a:srgbClr val="FFFFFF"/>
                  </a:solidFill>
                </a:uFill>
                <a:latin typeface="Tahoma"/>
              </a:rPr>
              <a:t>celsius</a:t>
            </a:r>
            <a:r>
              <a:rPr lang="en-US" sz="2800" spc="-1" dirty="0">
                <a:solidFill>
                  <a:srgbClr val="000000"/>
                </a:solidFill>
                <a:uFill>
                  <a:solidFill>
                    <a:srgbClr val="FFFFFF"/>
                  </a:solidFill>
                </a:uFill>
                <a:latin typeface="Tahoma"/>
              </a:rPr>
              <a:t>)</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Calculate </a:t>
            </a:r>
            <a:r>
              <a:rPr lang="en-US" sz="2800" spc="-1" dirty="0" err="1">
                <a:solidFill>
                  <a:srgbClr val="000000"/>
                </a:solidFill>
                <a:uFill>
                  <a:solidFill>
                    <a:srgbClr val="FFFFFF"/>
                  </a:solidFill>
                </a:uFill>
                <a:latin typeface="Tahoma"/>
              </a:rPr>
              <a:t>fahrenheit</a:t>
            </a:r>
            <a:r>
              <a:rPr lang="en-US" sz="2800" spc="-1" dirty="0">
                <a:solidFill>
                  <a:srgbClr val="000000"/>
                </a:solidFill>
                <a:uFill>
                  <a:solidFill>
                    <a:srgbClr val="FFFFFF"/>
                  </a:solidFill>
                </a:uFill>
                <a:latin typeface="Tahoma"/>
              </a:rPr>
              <a:t> as (9/5)*celsius+32</a:t>
            </a:r>
            <a:endParaRPr lang="en-US" sz="2400" spc="-1" dirty="0">
              <a:solidFill>
                <a:srgbClr val="000000"/>
              </a:solidFill>
              <a:uFill>
                <a:solidFill>
                  <a:srgbClr val="FFFFFF"/>
                </a:solidFill>
              </a:uFill>
              <a:latin typeface="Tahoma"/>
            </a:endParaRPr>
          </a:p>
          <a:p>
            <a:pPr marL="743040" lvl="1" indent="-285480">
              <a:buClr>
                <a:srgbClr val="FF0000"/>
              </a:buClr>
              <a:buSzPct val="55000"/>
              <a:buFont typeface="Wingdings" charset="2"/>
              <a:buChar char=""/>
            </a:pPr>
            <a:r>
              <a:rPr lang="en-US" sz="2800" spc="-1" dirty="0">
                <a:solidFill>
                  <a:srgbClr val="000000"/>
                </a:solidFill>
                <a:uFill>
                  <a:solidFill>
                    <a:srgbClr val="FFFFFF"/>
                  </a:solidFill>
                </a:uFill>
                <a:latin typeface="Tahoma"/>
              </a:rPr>
              <a:t>Output </a:t>
            </a:r>
            <a:r>
              <a:rPr lang="en-US" sz="2800" spc="-1" dirty="0" err="1">
                <a:solidFill>
                  <a:srgbClr val="000000"/>
                </a:solidFill>
                <a:uFill>
                  <a:solidFill>
                    <a:srgbClr val="FFFFFF"/>
                  </a:solidFill>
                </a:uFill>
                <a:latin typeface="Tahoma"/>
              </a:rPr>
              <a:t>fahrenheit</a:t>
            </a:r>
            <a:endParaRPr lang="en-US" sz="2400" spc="-1" dirty="0">
              <a:solidFill>
                <a:srgbClr val="000000"/>
              </a:solidFill>
              <a:uFill>
                <a:solidFill>
                  <a:srgbClr val="FFFFFF"/>
                </a:solidFill>
              </a:uFill>
              <a:latin typeface="Tahoma"/>
            </a:endParaRPr>
          </a:p>
          <a:p>
            <a:pPr marL="343080" indent="-342720">
              <a:buClr>
                <a:srgbClr val="3333CC"/>
              </a:buClr>
              <a:buSzPct val="60000"/>
              <a:buFont typeface="Wingdings" charset="2"/>
              <a:buChar char=""/>
            </a:pPr>
            <a:r>
              <a:rPr lang="en-US" sz="3200" spc="-1" dirty="0">
                <a:solidFill>
                  <a:srgbClr val="000000"/>
                </a:solidFill>
                <a:uFill>
                  <a:solidFill>
                    <a:srgbClr val="FFFFFF"/>
                  </a:solidFill>
                </a:uFill>
                <a:latin typeface="Tahoma"/>
              </a:rPr>
              <a:t>Now we need to convert this to Python!</a:t>
            </a:r>
          </a:p>
        </p:txBody>
      </p:sp>
    </p:spTree>
  </p:cSld>
  <p:clrMapOvr>
    <a:masterClrMapping/>
  </p:clrMapOvr>
  <p:timing>
    <p:tnLst>
      <p:par>
        <p:cTn id="1" dur="indefinite" restart="never" nodeType="tmRoot">
          <p:childTnLst>
            <p:seq>
              <p:cTn id="2" dur="indefinite" nodeType="mainSeq">
                <p:childTnLst>
                  <p:par>
                    <p:cTn id="3" fill="hold" nodeType="clickEffect">
                      <p:stCondLst>
                        <p:cond delay="indefinite"/>
                      </p:stCondLst>
                      <p:childTnLst>
                        <p:par>
                          <p:cTn id="4" fill="hold" nodeType="withEffect">
                            <p:stCondLst>
                              <p:cond delay="0"/>
                            </p:stCondLst>
                            <p:childTnLst>
                              <p:par>
                                <p:cTn id="5" presetID="2" presetClass="entr" presetSubtype="8" fill="hold" nodeType="clickEffect">
                                  <p:stCondLst>
                                    <p:cond delay="0"/>
                                  </p:stCondLst>
                                  <p:childTnLst>
                                    <p:set>
                                      <p:cBhvr>
                                        <p:cTn id="6" dur="1" fill="hold">
                                          <p:stCondLst>
                                            <p:cond delay="0"/>
                                          </p:stCondLst>
                                        </p:cTn>
                                        <p:tgtEl>
                                          <p:spTgt spid="207">
                                            <p:txEl>
                                              <p:charRg st="0" end="169"/>
                                            </p:txEl>
                                          </p:spTgt>
                                        </p:tgtEl>
                                        <p:attrNameLst>
                                          <p:attrName>style.visibility</p:attrName>
                                        </p:attrNameLst>
                                      </p:cBhvr>
                                      <p:to>
                                        <p:strVal val="visible"/>
                                      </p:to>
                                    </p:set>
                                    <p:anim calcmode="lin" valueType="num">
                                      <p:cBhvr additive="repl">
                                        <p:cTn id="7" dur="500" fill="hold"/>
                                        <p:tgtEl>
                                          <p:spTgt spid="207">
                                            <p:txEl>
                                              <p:charRg st="0" end="169"/>
                                            </p:txEl>
                                          </p:spTgt>
                                        </p:tgtEl>
                                        <p:attrNameLst>
                                          <p:attrName>ppt_x</p:attrName>
                                        </p:attrNameLst>
                                      </p:cBhvr>
                                      <p:tavLst>
                                        <p:tav tm="0">
                                          <p:val>
                                            <p:strVal val="0-#ppt_w/2"/>
                                          </p:val>
                                        </p:tav>
                                        <p:tav tm="100000">
                                          <p:val>
                                            <p:strVal val="#ppt_x"/>
                                          </p:val>
                                        </p:tav>
                                      </p:tavLst>
                                    </p:anim>
                                    <p:anim calcmode="lin" valueType="num">
                                      <p:cBhvr additive="repl">
                                        <p:cTn id="8" dur="500" fill="hold"/>
                                        <p:tgtEl>
                                          <p:spTgt spid="207">
                                            <p:txEl>
                                              <p:charRg st="0" end="169"/>
                                            </p:txEl>
                                          </p:spTgt>
                                        </p:tgtEl>
                                        <p:attrNameLst>
                                          <p:attrName>ppt_y</p:attrName>
                                        </p:attrNameLst>
                                      </p:cBhvr>
                                      <p:tavLst>
                                        <p:tav tm="0">
                                          <p:val>
                                            <p:strVal val="#ppt_y"/>
                                          </p:val>
                                        </p:tav>
                                        <p:tav tm="100000">
                                          <p:val>
                                            <p:strVal val="#ppt_y"/>
                                          </p:val>
                                        </p:tav>
                                      </p:tavLst>
                                    </p:anim>
                                  </p:childTnLst>
                                </p:cTn>
                              </p:par>
                            </p:childTnLst>
                          </p:cTn>
                        </p:par>
                      </p:childTnLst>
                    </p:cTn>
                  </p:par>
                  <p:par>
                    <p:cTn id="9" fill="hold" nodeType="clickEffect">
                      <p:stCondLst>
                        <p:cond delay="indefinite"/>
                      </p:stCondLst>
                      <p:childTnLst>
                        <p:par>
                          <p:cTn id="10" fill="hold" nodeType="withEffect">
                            <p:stCondLst>
                              <p:cond delay="0"/>
                            </p:stCondLst>
                            <p:childTnLst>
                              <p:par>
                                <p:cTn id="11" presetID="2" presetClass="entr" presetSubtype="8" fill="hold" nodeType="clickEffect">
                                  <p:stCondLst>
                                    <p:cond delay="0"/>
                                  </p:stCondLst>
                                  <p:childTnLst>
                                    <p:set>
                                      <p:cBhvr>
                                        <p:cTn id="12" dur="1" fill="hold">
                                          <p:stCondLst>
                                            <p:cond delay="0"/>
                                          </p:stCondLst>
                                        </p:cTn>
                                        <p:tgtEl>
                                          <p:spTgt spid="207">
                                            <p:txEl>
                                              <p:charRg st="169" end="169"/>
                                            </p:txEl>
                                          </p:spTgt>
                                        </p:tgtEl>
                                        <p:attrNameLst>
                                          <p:attrName>style.visibility</p:attrName>
                                        </p:attrNameLst>
                                      </p:cBhvr>
                                      <p:to>
                                        <p:strVal val="visible"/>
                                      </p:to>
                                    </p:set>
                                    <p:anim calcmode="lin" valueType="num">
                                      <p:cBhvr additive="repl">
                                        <p:cTn id="13" dur="500" fill="hold"/>
                                        <p:tgtEl>
                                          <p:spTgt spid="207">
                                            <p:txEl>
                                              <p:charRg st="169" end="169"/>
                                            </p:txEl>
                                          </p:spTgt>
                                        </p:tgtEl>
                                        <p:attrNameLst>
                                          <p:attrName>ppt_x</p:attrName>
                                        </p:attrNameLst>
                                      </p:cBhvr>
                                      <p:tavLst>
                                        <p:tav tm="0">
                                          <p:val>
                                            <p:strVal val="0-#ppt_w/2"/>
                                          </p:val>
                                        </p:tav>
                                        <p:tav tm="100000">
                                          <p:val>
                                            <p:strVal val="#ppt_x"/>
                                          </p:val>
                                        </p:tav>
                                      </p:tavLst>
                                    </p:anim>
                                    <p:anim calcmode="lin" valueType="num">
                                      <p:cBhvr additive="repl">
                                        <p:cTn id="14" dur="500" fill="hold"/>
                                        <p:tgtEl>
                                          <p:spTgt spid="207">
                                            <p:txEl>
                                              <p:charRg st="169" end="169"/>
                                            </p:txEl>
                                          </p:spTgt>
                                        </p:tgtEl>
                                        <p:attrNameLst>
                                          <p:attrName>ppt_y</p:attrName>
                                        </p:attrNameLst>
                                      </p:cBhvr>
                                      <p:tavLst>
                                        <p:tav tm="0">
                                          <p:val>
                                            <p:strVal val="#ppt_y"/>
                                          </p:val>
                                        </p:tav>
                                        <p:tav tm="100000">
                                          <p:val>
                                            <p:strVal val="#ppt_y"/>
                                          </p:val>
                                        </p:tav>
                                      </p:tavLst>
                                    </p:anim>
                                  </p:childTnLst>
                                </p:cTn>
                              </p:par>
                            </p:childTnLst>
                          </p:cTn>
                        </p:par>
                      </p:childTnLst>
                    </p:cTn>
                  </p:par>
                  <p:par>
                    <p:cTn id="15" fill="hold" nodeType="clickEffect">
                      <p:stCondLst>
                        <p:cond delay="indefinite"/>
                      </p:stCondLst>
                      <p:childTnLst>
                        <p:par>
                          <p:cTn id="16" fill="hold" nodeType="withEffect">
                            <p:stCondLst>
                              <p:cond delay="0"/>
                            </p:stCondLst>
                            <p:childTnLst>
                              <p:par>
                                <p:cTn id="17" presetID="2" presetClass="entr" presetSubtype="8" fill="hold" nodeType="clickEffect">
                                  <p:stCondLst>
                                    <p:cond delay="0"/>
                                  </p:stCondLst>
                                  <p:childTnLst>
                                    <p:set>
                                      <p:cBhvr>
                                        <p:cTn id="18" dur="1" fill="hold">
                                          <p:stCondLst>
                                            <p:cond delay="0"/>
                                          </p:stCondLst>
                                        </p:cTn>
                                        <p:tgtEl>
                                          <p:spTgt spid="207">
                                            <p:txEl>
                                              <p:charRg st="169" end="169"/>
                                            </p:txEl>
                                          </p:spTgt>
                                        </p:tgtEl>
                                        <p:attrNameLst>
                                          <p:attrName>style.visibility</p:attrName>
                                        </p:attrNameLst>
                                      </p:cBhvr>
                                      <p:to>
                                        <p:strVal val="visible"/>
                                      </p:to>
                                    </p:set>
                                    <p:anim calcmode="lin" valueType="num">
                                      <p:cBhvr additive="repl">
                                        <p:cTn id="19" dur="500" fill="hold"/>
                                        <p:tgtEl>
                                          <p:spTgt spid="207">
                                            <p:txEl>
                                              <p:charRg st="169" end="169"/>
                                            </p:txEl>
                                          </p:spTgt>
                                        </p:tgtEl>
                                        <p:attrNameLst>
                                          <p:attrName>ppt_x</p:attrName>
                                        </p:attrNameLst>
                                      </p:cBhvr>
                                      <p:tavLst>
                                        <p:tav tm="0">
                                          <p:val>
                                            <p:strVal val="0-#ppt_w/2"/>
                                          </p:val>
                                        </p:tav>
                                        <p:tav tm="100000">
                                          <p:val>
                                            <p:strVal val="#ppt_x"/>
                                          </p:val>
                                        </p:tav>
                                      </p:tavLst>
                                    </p:anim>
                                    <p:anim calcmode="lin" valueType="num">
                                      <p:cBhvr additive="repl">
                                        <p:cTn id="20" dur="500" fill="hold"/>
                                        <p:tgtEl>
                                          <p:spTgt spid="207">
                                            <p:txEl>
                                              <p:charRg st="169" end="169"/>
                                            </p:txEl>
                                          </p:spTgt>
                                        </p:tgtEl>
                                        <p:attrNameLst>
                                          <p:attrName>ppt_y</p:attrName>
                                        </p:attrNameLst>
                                      </p:cBhvr>
                                      <p:tavLst>
                                        <p:tav tm="0">
                                          <p:val>
                                            <p:strVal val="#ppt_y"/>
                                          </p:val>
                                        </p:tav>
                                        <p:tav tm="100000">
                                          <p:val>
                                            <p:strVal val="#ppt_y"/>
                                          </p:val>
                                        </p:tav>
                                      </p:tavLst>
                                    </p:anim>
                                  </p:childTnLst>
                                </p:cTn>
                              </p:par>
                            </p:childTnLst>
                          </p:cTn>
                        </p:par>
                      </p:childTnLst>
                    </p:cTn>
                  </p:par>
                  <p:par>
                    <p:cTn id="21" fill="hold" nodeType="clickEffect">
                      <p:stCondLst>
                        <p:cond delay="indefinite"/>
                      </p:stCondLst>
                      <p:childTnLst>
                        <p:par>
                          <p:cTn id="22" fill="hold" nodeType="withEffect">
                            <p:stCondLst>
                              <p:cond delay="0"/>
                            </p:stCondLst>
                            <p:childTnLst>
                              <p:par>
                                <p:cTn id="23" presetID="2" presetClass="entr" presetSubtype="8" fill="hold" nodeType="clickEffect">
                                  <p:stCondLst>
                                    <p:cond delay="0"/>
                                  </p:stCondLst>
                                  <p:childTnLst>
                                    <p:set>
                                      <p:cBhvr>
                                        <p:cTn id="24" dur="1" fill="hold">
                                          <p:stCondLst>
                                            <p:cond delay="0"/>
                                          </p:stCondLst>
                                        </p:cTn>
                                        <p:tgtEl>
                                          <p:spTgt spid="207">
                                            <p:txEl>
                                              <p:charRg st="169" end="169"/>
                                            </p:txEl>
                                          </p:spTgt>
                                        </p:tgtEl>
                                        <p:attrNameLst>
                                          <p:attrName>style.visibility</p:attrName>
                                        </p:attrNameLst>
                                      </p:cBhvr>
                                      <p:to>
                                        <p:strVal val="visible"/>
                                      </p:to>
                                    </p:set>
                                    <p:anim calcmode="lin" valueType="num">
                                      <p:cBhvr additive="repl">
                                        <p:cTn id="25" dur="500" fill="hold"/>
                                        <p:tgtEl>
                                          <p:spTgt spid="207">
                                            <p:txEl>
                                              <p:charRg st="169" end="169"/>
                                            </p:txEl>
                                          </p:spTgt>
                                        </p:tgtEl>
                                        <p:attrNameLst>
                                          <p:attrName>ppt_x</p:attrName>
                                        </p:attrNameLst>
                                      </p:cBhvr>
                                      <p:tavLst>
                                        <p:tav tm="0">
                                          <p:val>
                                            <p:strVal val="0-#ppt_w/2"/>
                                          </p:val>
                                        </p:tav>
                                        <p:tav tm="100000">
                                          <p:val>
                                            <p:strVal val="#ppt_x"/>
                                          </p:val>
                                        </p:tav>
                                      </p:tavLst>
                                    </p:anim>
                                    <p:anim calcmode="lin" valueType="num">
                                      <p:cBhvr additive="repl">
                                        <p:cTn id="26" dur="500" fill="hold"/>
                                        <p:tgtEl>
                                          <p:spTgt spid="207">
                                            <p:txEl>
                                              <p:charRg st="169" end="169"/>
                                            </p:txEl>
                                          </p:spTgt>
                                        </p:tgtEl>
                                        <p:attrNameLst>
                                          <p:attrName>ppt_y</p:attrName>
                                        </p:attrNameLst>
                                      </p:cBhvr>
                                      <p:tavLst>
                                        <p:tav tm="0">
                                          <p:val>
                                            <p:strVal val="#ppt_y"/>
                                          </p:val>
                                        </p:tav>
                                        <p:tav tm="100000">
                                          <p:val>
                                            <p:strVal val="#ppt_y"/>
                                          </p:val>
                                        </p:tav>
                                      </p:tavLst>
                                    </p:anim>
                                  </p:childTnLst>
                                </p:cTn>
                              </p:par>
                            </p:childTnLst>
                          </p:cTn>
                        </p:par>
                      </p:childTnLst>
                    </p:cTn>
                  </p:par>
                  <p:par>
                    <p:cTn id="27" fill="hold" nodeType="clickEffect">
                      <p:stCondLst>
                        <p:cond delay="indefinite"/>
                      </p:stCondLst>
                      <p:childTnLst>
                        <p:par>
                          <p:cTn id="28" fill="hold" nodeType="withEffect">
                            <p:stCondLst>
                              <p:cond delay="0"/>
                            </p:stCondLst>
                            <p:childTnLst>
                              <p:par>
                                <p:cTn id="29" presetID="2" presetClass="entr" presetSubtype="8" fill="hold" nodeType="clickEffect">
                                  <p:stCondLst>
                                    <p:cond delay="0"/>
                                  </p:stCondLst>
                                  <p:childTnLst>
                                    <p:set>
                                      <p:cBhvr>
                                        <p:cTn id="30" dur="1" fill="hold">
                                          <p:stCondLst>
                                            <p:cond delay="0"/>
                                          </p:stCondLst>
                                        </p:cTn>
                                        <p:tgtEl>
                                          <p:spTgt spid="207">
                                            <p:txEl>
                                              <p:charRg st="169" end="169"/>
                                            </p:txEl>
                                          </p:spTgt>
                                        </p:tgtEl>
                                        <p:attrNameLst>
                                          <p:attrName>style.visibility</p:attrName>
                                        </p:attrNameLst>
                                      </p:cBhvr>
                                      <p:to>
                                        <p:strVal val="visible"/>
                                      </p:to>
                                    </p:set>
                                    <p:anim calcmode="lin" valueType="num">
                                      <p:cBhvr additive="repl">
                                        <p:cTn id="31" dur="500" fill="hold"/>
                                        <p:tgtEl>
                                          <p:spTgt spid="207">
                                            <p:txEl>
                                              <p:charRg st="169" end="169"/>
                                            </p:txEl>
                                          </p:spTgt>
                                        </p:tgtEl>
                                        <p:attrNameLst>
                                          <p:attrName>ppt_x</p:attrName>
                                        </p:attrNameLst>
                                      </p:cBhvr>
                                      <p:tavLst>
                                        <p:tav tm="0">
                                          <p:val>
                                            <p:strVal val="0-#ppt_w/2"/>
                                          </p:val>
                                        </p:tav>
                                        <p:tav tm="100000">
                                          <p:val>
                                            <p:strVal val="#ppt_x"/>
                                          </p:val>
                                        </p:tav>
                                      </p:tavLst>
                                    </p:anim>
                                    <p:anim calcmode="lin" valueType="num">
                                      <p:cBhvr additive="repl">
                                        <p:cTn id="32" dur="500" fill="hold"/>
                                        <p:tgtEl>
                                          <p:spTgt spid="207">
                                            <p:txEl>
                                              <p:charRg st="169" end="169"/>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 name="TextShape 3"/>
          <p:cNvSpPr txBox="1"/>
          <p:nvPr/>
        </p:nvSpPr>
        <p:spPr>
          <a:xfrm>
            <a:off x="857249" y="617400"/>
            <a:ext cx="10029825" cy="1142640"/>
          </a:xfrm>
          <a:prstGeom prst="rect">
            <a:avLst/>
          </a:prstGeom>
          <a:noFill/>
          <a:ln>
            <a:noFill/>
          </a:ln>
        </p:spPr>
        <p:txBody>
          <a:bodyPr anchor="b"/>
          <a:lstStyle/>
          <a:p>
            <a:r>
              <a:rPr lang="en-US" sz="4400" spc="-1" dirty="0">
                <a:solidFill>
                  <a:srgbClr val="333399"/>
                </a:solidFill>
                <a:uFill>
                  <a:solidFill>
                    <a:srgbClr val="FFFFFF"/>
                  </a:solidFill>
                </a:uFill>
                <a:latin typeface="Times" pitchFamily="2" charset="0"/>
              </a:rPr>
              <a:t>Example Program: Temperature Converter</a:t>
            </a:r>
          </a:p>
        </p:txBody>
      </p:sp>
      <p:sp>
        <p:nvSpPr>
          <p:cNvPr id="211" name="TextShape 4"/>
          <p:cNvSpPr txBox="1"/>
          <p:nvPr/>
        </p:nvSpPr>
        <p:spPr>
          <a:xfrm>
            <a:off x="1271588" y="2017800"/>
            <a:ext cx="9207052" cy="4114440"/>
          </a:xfrm>
          <a:prstGeom prst="rect">
            <a:avLst/>
          </a:prstGeom>
          <a:noFill/>
          <a:ln>
            <a:noFill/>
          </a:ln>
        </p:spPr>
        <p:txBody>
          <a:bodyPr/>
          <a:lstStyle/>
          <a:p>
            <a:pPr marL="343080" indent="-342720"/>
            <a:r>
              <a:rPr lang="en-US" spc="-1" dirty="0">
                <a:solidFill>
                  <a:srgbClr val="000000"/>
                </a:solidFill>
                <a:uFill>
                  <a:solidFill>
                    <a:srgbClr val="FFFFFF"/>
                  </a:solidFill>
                </a:uFill>
                <a:latin typeface="Tahoma"/>
              </a:rPr>
              <a:t># Celsius to Fahrenheit Converter</a:t>
            </a:r>
          </a:p>
          <a:p>
            <a:pPr marL="343080" indent="-342720"/>
            <a:endParaRPr lang="en-US" spc="-1" dirty="0">
              <a:solidFill>
                <a:srgbClr val="000000"/>
              </a:solidFill>
              <a:uFill>
                <a:solidFill>
                  <a:srgbClr val="FFFFFF"/>
                </a:solidFill>
              </a:uFill>
              <a:latin typeface="Tahoma"/>
            </a:endParaRPr>
          </a:p>
          <a:p>
            <a:pPr marL="343080" indent="-342720"/>
            <a:r>
              <a:rPr lang="en-US" spc="-1" dirty="0">
                <a:solidFill>
                  <a:srgbClr val="000000"/>
                </a:solidFill>
                <a:uFill>
                  <a:solidFill>
                    <a:srgbClr val="FFFFFF"/>
                  </a:solidFill>
                </a:uFill>
                <a:latin typeface="Tahoma"/>
              </a:rPr>
              <a:t># Take input from the user</a:t>
            </a:r>
          </a:p>
          <a:p>
            <a:pPr marL="343080" indent="-342720"/>
            <a:r>
              <a:rPr lang="en-US" spc="-1" dirty="0" err="1">
                <a:solidFill>
                  <a:srgbClr val="000000"/>
                </a:solidFill>
                <a:uFill>
                  <a:solidFill>
                    <a:srgbClr val="FFFFFF"/>
                  </a:solidFill>
                </a:uFill>
                <a:latin typeface="Tahoma"/>
              </a:rPr>
              <a:t>celsius</a:t>
            </a:r>
            <a:r>
              <a:rPr lang="en-US" spc="-1" dirty="0">
                <a:solidFill>
                  <a:srgbClr val="000000"/>
                </a:solidFill>
                <a:uFill>
                  <a:solidFill>
                    <a:srgbClr val="FFFFFF"/>
                  </a:solidFill>
                </a:uFill>
                <a:latin typeface="Tahoma"/>
              </a:rPr>
              <a:t> = float(input("Enter temperature in Celsius: "))</a:t>
            </a:r>
          </a:p>
          <a:p>
            <a:pPr marL="343080" indent="-342720"/>
            <a:endParaRPr lang="en-US" spc="-1" dirty="0">
              <a:solidFill>
                <a:srgbClr val="000000"/>
              </a:solidFill>
              <a:uFill>
                <a:solidFill>
                  <a:srgbClr val="FFFFFF"/>
                </a:solidFill>
              </a:uFill>
              <a:latin typeface="Tahoma"/>
            </a:endParaRPr>
          </a:p>
          <a:p>
            <a:pPr marL="343080" indent="-342720"/>
            <a:r>
              <a:rPr lang="en-US" spc="-1" dirty="0">
                <a:solidFill>
                  <a:srgbClr val="000000"/>
                </a:solidFill>
                <a:uFill>
                  <a:solidFill>
                    <a:srgbClr val="FFFFFF"/>
                  </a:solidFill>
                </a:uFill>
                <a:latin typeface="Tahoma"/>
              </a:rPr>
              <a:t># Convert to Fahrenheit</a:t>
            </a:r>
          </a:p>
          <a:p>
            <a:pPr marL="343080" indent="-342720"/>
            <a:r>
              <a:rPr lang="en-US" spc="-1" dirty="0" err="1">
                <a:solidFill>
                  <a:srgbClr val="000000"/>
                </a:solidFill>
                <a:uFill>
                  <a:solidFill>
                    <a:srgbClr val="FFFFFF"/>
                  </a:solidFill>
                </a:uFill>
                <a:latin typeface="Tahoma"/>
              </a:rPr>
              <a:t>fahrenheit</a:t>
            </a:r>
            <a:r>
              <a:rPr lang="en-US" spc="-1" dirty="0">
                <a:solidFill>
                  <a:srgbClr val="000000"/>
                </a:solidFill>
                <a:uFill>
                  <a:solidFill>
                    <a:srgbClr val="FFFFFF"/>
                  </a:solidFill>
                </a:uFill>
                <a:latin typeface="Tahoma"/>
              </a:rPr>
              <a:t> = (</a:t>
            </a:r>
            <a:r>
              <a:rPr lang="en-US" spc="-1" dirty="0" err="1">
                <a:solidFill>
                  <a:srgbClr val="000000"/>
                </a:solidFill>
                <a:uFill>
                  <a:solidFill>
                    <a:srgbClr val="FFFFFF"/>
                  </a:solidFill>
                </a:uFill>
                <a:latin typeface="Tahoma"/>
              </a:rPr>
              <a:t>celsius</a:t>
            </a:r>
            <a:r>
              <a:rPr lang="en-US" spc="-1" dirty="0">
                <a:solidFill>
                  <a:srgbClr val="000000"/>
                </a:solidFill>
                <a:uFill>
                  <a:solidFill>
                    <a:srgbClr val="FFFFFF"/>
                  </a:solidFill>
                </a:uFill>
                <a:latin typeface="Tahoma"/>
              </a:rPr>
              <a:t> * 9/5) + 32</a:t>
            </a:r>
          </a:p>
          <a:p>
            <a:pPr marL="343080" indent="-342720"/>
            <a:endParaRPr lang="en-US" spc="-1" dirty="0">
              <a:solidFill>
                <a:srgbClr val="000000"/>
              </a:solidFill>
              <a:uFill>
                <a:solidFill>
                  <a:srgbClr val="FFFFFF"/>
                </a:solidFill>
              </a:uFill>
              <a:latin typeface="Tahoma"/>
            </a:endParaRPr>
          </a:p>
          <a:p>
            <a:pPr marL="343080" indent="-342720"/>
            <a:r>
              <a:rPr lang="en-US" spc="-1" dirty="0">
                <a:solidFill>
                  <a:srgbClr val="000000"/>
                </a:solidFill>
                <a:uFill>
                  <a:solidFill>
                    <a:srgbClr val="FFFFFF"/>
                  </a:solidFill>
                </a:uFill>
                <a:latin typeface="Tahoma"/>
              </a:rPr>
              <a:t># Display the result</a:t>
            </a:r>
          </a:p>
          <a:p>
            <a:pPr marL="343080" indent="-342720"/>
            <a:r>
              <a:rPr lang="en-US" spc="-1" dirty="0">
                <a:solidFill>
                  <a:srgbClr val="000000"/>
                </a:solidFill>
                <a:uFill>
                  <a:solidFill>
                    <a:srgbClr val="FFFFFF"/>
                  </a:solidFill>
                </a:uFill>
                <a:latin typeface="Tahoma"/>
              </a:rPr>
              <a:t>print(f"{</a:t>
            </a:r>
            <a:r>
              <a:rPr lang="en-US" spc="-1" dirty="0" err="1">
                <a:solidFill>
                  <a:srgbClr val="000000"/>
                </a:solidFill>
                <a:uFill>
                  <a:solidFill>
                    <a:srgbClr val="FFFFFF"/>
                  </a:solidFill>
                </a:uFill>
                <a:latin typeface="Tahoma"/>
              </a:rPr>
              <a:t>celsius</a:t>
            </a:r>
            <a:r>
              <a:rPr lang="en-US" spc="-1" dirty="0">
                <a:solidFill>
                  <a:srgbClr val="000000"/>
                </a:solidFill>
                <a:uFill>
                  <a:solidFill>
                    <a:srgbClr val="FFFFFF"/>
                  </a:solidFill>
                </a:uFill>
                <a:latin typeface="Tahoma"/>
              </a:rPr>
              <a:t>}°C is equal to {</a:t>
            </a:r>
            <a:r>
              <a:rPr lang="en-US" spc="-1" dirty="0" err="1">
                <a:solidFill>
                  <a:srgbClr val="000000"/>
                </a:solidFill>
                <a:uFill>
                  <a:solidFill>
                    <a:srgbClr val="FFFFFF"/>
                  </a:solidFill>
                </a:uFill>
                <a:latin typeface="Tahoma"/>
              </a:rPr>
              <a:t>fahrenheit</a:t>
            </a:r>
            <a:r>
              <a:rPr lang="en-US" spc="-1" dirty="0">
                <a:solidFill>
                  <a:srgbClr val="000000"/>
                </a:solidFill>
                <a:uFill>
                  <a:solidFill>
                    <a:srgbClr val="FFFFFF"/>
                  </a:solidFill>
                </a:uFill>
                <a:latin typeface="Tahoma"/>
              </a:rPr>
              <a:t>}°F")</a:t>
            </a:r>
            <a:endParaRPr lang="en-US" sz="3200" spc="-1" dirty="0">
              <a:solidFill>
                <a:srgbClr val="000000"/>
              </a:solidFill>
              <a:uFill>
                <a:solidFill>
                  <a:srgbClr val="FFFFFF"/>
                </a:solidFill>
              </a:uFill>
              <a:latin typeface="Tahoma"/>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 name="TextShape 3"/>
          <p:cNvSpPr txBox="1"/>
          <p:nvPr/>
        </p:nvSpPr>
        <p:spPr>
          <a:xfrm>
            <a:off x="1071563" y="617400"/>
            <a:ext cx="9629775" cy="1142640"/>
          </a:xfrm>
          <a:prstGeom prst="rect">
            <a:avLst/>
          </a:prstGeom>
          <a:noFill/>
          <a:ln>
            <a:noFill/>
          </a:ln>
        </p:spPr>
        <p:txBody>
          <a:bodyPr anchor="b"/>
          <a:lstStyle/>
          <a:p>
            <a:r>
              <a:rPr lang="en-US" sz="4000" spc="-1" dirty="0">
                <a:solidFill>
                  <a:srgbClr val="333399"/>
                </a:solidFill>
                <a:uFill>
                  <a:solidFill>
                    <a:srgbClr val="FFFFFF"/>
                  </a:solidFill>
                </a:uFill>
                <a:latin typeface="Times" pitchFamily="2" charset="0"/>
              </a:rPr>
              <a:t>Example Program: Temperature Converter</a:t>
            </a:r>
          </a:p>
          <a:p>
            <a:pPr>
              <a:lnSpc>
                <a:spcPct val="100000"/>
              </a:lnSpc>
            </a:pPr>
            <a:endParaRPr lang="en-US" sz="2400" spc="-1" dirty="0">
              <a:solidFill>
                <a:srgbClr val="000000"/>
              </a:solidFill>
              <a:uFill>
                <a:solidFill>
                  <a:srgbClr val="FFFFFF"/>
                </a:solidFill>
              </a:uFill>
              <a:latin typeface="Tahoma"/>
            </a:endParaRPr>
          </a:p>
        </p:txBody>
      </p:sp>
      <p:sp>
        <p:nvSpPr>
          <p:cNvPr id="215" name="TextShape 4"/>
          <p:cNvSpPr txBox="1"/>
          <p:nvPr/>
        </p:nvSpPr>
        <p:spPr>
          <a:xfrm>
            <a:off x="1082723" y="2017800"/>
            <a:ext cx="9395917" cy="4114440"/>
          </a:xfrm>
          <a:prstGeom prst="rect">
            <a:avLst/>
          </a:prstGeom>
          <a:noFill/>
          <a:ln>
            <a:noFill/>
          </a:ln>
        </p:spPr>
        <p:txBody>
          <a:bodyPr/>
          <a:lstStyle/>
          <a:p>
            <a:pPr marL="343080" indent="-342720">
              <a:lnSpc>
                <a:spcPct val="90000"/>
              </a:lnSpc>
              <a:buClr>
                <a:srgbClr val="3333CC"/>
              </a:buClr>
              <a:buSzPct val="60000"/>
              <a:buFont typeface="Wingdings" charset="2"/>
              <a:buChar char=""/>
            </a:pPr>
            <a:r>
              <a:rPr lang="en-US" sz="3200" spc="-1" dirty="0">
                <a:solidFill>
                  <a:srgbClr val="000000"/>
                </a:solidFill>
                <a:uFill>
                  <a:solidFill>
                    <a:srgbClr val="FFFFFF"/>
                  </a:solidFill>
                </a:uFill>
                <a:latin typeface="Tahoma"/>
              </a:rPr>
              <a:t>Once we write a program, we should test it!</a:t>
            </a:r>
          </a:p>
          <a:p>
            <a:pPr marL="343080" indent="-342720">
              <a:lnSpc>
                <a:spcPct val="90000"/>
              </a:lnSpc>
            </a:pPr>
            <a:endParaRPr lang="en-GB" dirty="0"/>
          </a:p>
          <a:p>
            <a:pPr marL="343080" indent="-342720">
              <a:lnSpc>
                <a:spcPct val="90000"/>
              </a:lnSpc>
            </a:pPr>
            <a:r>
              <a:rPr lang="en-GB" dirty="0"/>
              <a:t>Enter temperature in Celsius: 34.5 </a:t>
            </a:r>
          </a:p>
          <a:p>
            <a:pPr marL="343080" indent="-342720">
              <a:lnSpc>
                <a:spcPct val="90000"/>
              </a:lnSpc>
            </a:pPr>
            <a:r>
              <a:rPr lang="en-GB" dirty="0"/>
              <a:t>34.5°C is equal to 94.1°F</a:t>
            </a:r>
            <a:endParaRPr lang="en-US" sz="3200" spc="-1" dirty="0">
              <a:solidFill>
                <a:srgbClr val="000000"/>
              </a:solidFill>
              <a:uFill>
                <a:solidFill>
                  <a:srgbClr val="FFFFFF"/>
                </a:solidFill>
              </a:uFill>
              <a:latin typeface="Tahoma"/>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B4DF6A-9861-99F7-3B06-514F0D702505}"/>
              </a:ext>
            </a:extLst>
          </p:cNvPr>
          <p:cNvSpPr>
            <a:spLocks noGrp="1"/>
          </p:cNvSpPr>
          <p:nvPr>
            <p:ph type="title"/>
          </p:nvPr>
        </p:nvSpPr>
        <p:spPr>
          <a:xfrm>
            <a:off x="748363" y="360948"/>
            <a:ext cx="10890929" cy="1097280"/>
          </a:xfrm>
        </p:spPr>
        <p:txBody>
          <a:bodyPr>
            <a:normAutofit fontScale="90000"/>
          </a:bodyPr>
          <a:lstStyle/>
          <a:p>
            <a:r>
              <a:rPr lang="en-US" altLang="en-US" sz="4400" b="0" spc="-1" dirty="0">
                <a:solidFill>
                  <a:srgbClr val="333399"/>
                </a:solidFill>
                <a:uFill>
                  <a:solidFill>
                    <a:srgbClr val="FFFFFF"/>
                  </a:solidFill>
                </a:uFill>
                <a:latin typeface="Times" pitchFamily="2" charset="0"/>
                <a:ea typeface="+mn-ea"/>
                <a:cs typeface="+mn-cs"/>
              </a:rPr>
              <a:t>What is Python?</a:t>
            </a:r>
            <a:br>
              <a:rPr lang="en-US" sz="4000" dirty="0">
                <a:latin typeface="Times" pitchFamily="2" charset="0"/>
              </a:rPr>
            </a:br>
            <a:endParaRPr lang="en-US" dirty="0">
              <a:latin typeface="Times" pitchFamily="2" charset="0"/>
            </a:endParaRPr>
          </a:p>
        </p:txBody>
      </p:sp>
      <p:sp>
        <p:nvSpPr>
          <p:cNvPr id="3" name="Content Placeholder 2">
            <a:extLst>
              <a:ext uri="{FF2B5EF4-FFF2-40B4-BE49-F238E27FC236}">
                <a16:creationId xmlns:a16="http://schemas.microsoft.com/office/drawing/2014/main" id="{3D9F8AC2-B02B-CF27-B8BE-5C1B3DBB10BA}"/>
              </a:ext>
            </a:extLst>
          </p:cNvPr>
          <p:cNvSpPr>
            <a:spLocks noGrp="1"/>
          </p:cNvSpPr>
          <p:nvPr>
            <p:ph idx="1"/>
          </p:nvPr>
        </p:nvSpPr>
        <p:spPr>
          <a:xfrm>
            <a:off x="650536" y="1458228"/>
            <a:ext cx="10890928" cy="3566160"/>
          </a:xfrm>
        </p:spPr>
        <p:txBody>
          <a:bodyPr/>
          <a:lstStyle/>
          <a:p>
            <a:pPr marL="365760" lvl="1" indent="-256032" algn="l" rtl="0">
              <a:lnSpc>
                <a:spcPct val="150000"/>
              </a:lnSpc>
              <a:buClr>
                <a:schemeClr val="accent3">
                  <a:lumMod val="75000"/>
                </a:schemeClr>
              </a:buClr>
              <a:buFont typeface="Georgia"/>
              <a:buChar char="•"/>
              <a:defRPr/>
            </a:pPr>
            <a:r>
              <a:rPr lang="en-GB" altLang="en-US" sz="3200" dirty="0">
                <a:latin typeface="Times" pitchFamily="2" charset="0"/>
                <a:cs typeface="Courier New" panose="02070309020205020404" pitchFamily="49" charset="0"/>
              </a:rPr>
              <a:t>Python is a general-purpose programming language</a:t>
            </a:r>
          </a:p>
          <a:p>
            <a:pPr marL="365760" lvl="1" indent="-256032" algn="l" rtl="0">
              <a:lnSpc>
                <a:spcPct val="150000"/>
              </a:lnSpc>
              <a:buClr>
                <a:schemeClr val="accent3">
                  <a:lumMod val="75000"/>
                </a:schemeClr>
              </a:buClr>
              <a:buFont typeface="Georgia"/>
              <a:buChar char="•"/>
              <a:defRPr/>
            </a:pPr>
            <a:r>
              <a:rPr lang="en-GB" altLang="en-US" sz="3200" dirty="0">
                <a:latin typeface="Times" pitchFamily="2" charset="0"/>
                <a:cs typeface="Courier New" panose="02070309020205020404" pitchFamily="49" charset="0"/>
              </a:rPr>
              <a:t>It was released in 1991</a:t>
            </a:r>
          </a:p>
          <a:p>
            <a:pPr marL="365760" lvl="1" indent="-256032" algn="l" rtl="0">
              <a:lnSpc>
                <a:spcPct val="150000"/>
              </a:lnSpc>
              <a:buClr>
                <a:schemeClr val="accent3">
                  <a:lumMod val="75000"/>
                </a:schemeClr>
              </a:buClr>
              <a:buFont typeface="Georgia"/>
              <a:buChar char="•"/>
              <a:defRPr/>
            </a:pPr>
            <a:r>
              <a:rPr lang="en-GB" altLang="en-US" sz="3200" dirty="0">
                <a:latin typeface="Times" pitchFamily="2" charset="0"/>
                <a:cs typeface="Courier New" panose="02070309020205020404" pitchFamily="49" charset="0"/>
              </a:rPr>
              <a:t>It supports multiple programming paradigms such as object-oriented</a:t>
            </a:r>
            <a:endParaRPr lang="en-US" altLang="en-US" sz="3200" dirty="0">
              <a:latin typeface="Times" pitchFamily="2" charset="0"/>
              <a:cs typeface="Courier New" panose="02070309020205020404" pitchFamily="49" charset="0"/>
            </a:endParaRPr>
          </a:p>
          <a:p>
            <a:endParaRPr lang="en-US" b="1" dirty="0">
              <a:latin typeface="Times" pitchFamily="2" charset="0"/>
            </a:endParaRPr>
          </a:p>
        </p:txBody>
      </p:sp>
    </p:spTree>
    <p:extLst>
      <p:ext uri="{BB962C8B-B14F-4D97-AF65-F5344CB8AC3E}">
        <p14:creationId xmlns:p14="http://schemas.microsoft.com/office/powerpoint/2010/main" val="26592199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950009-A727-E943-2D18-5FDF216F1691}"/>
              </a:ext>
            </a:extLst>
          </p:cNvPr>
          <p:cNvSpPr>
            <a:spLocks noGrp="1"/>
          </p:cNvSpPr>
          <p:nvPr>
            <p:ph type="title"/>
          </p:nvPr>
        </p:nvSpPr>
        <p:spPr>
          <a:xfrm>
            <a:off x="633676" y="667975"/>
            <a:ext cx="10890929" cy="1387934"/>
          </a:xfrm>
        </p:spPr>
        <p:txBody>
          <a:bodyPr anchor="b">
            <a:normAutofit/>
          </a:bodyPr>
          <a:lstStyle/>
          <a:p>
            <a:r>
              <a:rPr lang="en-US" altLang="en-US" sz="4400" b="0" spc="-1" dirty="0">
                <a:solidFill>
                  <a:srgbClr val="333399"/>
                </a:solidFill>
                <a:uFill>
                  <a:solidFill>
                    <a:srgbClr val="FFFFFF"/>
                  </a:solidFill>
                </a:uFill>
                <a:latin typeface="Times" pitchFamily="2" charset="0"/>
                <a:ea typeface="+mn-ea"/>
                <a:cs typeface="+mn-cs"/>
              </a:rPr>
              <a:t>Why Python?</a:t>
            </a:r>
            <a:endParaRPr lang="en-US" sz="4400" b="0" spc="-1" dirty="0">
              <a:solidFill>
                <a:srgbClr val="333399"/>
              </a:solidFill>
              <a:uFill>
                <a:solidFill>
                  <a:srgbClr val="FFFFFF"/>
                </a:solidFill>
              </a:uFill>
              <a:latin typeface="Times" pitchFamily="2" charset="0"/>
              <a:ea typeface="+mn-ea"/>
              <a:cs typeface="+mn-cs"/>
            </a:endParaRP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46F04255-24B9-C5DD-AF7A-C6A550DC2276}"/>
              </a:ext>
            </a:extLst>
          </p:cNvPr>
          <p:cNvGraphicFramePr>
            <a:graphicFrameLocks noGrp="1"/>
          </p:cNvGraphicFramePr>
          <p:nvPr>
            <p:ph idx="1"/>
            <p:extLst>
              <p:ext uri="{D42A27DB-BD31-4B8C-83A1-F6EECF244321}">
                <p14:modId xmlns:p14="http://schemas.microsoft.com/office/powerpoint/2010/main" val="1604746703"/>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9456479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B54D1-D1A3-5D07-1B82-72EA20673FCA}"/>
              </a:ext>
            </a:extLst>
          </p:cNvPr>
          <p:cNvSpPr>
            <a:spLocks noGrp="1"/>
          </p:cNvSpPr>
          <p:nvPr>
            <p:ph type="title"/>
          </p:nvPr>
        </p:nvSpPr>
        <p:spPr>
          <a:xfrm>
            <a:off x="650535" y="109728"/>
            <a:ext cx="10890929" cy="1097280"/>
          </a:xfrm>
        </p:spPr>
        <p:txBody>
          <a:bodyPr/>
          <a:lstStyle/>
          <a:p>
            <a:r>
              <a:rPr lang="en-US" altLang="en-US" sz="4400" spc="-1" dirty="0">
                <a:solidFill>
                  <a:srgbClr val="333399"/>
                </a:solidFill>
                <a:uFill>
                  <a:solidFill>
                    <a:srgbClr val="FFFFFF"/>
                  </a:solidFill>
                </a:uFill>
                <a:latin typeface="Times" pitchFamily="2" charset="0"/>
                <a:ea typeface="+mn-ea"/>
                <a:cs typeface="+mn-cs"/>
              </a:rPr>
              <a:t>Python</a:t>
            </a:r>
            <a:r>
              <a:rPr lang="en-US" altLang="en-US" sz="4000" dirty="0">
                <a:latin typeface="Times" pitchFamily="2" charset="0"/>
              </a:rPr>
              <a:t> </a:t>
            </a:r>
            <a:r>
              <a:rPr lang="en-US" altLang="en-US" sz="4400" spc="-1" dirty="0">
                <a:solidFill>
                  <a:srgbClr val="333399"/>
                </a:solidFill>
                <a:uFill>
                  <a:solidFill>
                    <a:srgbClr val="FFFFFF"/>
                  </a:solidFill>
                </a:uFill>
                <a:latin typeface="Times" pitchFamily="2" charset="0"/>
                <a:ea typeface="+mn-ea"/>
                <a:cs typeface="+mn-cs"/>
              </a:rPr>
              <a:t>Components</a:t>
            </a:r>
            <a:endParaRPr lang="en-US" sz="4400" spc="-1" dirty="0">
              <a:solidFill>
                <a:srgbClr val="333399"/>
              </a:solidFill>
              <a:uFill>
                <a:solidFill>
                  <a:srgbClr val="FFFFFF"/>
                </a:solidFill>
              </a:uFill>
              <a:latin typeface="Times" pitchFamily="2" charset="0"/>
              <a:ea typeface="+mn-ea"/>
              <a:cs typeface="+mn-cs"/>
            </a:endParaRPr>
          </a:p>
        </p:txBody>
      </p:sp>
      <p:sp>
        <p:nvSpPr>
          <p:cNvPr id="3" name="Content Placeholder 2">
            <a:extLst>
              <a:ext uri="{FF2B5EF4-FFF2-40B4-BE49-F238E27FC236}">
                <a16:creationId xmlns:a16="http://schemas.microsoft.com/office/drawing/2014/main" id="{0622DEEE-2AD2-4C85-8684-83713DB9C604}"/>
              </a:ext>
            </a:extLst>
          </p:cNvPr>
          <p:cNvSpPr>
            <a:spLocks noGrp="1"/>
          </p:cNvSpPr>
          <p:nvPr>
            <p:ph idx="1"/>
          </p:nvPr>
        </p:nvSpPr>
        <p:spPr>
          <a:xfrm>
            <a:off x="650535" y="1433322"/>
            <a:ext cx="10890928" cy="3566160"/>
          </a:xfrm>
        </p:spPr>
        <p:txBody>
          <a:bodyPr>
            <a:normAutofit/>
          </a:bodyPr>
          <a:lstStyle/>
          <a:p>
            <a:pPr marL="566928" lvl="1" indent="-457200" algn="l" rtl="0">
              <a:lnSpc>
                <a:spcPct val="150000"/>
              </a:lnSpc>
              <a:buClr>
                <a:schemeClr val="accent3">
                  <a:lumMod val="75000"/>
                </a:schemeClr>
              </a:buClr>
              <a:buFont typeface="+mj-lt"/>
              <a:buAutoNum type="arabicParenR"/>
              <a:defRPr/>
            </a:pPr>
            <a:r>
              <a:rPr lang="en-GB" altLang="en-US" sz="2500">
                <a:latin typeface="Times" pitchFamily="2" charset="0"/>
                <a:cs typeface="Courier New" panose="02070309020205020404" pitchFamily="49" charset="0"/>
              </a:rPr>
              <a:t>Functions</a:t>
            </a:r>
          </a:p>
          <a:p>
            <a:pPr marL="566928" lvl="1" indent="-457200" algn="l" rtl="0">
              <a:lnSpc>
                <a:spcPct val="150000"/>
              </a:lnSpc>
              <a:buClr>
                <a:schemeClr val="accent3">
                  <a:lumMod val="75000"/>
                </a:schemeClr>
              </a:buClr>
              <a:buFont typeface="+mj-lt"/>
              <a:buAutoNum type="arabicParenR"/>
              <a:defRPr/>
            </a:pPr>
            <a:r>
              <a:rPr lang="en-GB" altLang="en-US" sz="2500">
                <a:latin typeface="Times" pitchFamily="2" charset="0"/>
                <a:cs typeface="Courier New" panose="02070309020205020404" pitchFamily="49" charset="0"/>
              </a:rPr>
              <a:t>Classes</a:t>
            </a:r>
          </a:p>
          <a:p>
            <a:pPr marL="566928" lvl="1" indent="-457200" algn="l" rtl="0">
              <a:lnSpc>
                <a:spcPct val="150000"/>
              </a:lnSpc>
              <a:buClr>
                <a:schemeClr val="accent3">
                  <a:lumMod val="75000"/>
                </a:schemeClr>
              </a:buClr>
              <a:buFont typeface="+mj-lt"/>
              <a:buAutoNum type="arabicParenR"/>
              <a:defRPr/>
            </a:pPr>
            <a:r>
              <a:rPr lang="en-GB" altLang="en-US" sz="2500">
                <a:latin typeface="Times" pitchFamily="2" charset="0"/>
                <a:cs typeface="Courier New" panose="02070309020205020404" pitchFamily="49" charset="0"/>
              </a:rPr>
              <a:t>Modules</a:t>
            </a:r>
          </a:p>
          <a:p>
            <a:pPr marL="534988" lvl="1" indent="0" algn="l" rtl="0">
              <a:lnSpc>
                <a:spcPct val="150000"/>
              </a:lnSpc>
              <a:buClr>
                <a:schemeClr val="accent3">
                  <a:lumMod val="75000"/>
                </a:schemeClr>
              </a:buClr>
              <a:buNone/>
              <a:defRPr/>
            </a:pPr>
            <a:r>
              <a:rPr lang="en-GB" altLang="en-US" sz="2000" i="1">
                <a:latin typeface="Times" pitchFamily="2" charset="0"/>
                <a:cs typeface="Courier New" panose="02070309020205020404" pitchFamily="49" charset="0"/>
              </a:rPr>
              <a:t>collection of functions &amp; classes</a:t>
            </a:r>
          </a:p>
          <a:p>
            <a:pPr marL="566928" lvl="1" indent="-457200" algn="l" rtl="0">
              <a:lnSpc>
                <a:spcPct val="150000"/>
              </a:lnSpc>
              <a:buClr>
                <a:schemeClr val="accent3">
                  <a:lumMod val="75000"/>
                </a:schemeClr>
              </a:buClr>
              <a:buFont typeface="+mj-lt"/>
              <a:buAutoNum type="arabicParenR" startAt="4"/>
              <a:defRPr/>
            </a:pPr>
            <a:r>
              <a:rPr lang="en-GB" altLang="en-US" sz="2500">
                <a:latin typeface="Times" pitchFamily="2" charset="0"/>
                <a:cs typeface="Courier New" panose="02070309020205020404" pitchFamily="49" charset="0"/>
              </a:rPr>
              <a:t>Packages</a:t>
            </a:r>
          </a:p>
          <a:p>
            <a:pPr marL="534988" lvl="1" indent="0" algn="l" rtl="0">
              <a:lnSpc>
                <a:spcPct val="150000"/>
              </a:lnSpc>
              <a:buClr>
                <a:schemeClr val="accent3">
                  <a:lumMod val="75000"/>
                </a:schemeClr>
              </a:buClr>
              <a:buNone/>
              <a:defRPr/>
            </a:pPr>
            <a:r>
              <a:rPr lang="en-GB" altLang="en-US" sz="2000" i="1">
                <a:latin typeface="Times" pitchFamily="2" charset="0"/>
                <a:cs typeface="Courier New" panose="02070309020205020404" pitchFamily="49" charset="0"/>
              </a:rPr>
              <a:t>collection of modules</a:t>
            </a:r>
            <a:endParaRPr lang="en-US" dirty="0">
              <a:latin typeface="Times" pitchFamily="2" charset="0"/>
            </a:endParaRPr>
          </a:p>
        </p:txBody>
      </p:sp>
      <p:pic>
        <p:nvPicPr>
          <p:cNvPr id="4" name="Picture 3">
            <a:extLst>
              <a:ext uri="{FF2B5EF4-FFF2-40B4-BE49-F238E27FC236}">
                <a16:creationId xmlns:a16="http://schemas.microsoft.com/office/drawing/2014/main" id="{EA7D1E45-9E0E-52C8-18F9-9136EABC4A0C}"/>
              </a:ext>
            </a:extLst>
          </p:cNvPr>
          <p:cNvPicPr>
            <a:picLocks noChangeAspect="1"/>
          </p:cNvPicPr>
          <p:nvPr/>
        </p:nvPicPr>
        <p:blipFill rotWithShape="1">
          <a:blip r:embed="rId2">
            <a:duotone>
              <a:schemeClr val="accent1">
                <a:shade val="45000"/>
                <a:satMod val="135000"/>
              </a:schemeClr>
              <a:prstClr val="white"/>
            </a:duotone>
            <a:extLst>
              <a:ext uri="{28A0092B-C50C-407E-A947-70E740481C1C}">
                <a14:useLocalDpi xmlns:a14="http://schemas.microsoft.com/office/drawing/2010/main" val="0"/>
              </a:ext>
            </a:extLst>
          </a:blip>
          <a:srcRect l="20540" t="22749" r="11803" b="9440"/>
          <a:stretch/>
        </p:blipFill>
        <p:spPr>
          <a:xfrm>
            <a:off x="6095999" y="2633472"/>
            <a:ext cx="5182376" cy="3899770"/>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2929727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716D92-E25F-D6E4-AB0E-2D11658F2FEF}"/>
              </a:ext>
            </a:extLst>
          </p:cNvPr>
          <p:cNvSpPr>
            <a:spLocks noGrp="1"/>
          </p:cNvSpPr>
          <p:nvPr>
            <p:ph type="title"/>
          </p:nvPr>
        </p:nvSpPr>
        <p:spPr>
          <a:xfrm>
            <a:off x="840263" y="457350"/>
            <a:ext cx="10360152" cy="1139911"/>
          </a:xfrm>
        </p:spPr>
        <p:txBody>
          <a:bodyPr vert="horz" lIns="91440" tIns="45720" rIns="91440" bIns="45720" rtlCol="0">
            <a:normAutofit fontScale="90000"/>
          </a:bodyPr>
          <a:lstStyle/>
          <a:p>
            <a:pPr>
              <a:lnSpc>
                <a:spcPct val="90000"/>
              </a:lnSpc>
            </a:pPr>
            <a:r>
              <a:rPr lang="en-US" sz="4900" spc="-1" dirty="0">
                <a:solidFill>
                  <a:srgbClr val="333399"/>
                </a:solidFill>
                <a:uFill>
                  <a:solidFill>
                    <a:srgbClr val="FFFFFF"/>
                  </a:solidFill>
                </a:uFill>
                <a:latin typeface="Times" pitchFamily="2" charset="0"/>
                <a:ea typeface="+mn-ea"/>
                <a:cs typeface="+mn-cs"/>
              </a:rPr>
              <a:t>Mathematical</a:t>
            </a:r>
            <a:r>
              <a:rPr lang="en-US" sz="3600" dirty="0">
                <a:latin typeface="Times" pitchFamily="2" charset="0"/>
              </a:rPr>
              <a:t> </a:t>
            </a:r>
            <a:r>
              <a:rPr lang="en-US" sz="4900" spc="-1" dirty="0">
                <a:solidFill>
                  <a:srgbClr val="333399"/>
                </a:solidFill>
                <a:uFill>
                  <a:solidFill>
                    <a:srgbClr val="FFFFFF"/>
                  </a:solidFill>
                </a:uFill>
                <a:latin typeface="Times" pitchFamily="2" charset="0"/>
                <a:ea typeface="+mn-ea"/>
                <a:cs typeface="+mn-cs"/>
              </a:rPr>
              <a:t>Operations</a:t>
            </a:r>
            <a:br>
              <a:rPr lang="en-US" sz="2500" dirty="0"/>
            </a:br>
            <a:br>
              <a:rPr lang="en-US" sz="2500" dirty="0">
                <a:highlight>
                  <a:srgbClr val="FFFF00"/>
                </a:highlight>
              </a:rPr>
            </a:br>
            <a:endParaRPr lang="en-US" sz="2500" dirty="0"/>
          </a:p>
        </p:txBody>
      </p:sp>
      <p:cxnSp>
        <p:nvCxnSpPr>
          <p:cNvPr id="27" name="Straight Connector 26">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13A03F89-0F91-59C3-F971-6982771C8C9D}"/>
              </a:ext>
            </a:extLst>
          </p:cNvPr>
          <p:cNvGraphicFramePr>
            <a:graphicFrameLocks noGrp="1"/>
          </p:cNvGraphicFramePr>
          <p:nvPr>
            <p:ph idx="1"/>
            <p:extLst>
              <p:ext uri="{D42A27DB-BD31-4B8C-83A1-F6EECF244321}">
                <p14:modId xmlns:p14="http://schemas.microsoft.com/office/powerpoint/2010/main" val="1856828483"/>
              </p:ext>
            </p:extLst>
          </p:nvPr>
        </p:nvGraphicFramePr>
        <p:xfrm>
          <a:off x="1673737" y="1421698"/>
          <a:ext cx="7987276" cy="3690360"/>
        </p:xfrm>
        <a:graphic>
          <a:graphicData uri="http://schemas.openxmlformats.org/drawingml/2006/table">
            <a:tbl>
              <a:tblPr firstRow="1" bandRow="1">
                <a:tableStyleId>{5C22544A-7EE6-4342-B048-85BDC9FD1C3A}</a:tableStyleId>
              </a:tblPr>
              <a:tblGrid>
                <a:gridCol w="1781283">
                  <a:extLst>
                    <a:ext uri="{9D8B030D-6E8A-4147-A177-3AD203B41FA5}">
                      <a16:colId xmlns:a16="http://schemas.microsoft.com/office/drawing/2014/main" val="3485969216"/>
                    </a:ext>
                  </a:extLst>
                </a:gridCol>
                <a:gridCol w="3076809">
                  <a:extLst>
                    <a:ext uri="{9D8B030D-6E8A-4147-A177-3AD203B41FA5}">
                      <a16:colId xmlns:a16="http://schemas.microsoft.com/office/drawing/2014/main" val="1504653660"/>
                    </a:ext>
                  </a:extLst>
                </a:gridCol>
                <a:gridCol w="1928364">
                  <a:extLst>
                    <a:ext uri="{9D8B030D-6E8A-4147-A177-3AD203B41FA5}">
                      <a16:colId xmlns:a16="http://schemas.microsoft.com/office/drawing/2014/main" val="169666132"/>
                    </a:ext>
                  </a:extLst>
                </a:gridCol>
                <a:gridCol w="1200820">
                  <a:extLst>
                    <a:ext uri="{9D8B030D-6E8A-4147-A177-3AD203B41FA5}">
                      <a16:colId xmlns:a16="http://schemas.microsoft.com/office/drawing/2014/main" val="4097373669"/>
                    </a:ext>
                  </a:extLst>
                </a:gridCol>
              </a:tblGrid>
              <a:tr h="328374">
                <a:tc>
                  <a:txBody>
                    <a:bodyPr/>
                    <a:lstStyle/>
                    <a:p>
                      <a:pPr algn="ctr" rtl="0"/>
                      <a:r>
                        <a:rPr lang="en-GB" sz="1500"/>
                        <a:t>Operator</a:t>
                      </a:r>
                    </a:p>
                  </a:txBody>
                  <a:tcPr marL="69907" marR="69907" marT="34953" marB="34953" anchor="ctr"/>
                </a:tc>
                <a:tc>
                  <a:txBody>
                    <a:bodyPr/>
                    <a:lstStyle/>
                    <a:p>
                      <a:pPr algn="ctr" rtl="0"/>
                      <a:r>
                        <a:rPr lang="en-GB" sz="1500"/>
                        <a:t>Meaning</a:t>
                      </a:r>
                    </a:p>
                  </a:txBody>
                  <a:tcPr marL="69907" marR="69907" marT="34953" marB="34953" anchor="ctr"/>
                </a:tc>
                <a:tc>
                  <a:txBody>
                    <a:bodyPr/>
                    <a:lstStyle/>
                    <a:p>
                      <a:pPr algn="ctr" rtl="0"/>
                      <a:r>
                        <a:rPr lang="en-GB" sz="1500"/>
                        <a:t>Example</a:t>
                      </a:r>
                    </a:p>
                  </a:txBody>
                  <a:tcPr marL="69907" marR="69907" marT="34953" marB="34953" anchor="ctr"/>
                </a:tc>
                <a:tc>
                  <a:txBody>
                    <a:bodyPr/>
                    <a:lstStyle/>
                    <a:p>
                      <a:pPr algn="ctr" rtl="0"/>
                      <a:r>
                        <a:rPr lang="en-GB" sz="1500"/>
                        <a:t>Y</a:t>
                      </a:r>
                    </a:p>
                  </a:txBody>
                  <a:tcPr marL="69907" marR="69907" marT="34953" marB="34953" anchor="ctr"/>
                </a:tc>
                <a:extLst>
                  <a:ext uri="{0D108BD9-81ED-4DB2-BD59-A6C34878D82A}">
                    <a16:rowId xmlns:a16="http://schemas.microsoft.com/office/drawing/2014/main" val="1862302224"/>
                  </a:ext>
                </a:extLst>
              </a:tr>
              <a:tr h="560331">
                <a:tc>
                  <a:txBody>
                    <a:bodyPr/>
                    <a:lstStyle/>
                    <a:p>
                      <a:pPr algn="ctr" rtl="0"/>
                      <a:r>
                        <a:rPr lang="en-GB" sz="1500" dirty="0"/>
                        <a:t>+</a:t>
                      </a:r>
                    </a:p>
                  </a:txBody>
                  <a:tcPr marL="69907" marR="69907" marT="34953" marB="34953" anchor="ctr"/>
                </a:tc>
                <a:tc>
                  <a:txBody>
                    <a:bodyPr/>
                    <a:lstStyle/>
                    <a:p>
                      <a:pPr algn="ctr" rtl="0"/>
                      <a:r>
                        <a:rPr lang="en-GB" sz="1500"/>
                        <a:t>Addition</a:t>
                      </a:r>
                    </a:p>
                  </a:txBody>
                  <a:tcPr marL="69907" marR="69907" marT="34953" marB="34953" anchor="ctr"/>
                </a:tc>
                <a:tc>
                  <a:txBody>
                    <a:bodyPr/>
                    <a:lstStyle/>
                    <a:p>
                      <a:pPr marL="0" algn="l" rtl="0" eaLnBrk="1" fontAlgn="t" latinLnBrk="0" hangingPunct="1">
                        <a:spcBef>
                          <a:spcPts val="0"/>
                        </a:spcBef>
                        <a:spcAft>
                          <a:spcPts val="0"/>
                        </a:spcAft>
                      </a:pPr>
                      <a:r>
                        <a:rPr lang="en-GB" sz="1500" b="0" u="none" strike="noStrike" kern="1200">
                          <a:solidFill>
                            <a:schemeClr val="dk1"/>
                          </a:solidFill>
                        </a:rPr>
                        <a:t>x=</a:t>
                      </a:r>
                      <a:r>
                        <a:rPr lang="en-GB" sz="1500" b="0" u="none" strike="noStrike" kern="1200" baseline="0">
                          <a:solidFill>
                            <a:schemeClr val="dk1"/>
                          </a:solidFill>
                        </a:rPr>
                        <a:t> 10</a:t>
                      </a:r>
                    </a:p>
                    <a:p>
                      <a:pPr marL="0" algn="l" rtl="0" eaLnBrk="1" fontAlgn="t" latinLnBrk="0" hangingPunct="1">
                        <a:spcBef>
                          <a:spcPts val="0"/>
                        </a:spcBef>
                        <a:spcAft>
                          <a:spcPts val="0"/>
                        </a:spcAft>
                      </a:pPr>
                      <a:r>
                        <a:rPr lang="en-GB" sz="1500" b="0" u="none" strike="noStrike" kern="1200" baseline="0">
                          <a:solidFill>
                            <a:schemeClr val="dk1"/>
                          </a:solidFill>
                        </a:rPr>
                        <a:t>y = x + 3</a:t>
                      </a:r>
                      <a:endParaRPr lang="en-GB" sz="1500" b="0" i="0" u="none" strike="noStrike" kern="1200">
                        <a:solidFill>
                          <a:schemeClr val="dk1"/>
                        </a:solidFill>
                        <a:latin typeface="+mn-lt"/>
                        <a:cs typeface="Arial"/>
                      </a:endParaRPr>
                    </a:p>
                  </a:txBody>
                  <a:tcPr marL="69907" marR="69907" marT="34953" marB="34953"/>
                </a:tc>
                <a:tc>
                  <a:txBody>
                    <a:bodyPr/>
                    <a:lstStyle/>
                    <a:p>
                      <a:pPr marL="0" algn="ctr" rtl="0" eaLnBrk="1" fontAlgn="t" latinLnBrk="0" hangingPunct="1">
                        <a:spcBef>
                          <a:spcPts val="0"/>
                        </a:spcBef>
                        <a:spcAft>
                          <a:spcPts val="0"/>
                        </a:spcAft>
                      </a:pPr>
                      <a:r>
                        <a:rPr lang="en-GB" sz="1500" b="0" u="none" strike="noStrike" kern="1200">
                          <a:solidFill>
                            <a:schemeClr val="dk1"/>
                          </a:solidFill>
                        </a:rPr>
                        <a:t>13</a:t>
                      </a:r>
                      <a:endParaRPr lang="en-GB" sz="1500" b="0" i="0" u="none" strike="noStrike" kern="1200">
                        <a:solidFill>
                          <a:schemeClr val="dk1"/>
                        </a:solidFill>
                        <a:latin typeface="+mn-lt"/>
                        <a:cs typeface="Arial"/>
                      </a:endParaRPr>
                    </a:p>
                  </a:txBody>
                  <a:tcPr marL="69907" marR="69907" marT="34953" marB="34953"/>
                </a:tc>
                <a:extLst>
                  <a:ext uri="{0D108BD9-81ED-4DB2-BD59-A6C34878D82A}">
                    <a16:rowId xmlns:a16="http://schemas.microsoft.com/office/drawing/2014/main" val="3489263482"/>
                  </a:ext>
                </a:extLst>
              </a:tr>
              <a:tr h="560331">
                <a:tc>
                  <a:txBody>
                    <a:bodyPr/>
                    <a:lstStyle/>
                    <a:p>
                      <a:pPr algn="ctr" rtl="0"/>
                      <a:r>
                        <a:rPr lang="en-GB" sz="1500"/>
                        <a:t>-</a:t>
                      </a:r>
                    </a:p>
                  </a:txBody>
                  <a:tcPr marL="69907" marR="69907" marT="34953" marB="34953" anchor="ctr"/>
                </a:tc>
                <a:tc>
                  <a:txBody>
                    <a:bodyPr/>
                    <a:lstStyle/>
                    <a:p>
                      <a:pPr algn="ctr" rtl="0"/>
                      <a:r>
                        <a:rPr lang="en-GB" sz="1500"/>
                        <a:t>Subtraction</a:t>
                      </a:r>
                    </a:p>
                  </a:txBody>
                  <a:tcPr marL="69907" marR="69907" marT="34953" marB="34953" anchor="ctr"/>
                </a:tc>
                <a:tc>
                  <a:txBody>
                    <a:bodyPr/>
                    <a:lstStyle/>
                    <a:p>
                      <a:pPr marL="0" algn="l" rtl="0" eaLnBrk="1" fontAlgn="t" latinLnBrk="0" hangingPunct="1">
                        <a:spcBef>
                          <a:spcPts val="0"/>
                        </a:spcBef>
                        <a:spcAft>
                          <a:spcPts val="0"/>
                        </a:spcAft>
                      </a:pPr>
                      <a:r>
                        <a:rPr lang="en-GB" sz="1500" b="0" u="none" strike="noStrike" kern="1200">
                          <a:solidFill>
                            <a:schemeClr val="dk1"/>
                          </a:solidFill>
                        </a:rPr>
                        <a:t>x=</a:t>
                      </a:r>
                      <a:r>
                        <a:rPr lang="en-GB" sz="1500" b="0" u="none" strike="noStrike" kern="1200" baseline="0">
                          <a:solidFill>
                            <a:schemeClr val="dk1"/>
                          </a:solidFill>
                        </a:rPr>
                        <a:t> 6</a:t>
                      </a:r>
                    </a:p>
                    <a:p>
                      <a:pPr marL="0" algn="l" rtl="0" eaLnBrk="1" fontAlgn="t" latinLnBrk="0" hangingPunct="1">
                        <a:spcBef>
                          <a:spcPts val="0"/>
                        </a:spcBef>
                        <a:spcAft>
                          <a:spcPts val="0"/>
                        </a:spcAft>
                      </a:pPr>
                      <a:r>
                        <a:rPr lang="en-GB" sz="1500" b="0" u="none" strike="noStrike" kern="1200" baseline="0">
                          <a:solidFill>
                            <a:schemeClr val="dk1"/>
                          </a:solidFill>
                        </a:rPr>
                        <a:t>y = x – 4</a:t>
                      </a:r>
                      <a:endParaRPr lang="en-GB" sz="1500" b="0" i="0" u="none" strike="noStrike" kern="1200">
                        <a:solidFill>
                          <a:schemeClr val="dk1"/>
                        </a:solidFill>
                        <a:latin typeface="+mn-lt"/>
                        <a:cs typeface="Arial"/>
                      </a:endParaRPr>
                    </a:p>
                  </a:txBody>
                  <a:tcPr marL="69907" marR="69907" marT="34953" marB="34953"/>
                </a:tc>
                <a:tc>
                  <a:txBody>
                    <a:bodyPr/>
                    <a:lstStyle/>
                    <a:p>
                      <a:pPr marL="0" algn="ctr" rtl="0" eaLnBrk="1" fontAlgn="t" latinLnBrk="0" hangingPunct="1">
                        <a:spcBef>
                          <a:spcPts val="0"/>
                        </a:spcBef>
                        <a:spcAft>
                          <a:spcPts val="0"/>
                        </a:spcAft>
                      </a:pPr>
                      <a:r>
                        <a:rPr lang="en-GB" sz="1500" b="0" u="none" strike="noStrike" kern="1200">
                          <a:solidFill>
                            <a:schemeClr val="dk1"/>
                          </a:solidFill>
                        </a:rPr>
                        <a:t>2</a:t>
                      </a:r>
                      <a:endParaRPr lang="en-GB" sz="1500" b="0" i="0" u="none" strike="noStrike" kern="1200">
                        <a:solidFill>
                          <a:schemeClr val="dk1"/>
                        </a:solidFill>
                        <a:latin typeface="+mn-lt"/>
                        <a:cs typeface="Arial"/>
                      </a:endParaRPr>
                    </a:p>
                  </a:txBody>
                  <a:tcPr marL="69907" marR="69907" marT="34953" marB="34953"/>
                </a:tc>
                <a:extLst>
                  <a:ext uri="{0D108BD9-81ED-4DB2-BD59-A6C34878D82A}">
                    <a16:rowId xmlns:a16="http://schemas.microsoft.com/office/drawing/2014/main" val="2791648838"/>
                  </a:ext>
                </a:extLst>
              </a:tr>
              <a:tr h="560331">
                <a:tc>
                  <a:txBody>
                    <a:bodyPr/>
                    <a:lstStyle/>
                    <a:p>
                      <a:pPr algn="ctr" rtl="0"/>
                      <a:r>
                        <a:rPr lang="en-GB" sz="1500"/>
                        <a:t>*</a:t>
                      </a:r>
                    </a:p>
                  </a:txBody>
                  <a:tcPr marL="69907" marR="69907" marT="34953" marB="34953" anchor="ctr"/>
                </a:tc>
                <a:tc>
                  <a:txBody>
                    <a:bodyPr/>
                    <a:lstStyle/>
                    <a:p>
                      <a:pPr algn="ctr" rtl="0"/>
                      <a:r>
                        <a:rPr lang="en-GB" sz="1500"/>
                        <a:t>Multiplication</a:t>
                      </a:r>
                    </a:p>
                  </a:txBody>
                  <a:tcPr marL="69907" marR="69907" marT="34953" marB="34953" anchor="ctr"/>
                </a:tc>
                <a:tc>
                  <a:txBody>
                    <a:bodyPr/>
                    <a:lstStyle/>
                    <a:p>
                      <a:pPr marL="0" algn="l" rtl="0" eaLnBrk="1" fontAlgn="t" latinLnBrk="0" hangingPunct="1">
                        <a:spcBef>
                          <a:spcPts val="0"/>
                        </a:spcBef>
                        <a:spcAft>
                          <a:spcPts val="0"/>
                        </a:spcAft>
                      </a:pPr>
                      <a:r>
                        <a:rPr lang="en-GB" sz="1500" b="0" u="none" strike="noStrike" kern="1200">
                          <a:solidFill>
                            <a:schemeClr val="dk1"/>
                          </a:solidFill>
                        </a:rPr>
                        <a:t>x=</a:t>
                      </a:r>
                      <a:r>
                        <a:rPr lang="en-GB" sz="1500" b="0" u="none" strike="noStrike" kern="1200" baseline="0">
                          <a:solidFill>
                            <a:schemeClr val="dk1"/>
                          </a:solidFill>
                        </a:rPr>
                        <a:t> 2</a:t>
                      </a:r>
                    </a:p>
                    <a:p>
                      <a:pPr marL="0" algn="l" rtl="0" eaLnBrk="1" fontAlgn="t" latinLnBrk="0" hangingPunct="1">
                        <a:spcBef>
                          <a:spcPts val="0"/>
                        </a:spcBef>
                        <a:spcAft>
                          <a:spcPts val="0"/>
                        </a:spcAft>
                      </a:pPr>
                      <a:r>
                        <a:rPr lang="en-GB" sz="1500" b="0" u="none" strike="noStrike" kern="1200" baseline="0">
                          <a:solidFill>
                            <a:schemeClr val="dk1"/>
                          </a:solidFill>
                        </a:rPr>
                        <a:t>y = x * 5</a:t>
                      </a:r>
                      <a:endParaRPr lang="en-GB" sz="1500" b="0" i="0" u="none" strike="noStrike" kern="1200">
                        <a:solidFill>
                          <a:schemeClr val="dk1"/>
                        </a:solidFill>
                        <a:latin typeface="+mn-lt"/>
                        <a:cs typeface="Arial"/>
                      </a:endParaRPr>
                    </a:p>
                  </a:txBody>
                  <a:tcPr marL="69907" marR="69907" marT="34953" marB="34953"/>
                </a:tc>
                <a:tc>
                  <a:txBody>
                    <a:bodyPr/>
                    <a:lstStyle/>
                    <a:p>
                      <a:pPr marL="0" algn="ctr" rtl="0" eaLnBrk="1" fontAlgn="t" latinLnBrk="0" hangingPunct="1">
                        <a:spcBef>
                          <a:spcPts val="0"/>
                        </a:spcBef>
                        <a:spcAft>
                          <a:spcPts val="0"/>
                        </a:spcAft>
                      </a:pPr>
                      <a:r>
                        <a:rPr lang="en-GB" sz="1500" b="0" u="none" strike="noStrike" kern="1200">
                          <a:solidFill>
                            <a:schemeClr val="dk1"/>
                          </a:solidFill>
                        </a:rPr>
                        <a:t>10</a:t>
                      </a:r>
                      <a:endParaRPr lang="en-GB" sz="1500" b="0" i="0" u="none" strike="noStrike" kern="1200">
                        <a:solidFill>
                          <a:schemeClr val="dk1"/>
                        </a:solidFill>
                        <a:latin typeface="+mn-lt"/>
                        <a:cs typeface="Arial"/>
                      </a:endParaRPr>
                    </a:p>
                  </a:txBody>
                  <a:tcPr marL="69907" marR="69907" marT="34953" marB="34953"/>
                </a:tc>
                <a:extLst>
                  <a:ext uri="{0D108BD9-81ED-4DB2-BD59-A6C34878D82A}">
                    <a16:rowId xmlns:a16="http://schemas.microsoft.com/office/drawing/2014/main" val="2077683439"/>
                  </a:ext>
                </a:extLst>
              </a:tr>
              <a:tr h="560331">
                <a:tc>
                  <a:txBody>
                    <a:bodyPr/>
                    <a:lstStyle/>
                    <a:p>
                      <a:pPr algn="ctr" rtl="0"/>
                      <a:r>
                        <a:rPr lang="en-GB" sz="1500"/>
                        <a:t>/</a:t>
                      </a:r>
                    </a:p>
                  </a:txBody>
                  <a:tcPr marL="69907" marR="69907" marT="34953" marB="34953" anchor="ctr"/>
                </a:tc>
                <a:tc>
                  <a:txBody>
                    <a:bodyPr/>
                    <a:lstStyle/>
                    <a:p>
                      <a:pPr algn="ctr" rtl="0"/>
                      <a:r>
                        <a:rPr lang="en-GB" sz="1500"/>
                        <a:t>Division</a:t>
                      </a:r>
                    </a:p>
                  </a:txBody>
                  <a:tcPr marL="69907" marR="69907" marT="34953" marB="34953" anchor="ctr"/>
                </a:tc>
                <a:tc>
                  <a:txBody>
                    <a:bodyPr/>
                    <a:lstStyle/>
                    <a:p>
                      <a:pPr marL="0" algn="l" rtl="0" eaLnBrk="1" fontAlgn="t" latinLnBrk="0" hangingPunct="1">
                        <a:spcBef>
                          <a:spcPts val="0"/>
                        </a:spcBef>
                        <a:spcAft>
                          <a:spcPts val="0"/>
                        </a:spcAft>
                      </a:pPr>
                      <a:r>
                        <a:rPr lang="en-GB" sz="1500" b="0" u="none" strike="noStrike" kern="1200">
                          <a:solidFill>
                            <a:schemeClr val="dk1"/>
                          </a:solidFill>
                        </a:rPr>
                        <a:t>x=</a:t>
                      </a:r>
                      <a:r>
                        <a:rPr lang="en-GB" sz="1500" b="0" u="none" strike="noStrike" kern="1200" baseline="0">
                          <a:solidFill>
                            <a:schemeClr val="dk1"/>
                          </a:solidFill>
                        </a:rPr>
                        <a:t> 10</a:t>
                      </a:r>
                    </a:p>
                    <a:p>
                      <a:pPr marL="0" algn="l" rtl="0" eaLnBrk="1" fontAlgn="t" latinLnBrk="0" hangingPunct="1">
                        <a:spcBef>
                          <a:spcPts val="0"/>
                        </a:spcBef>
                        <a:spcAft>
                          <a:spcPts val="0"/>
                        </a:spcAft>
                      </a:pPr>
                      <a:r>
                        <a:rPr lang="en-GB" sz="1500" b="0" u="none" strike="noStrike" kern="1200" baseline="0">
                          <a:solidFill>
                            <a:schemeClr val="dk1"/>
                          </a:solidFill>
                        </a:rPr>
                        <a:t>y = x / 7</a:t>
                      </a:r>
                      <a:endParaRPr lang="en-GB" sz="1500" b="0" i="0" u="none" strike="noStrike" kern="1200">
                        <a:solidFill>
                          <a:schemeClr val="dk1"/>
                        </a:solidFill>
                        <a:latin typeface="+mn-lt"/>
                        <a:cs typeface="Arial"/>
                      </a:endParaRPr>
                    </a:p>
                  </a:txBody>
                  <a:tcPr marL="69907" marR="69907" marT="34953" marB="34953"/>
                </a:tc>
                <a:tc>
                  <a:txBody>
                    <a:bodyPr/>
                    <a:lstStyle/>
                    <a:p>
                      <a:pPr marL="0" algn="ctr" rtl="0" eaLnBrk="1" fontAlgn="t" latinLnBrk="0" hangingPunct="1">
                        <a:spcBef>
                          <a:spcPts val="0"/>
                        </a:spcBef>
                        <a:spcAft>
                          <a:spcPts val="0"/>
                        </a:spcAft>
                      </a:pPr>
                      <a:r>
                        <a:rPr lang="en-GB" sz="1500" b="0" u="none" strike="noStrike" kern="1200">
                          <a:solidFill>
                            <a:schemeClr val="dk1"/>
                          </a:solidFill>
                        </a:rPr>
                        <a:t>1.4</a:t>
                      </a:r>
                      <a:endParaRPr lang="en-GB" sz="1500" b="0" i="0" u="none" strike="noStrike" kern="1200">
                        <a:solidFill>
                          <a:schemeClr val="dk1"/>
                        </a:solidFill>
                        <a:latin typeface="+mn-lt"/>
                        <a:cs typeface="Arial"/>
                      </a:endParaRPr>
                    </a:p>
                  </a:txBody>
                  <a:tcPr marL="69907" marR="69907" marT="34953" marB="34953"/>
                </a:tc>
                <a:extLst>
                  <a:ext uri="{0D108BD9-81ED-4DB2-BD59-A6C34878D82A}">
                    <a16:rowId xmlns:a16="http://schemas.microsoft.com/office/drawing/2014/main" val="2030943941"/>
                  </a:ext>
                </a:extLst>
              </a:tr>
              <a:tr h="560331">
                <a:tc>
                  <a:txBody>
                    <a:bodyPr/>
                    <a:lstStyle/>
                    <a:p>
                      <a:pPr algn="ctr" rtl="0"/>
                      <a:r>
                        <a:rPr lang="en-GB" sz="1500"/>
                        <a:t>%</a:t>
                      </a:r>
                    </a:p>
                  </a:txBody>
                  <a:tcPr marL="69907" marR="69907" marT="34953" marB="34953" anchor="ctr"/>
                </a:tc>
                <a:tc>
                  <a:txBody>
                    <a:bodyPr/>
                    <a:lstStyle/>
                    <a:p>
                      <a:pPr algn="ctr" rtl="0"/>
                      <a:r>
                        <a:rPr lang="en-GB" sz="1500"/>
                        <a:t>Modulus (reminder)</a:t>
                      </a:r>
                    </a:p>
                  </a:txBody>
                  <a:tcPr marL="69907" marR="69907" marT="34953" marB="34953" anchor="ctr"/>
                </a:tc>
                <a:tc>
                  <a:txBody>
                    <a:bodyPr/>
                    <a:lstStyle/>
                    <a:p>
                      <a:pPr marL="0" algn="l" rtl="0" eaLnBrk="1" fontAlgn="t" latinLnBrk="0" hangingPunct="1">
                        <a:spcBef>
                          <a:spcPts val="0"/>
                        </a:spcBef>
                        <a:spcAft>
                          <a:spcPts val="0"/>
                        </a:spcAft>
                      </a:pPr>
                      <a:r>
                        <a:rPr lang="en-GB" sz="1500" b="0" u="none" strike="noStrike" kern="1200">
                          <a:solidFill>
                            <a:schemeClr val="dk1"/>
                          </a:solidFill>
                        </a:rPr>
                        <a:t>x=</a:t>
                      </a:r>
                      <a:r>
                        <a:rPr lang="en-GB" sz="1500" b="0" u="none" strike="noStrike" kern="1200" baseline="0">
                          <a:solidFill>
                            <a:schemeClr val="dk1"/>
                          </a:solidFill>
                        </a:rPr>
                        <a:t> 10</a:t>
                      </a:r>
                    </a:p>
                    <a:p>
                      <a:pPr marL="0" algn="l" rtl="0" eaLnBrk="1" fontAlgn="t" latinLnBrk="0" hangingPunct="1">
                        <a:spcBef>
                          <a:spcPts val="0"/>
                        </a:spcBef>
                        <a:spcAft>
                          <a:spcPts val="0"/>
                        </a:spcAft>
                      </a:pPr>
                      <a:r>
                        <a:rPr lang="en-GB" sz="1500" b="0" u="none" strike="noStrike" kern="1200" baseline="0">
                          <a:solidFill>
                            <a:schemeClr val="dk1"/>
                          </a:solidFill>
                        </a:rPr>
                        <a:t>y = x % 7</a:t>
                      </a:r>
                      <a:endParaRPr lang="en-GB" sz="1500" b="0" i="0" u="none" strike="noStrike" kern="1200">
                        <a:solidFill>
                          <a:schemeClr val="dk1"/>
                        </a:solidFill>
                        <a:latin typeface="+mn-lt"/>
                        <a:cs typeface="Arial"/>
                      </a:endParaRPr>
                    </a:p>
                  </a:txBody>
                  <a:tcPr marL="69907" marR="69907" marT="34953" marB="34953"/>
                </a:tc>
                <a:tc>
                  <a:txBody>
                    <a:bodyPr/>
                    <a:lstStyle/>
                    <a:p>
                      <a:pPr marL="0" algn="ctr" rtl="0" eaLnBrk="1" fontAlgn="t" latinLnBrk="0" hangingPunct="1">
                        <a:spcBef>
                          <a:spcPts val="0"/>
                        </a:spcBef>
                        <a:spcAft>
                          <a:spcPts val="0"/>
                        </a:spcAft>
                      </a:pPr>
                      <a:r>
                        <a:rPr lang="en-GB" sz="1500" b="0" u="none" strike="noStrike" kern="1200">
                          <a:solidFill>
                            <a:schemeClr val="dk1"/>
                          </a:solidFill>
                        </a:rPr>
                        <a:t>3</a:t>
                      </a:r>
                      <a:endParaRPr lang="en-GB" sz="1500" b="0" i="0" u="none" strike="noStrike" kern="1200">
                        <a:solidFill>
                          <a:schemeClr val="dk1"/>
                        </a:solidFill>
                        <a:latin typeface="+mn-lt"/>
                        <a:cs typeface="Arial"/>
                      </a:endParaRPr>
                    </a:p>
                  </a:txBody>
                  <a:tcPr marL="69907" marR="69907" marT="34953" marB="34953"/>
                </a:tc>
                <a:extLst>
                  <a:ext uri="{0D108BD9-81ED-4DB2-BD59-A6C34878D82A}">
                    <a16:rowId xmlns:a16="http://schemas.microsoft.com/office/drawing/2014/main" val="3995117487"/>
                  </a:ext>
                </a:extLst>
              </a:tr>
              <a:tr h="560331">
                <a:tc>
                  <a:txBody>
                    <a:bodyPr/>
                    <a:lstStyle/>
                    <a:p>
                      <a:pPr algn="ctr" rtl="0"/>
                      <a:r>
                        <a:rPr lang="en-GB" sz="1500"/>
                        <a:t>**</a:t>
                      </a:r>
                    </a:p>
                  </a:txBody>
                  <a:tcPr marL="69907" marR="69907" marT="34953" marB="34953" anchor="ctr"/>
                </a:tc>
                <a:tc>
                  <a:txBody>
                    <a:bodyPr/>
                    <a:lstStyle/>
                    <a:p>
                      <a:pPr algn="ctr" rtl="0"/>
                      <a:r>
                        <a:rPr lang="en-GB" sz="1500"/>
                        <a:t>Exponent</a:t>
                      </a:r>
                    </a:p>
                  </a:txBody>
                  <a:tcPr marL="69907" marR="69907" marT="34953" marB="34953" anchor="ctr"/>
                </a:tc>
                <a:tc>
                  <a:txBody>
                    <a:bodyPr/>
                    <a:lstStyle/>
                    <a:p>
                      <a:pPr marL="0" algn="l" rtl="0" eaLnBrk="1" fontAlgn="t" latinLnBrk="0" hangingPunct="1">
                        <a:spcBef>
                          <a:spcPts val="0"/>
                        </a:spcBef>
                        <a:spcAft>
                          <a:spcPts val="0"/>
                        </a:spcAft>
                      </a:pPr>
                      <a:r>
                        <a:rPr lang="es-ES" sz="1500" b="0" u="none" strike="noStrike" kern="1200">
                          <a:solidFill>
                            <a:schemeClr val="dk1"/>
                          </a:solidFill>
                        </a:rPr>
                        <a:t>x= 3</a:t>
                      </a:r>
                    </a:p>
                    <a:p>
                      <a:pPr marL="0" algn="l" rtl="0" eaLnBrk="1" fontAlgn="t" latinLnBrk="0" hangingPunct="1">
                        <a:spcBef>
                          <a:spcPts val="0"/>
                        </a:spcBef>
                        <a:spcAft>
                          <a:spcPts val="0"/>
                        </a:spcAft>
                      </a:pPr>
                      <a:r>
                        <a:rPr lang="es-ES" sz="1500" b="0" u="none" strike="noStrike" kern="1200">
                          <a:solidFill>
                            <a:schemeClr val="dk1"/>
                          </a:solidFill>
                        </a:rPr>
                        <a:t>y = x ** 3</a:t>
                      </a:r>
                      <a:endParaRPr lang="es-ES" sz="1500" b="0" i="0" u="none" strike="noStrike" kern="1200">
                        <a:solidFill>
                          <a:schemeClr val="dk1"/>
                        </a:solidFill>
                        <a:latin typeface="+mn-lt"/>
                        <a:cs typeface="Arial"/>
                      </a:endParaRPr>
                    </a:p>
                  </a:txBody>
                  <a:tcPr marL="69907" marR="69907" marT="34953" marB="34953"/>
                </a:tc>
                <a:tc>
                  <a:txBody>
                    <a:bodyPr/>
                    <a:lstStyle/>
                    <a:p>
                      <a:pPr marL="0" algn="ctr" rtl="0" eaLnBrk="1" fontAlgn="t" latinLnBrk="0" hangingPunct="1">
                        <a:spcBef>
                          <a:spcPts val="0"/>
                        </a:spcBef>
                        <a:spcAft>
                          <a:spcPts val="0"/>
                        </a:spcAft>
                      </a:pPr>
                      <a:r>
                        <a:rPr lang="es-ES" sz="1500" b="0" u="none" strike="noStrike" kern="1200" dirty="0">
                          <a:solidFill>
                            <a:schemeClr val="dk1"/>
                          </a:solidFill>
                        </a:rPr>
                        <a:t>27</a:t>
                      </a:r>
                      <a:endParaRPr lang="es-ES" sz="1500" b="0" i="0" u="none" strike="noStrike" kern="1200" dirty="0">
                        <a:solidFill>
                          <a:schemeClr val="dk1"/>
                        </a:solidFill>
                        <a:latin typeface="+mn-lt"/>
                        <a:cs typeface="Arial"/>
                      </a:endParaRPr>
                    </a:p>
                  </a:txBody>
                  <a:tcPr marL="69907" marR="69907" marT="34953" marB="34953"/>
                </a:tc>
                <a:extLst>
                  <a:ext uri="{0D108BD9-81ED-4DB2-BD59-A6C34878D82A}">
                    <a16:rowId xmlns:a16="http://schemas.microsoft.com/office/drawing/2014/main" val="14663145"/>
                  </a:ext>
                </a:extLst>
              </a:tr>
            </a:tbl>
          </a:graphicData>
        </a:graphic>
      </p:graphicFrame>
    </p:spTree>
    <p:extLst>
      <p:ext uri="{BB962C8B-B14F-4D97-AF65-F5344CB8AC3E}">
        <p14:creationId xmlns:p14="http://schemas.microsoft.com/office/powerpoint/2010/main" val="28249933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7C58B9-9F11-C7F5-C368-AE17EB174813}"/>
              </a:ext>
            </a:extLst>
          </p:cNvPr>
          <p:cNvSpPr>
            <a:spLocks noGrp="1"/>
          </p:cNvSpPr>
          <p:nvPr>
            <p:ph type="title"/>
          </p:nvPr>
        </p:nvSpPr>
        <p:spPr>
          <a:xfrm>
            <a:off x="640079" y="328613"/>
            <a:ext cx="10890929" cy="1097280"/>
          </a:xfrm>
        </p:spPr>
        <p:txBody>
          <a:bodyPr>
            <a:normAutofit fontScale="90000"/>
          </a:bodyPr>
          <a:lstStyle/>
          <a:p>
            <a:r>
              <a:rPr lang="en-US" spc="-1" dirty="0">
                <a:solidFill>
                  <a:srgbClr val="333399"/>
                </a:solidFill>
                <a:uFill>
                  <a:solidFill>
                    <a:srgbClr val="FFFFFF"/>
                  </a:solidFill>
                </a:uFill>
                <a:latin typeface="Times" pitchFamily="2" charset="0"/>
                <a:ea typeface="+mn-ea"/>
                <a:cs typeface="+mn-cs"/>
              </a:rPr>
              <a:t>Variables</a:t>
            </a:r>
            <a:br>
              <a:rPr lang="en-US" dirty="0"/>
            </a:br>
            <a:endParaRPr lang="en-US" dirty="0"/>
          </a:p>
        </p:txBody>
      </p:sp>
      <p:sp>
        <p:nvSpPr>
          <p:cNvPr id="3" name="Content Placeholder 2">
            <a:extLst>
              <a:ext uri="{FF2B5EF4-FFF2-40B4-BE49-F238E27FC236}">
                <a16:creationId xmlns:a16="http://schemas.microsoft.com/office/drawing/2014/main" id="{1E03C6EF-5E2B-190D-31B8-A1339B5C066A}"/>
              </a:ext>
            </a:extLst>
          </p:cNvPr>
          <p:cNvSpPr>
            <a:spLocks noGrp="1"/>
          </p:cNvSpPr>
          <p:nvPr>
            <p:ph idx="1"/>
          </p:nvPr>
        </p:nvSpPr>
        <p:spPr>
          <a:xfrm>
            <a:off x="640079" y="1425893"/>
            <a:ext cx="10890928" cy="3566160"/>
          </a:xfrm>
        </p:spPr>
        <p:txBody>
          <a:bodyPr>
            <a:noAutofit/>
          </a:bodyPr>
          <a:lstStyle/>
          <a:p>
            <a:pPr marL="365760" lvl="1" indent="-256032" algn="l" rtl="0">
              <a:lnSpc>
                <a:spcPct val="150000"/>
              </a:lnSpc>
              <a:buClr>
                <a:schemeClr val="accent3">
                  <a:lumMod val="75000"/>
                </a:schemeClr>
              </a:buClr>
              <a:buFont typeface="Georgia"/>
              <a:buChar char="•"/>
              <a:defRPr/>
            </a:pPr>
            <a:r>
              <a:rPr lang="en-GB" altLang="en-US" sz="2800" dirty="0">
                <a:latin typeface="Times" pitchFamily="2" charset="0"/>
                <a:cs typeface="Courier New" panose="02070309020205020404" pitchFamily="49" charset="0"/>
              </a:rPr>
              <a:t>A variable is a named location in the memory that can store a value</a:t>
            </a:r>
          </a:p>
          <a:p>
            <a:pPr marL="365760" lvl="1" indent="-256032" algn="l" rtl="0">
              <a:lnSpc>
                <a:spcPct val="150000"/>
              </a:lnSpc>
              <a:buClr>
                <a:schemeClr val="accent3">
                  <a:lumMod val="75000"/>
                </a:schemeClr>
              </a:buClr>
              <a:buFont typeface="Georgia"/>
              <a:buChar char="•"/>
              <a:defRPr/>
            </a:pPr>
            <a:r>
              <a:rPr lang="en-GB" altLang="en-US" sz="2800" dirty="0">
                <a:latin typeface="Times" pitchFamily="2" charset="0"/>
                <a:cs typeface="Courier New" panose="02070309020205020404" pitchFamily="49" charset="0"/>
              </a:rPr>
              <a:t>A variable is created when you first assign a value to it</a:t>
            </a:r>
          </a:p>
          <a:p>
            <a:pPr marL="365760" lvl="1" indent="-256032" algn="l" rtl="0">
              <a:lnSpc>
                <a:spcPct val="150000"/>
              </a:lnSpc>
              <a:buClr>
                <a:schemeClr val="accent3">
                  <a:lumMod val="75000"/>
                </a:schemeClr>
              </a:buClr>
              <a:buFont typeface="Georgia"/>
              <a:buChar char="•"/>
              <a:defRPr/>
            </a:pPr>
            <a:r>
              <a:rPr lang="en-GB" altLang="en-US" sz="2800" dirty="0">
                <a:latin typeface="Times" pitchFamily="2" charset="0"/>
                <a:cs typeface="Courier New" panose="02070309020205020404" pitchFamily="49" charset="0"/>
              </a:rPr>
              <a:t>Variables do not need to be declared with a type &amp; can even change type after they have been set</a:t>
            </a:r>
          </a:p>
          <a:p>
            <a:pPr marL="365760" lvl="1" indent="-256032" algn="l" rtl="0">
              <a:lnSpc>
                <a:spcPct val="150000"/>
              </a:lnSpc>
              <a:buClr>
                <a:schemeClr val="accent3">
                  <a:lumMod val="75000"/>
                </a:schemeClr>
              </a:buClr>
              <a:buFont typeface="Georgia"/>
              <a:buChar char="•"/>
              <a:defRPr/>
            </a:pPr>
            <a:r>
              <a:rPr lang="en-GB" altLang="en-US" sz="2800" dirty="0">
                <a:latin typeface="Times" pitchFamily="2" charset="0"/>
                <a:cs typeface="Courier New" panose="02070309020205020404" pitchFamily="49" charset="0"/>
              </a:rPr>
              <a:t>A variable that has been given a value can be used in expressions</a:t>
            </a:r>
          </a:p>
          <a:p>
            <a:pPr marL="365760" lvl="1" indent="-256032" algn="l" rtl="0">
              <a:lnSpc>
                <a:spcPct val="150000"/>
              </a:lnSpc>
              <a:buClr>
                <a:schemeClr val="accent3">
                  <a:lumMod val="75000"/>
                </a:schemeClr>
              </a:buClr>
              <a:buFont typeface="Georgia"/>
              <a:buChar char="•"/>
              <a:defRPr/>
            </a:pPr>
            <a:r>
              <a:rPr lang="en-GB" altLang="en-US" sz="2800" b="1" dirty="0">
                <a:latin typeface="Times" pitchFamily="2" charset="0"/>
                <a:cs typeface="Courier New" panose="02070309020205020404" pitchFamily="49" charset="0"/>
              </a:rPr>
              <a:t>Syntax:</a:t>
            </a:r>
          </a:p>
          <a:p>
            <a:pPr marL="361950" lvl="1" indent="0" algn="l" rtl="0">
              <a:lnSpc>
                <a:spcPct val="150000"/>
              </a:lnSpc>
              <a:buClr>
                <a:schemeClr val="accent3">
                  <a:lumMod val="75000"/>
                </a:schemeClr>
              </a:buClr>
              <a:buNone/>
              <a:defRPr/>
            </a:pPr>
            <a:r>
              <a:rPr lang="en-GB" altLang="en-US" sz="2800" dirty="0" err="1">
                <a:latin typeface="Times" pitchFamily="2" charset="0"/>
                <a:cs typeface="Courier New" panose="02070309020205020404" pitchFamily="49" charset="0"/>
              </a:rPr>
              <a:t>variable_name</a:t>
            </a:r>
            <a:r>
              <a:rPr lang="en-GB" altLang="en-US" sz="2800" dirty="0">
                <a:latin typeface="Times" pitchFamily="2" charset="0"/>
                <a:cs typeface="Courier New" panose="02070309020205020404" pitchFamily="49" charset="0"/>
              </a:rPr>
              <a:t> = value</a:t>
            </a:r>
            <a:endParaRPr lang="en-US" sz="2800" dirty="0">
              <a:latin typeface="Times" pitchFamily="2" charset="0"/>
            </a:endParaRPr>
          </a:p>
        </p:txBody>
      </p:sp>
    </p:spTree>
    <p:extLst>
      <p:ext uri="{BB962C8B-B14F-4D97-AF65-F5344CB8AC3E}">
        <p14:creationId xmlns:p14="http://schemas.microsoft.com/office/powerpoint/2010/main" val="39352823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F23B6-163C-4C09-7C2D-CA7677AD94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9E6386-1764-526C-7502-6313679F02A3}"/>
              </a:ext>
            </a:extLst>
          </p:cNvPr>
          <p:cNvSpPr>
            <a:spLocks noGrp="1"/>
          </p:cNvSpPr>
          <p:nvPr>
            <p:ph type="title"/>
          </p:nvPr>
        </p:nvSpPr>
        <p:spPr>
          <a:xfrm>
            <a:off x="650534" y="285751"/>
            <a:ext cx="10890929" cy="1097280"/>
          </a:xfrm>
        </p:spPr>
        <p:txBody>
          <a:bodyPr>
            <a:normAutofit fontScale="90000"/>
          </a:bodyPr>
          <a:lstStyle/>
          <a:p>
            <a:r>
              <a:rPr lang="en-US" spc="-1" dirty="0">
                <a:solidFill>
                  <a:srgbClr val="333399"/>
                </a:solidFill>
                <a:uFill>
                  <a:solidFill>
                    <a:srgbClr val="FFFFFF"/>
                  </a:solidFill>
                </a:uFill>
                <a:latin typeface="Times" pitchFamily="2" charset="0"/>
                <a:ea typeface="+mn-ea"/>
                <a:cs typeface="+mn-cs"/>
              </a:rPr>
              <a:t>Variables</a:t>
            </a:r>
            <a:br>
              <a:rPr lang="en-US" dirty="0">
                <a:highlight>
                  <a:srgbClr val="FFFF00"/>
                </a:highlight>
              </a:rPr>
            </a:br>
            <a:endParaRPr lang="en-US" dirty="0"/>
          </a:p>
        </p:txBody>
      </p:sp>
      <p:pic>
        <p:nvPicPr>
          <p:cNvPr id="4" name="Picture 3">
            <a:extLst>
              <a:ext uri="{FF2B5EF4-FFF2-40B4-BE49-F238E27FC236}">
                <a16:creationId xmlns:a16="http://schemas.microsoft.com/office/drawing/2014/main" id="{A2CB3C7A-881A-B029-C1AF-B00548D0DAB8}"/>
              </a:ext>
            </a:extLst>
          </p:cNvPr>
          <p:cNvPicPr>
            <a:picLocks noChangeAspect="1"/>
          </p:cNvPicPr>
          <p:nvPr/>
        </p:nvPicPr>
        <p:blipFill rotWithShape="1">
          <a:blip r:embed="rId2"/>
          <a:srcRect l="21418" t="21908" r="29832" b="60987"/>
          <a:stretch/>
        </p:blipFill>
        <p:spPr>
          <a:xfrm>
            <a:off x="1180239" y="1528762"/>
            <a:ext cx="10361224" cy="348840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804334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A140EFD-0C5D-88E4-D087-D973637F78FF}"/>
              </a:ext>
            </a:extLst>
          </p:cNvPr>
          <p:cNvSpPr>
            <a:spLocks noGrp="1"/>
          </p:cNvSpPr>
          <p:nvPr>
            <p:ph type="title"/>
          </p:nvPr>
        </p:nvSpPr>
        <p:spPr>
          <a:xfrm>
            <a:off x="640080" y="914399"/>
            <a:ext cx="3000587" cy="4160520"/>
          </a:xfrm>
        </p:spPr>
        <p:txBody>
          <a:bodyPr anchor="t">
            <a:normAutofit/>
          </a:bodyPr>
          <a:lstStyle/>
          <a:p>
            <a:r>
              <a:rPr lang="en-US" altLang="en-US" sz="3600" spc="-1" dirty="0">
                <a:solidFill>
                  <a:srgbClr val="333399"/>
                </a:solidFill>
                <a:uFill>
                  <a:solidFill>
                    <a:srgbClr val="FFFFFF"/>
                  </a:solidFill>
                </a:uFill>
                <a:latin typeface="Times" pitchFamily="2" charset="0"/>
                <a:ea typeface="+mn-ea"/>
                <a:cs typeface="+mn-cs"/>
              </a:rPr>
              <a:t>Variables</a:t>
            </a:r>
            <a:r>
              <a:rPr lang="en-US" altLang="en-US" sz="3600" b="1" dirty="0">
                <a:latin typeface="+mn-lt"/>
              </a:rPr>
              <a:t>: </a:t>
            </a:r>
            <a:r>
              <a:rPr lang="en-US" altLang="en-US" sz="3600" spc="-1" dirty="0">
                <a:solidFill>
                  <a:srgbClr val="333399"/>
                </a:solidFill>
                <a:uFill>
                  <a:solidFill>
                    <a:srgbClr val="FFFFFF"/>
                  </a:solidFill>
                </a:uFill>
                <a:latin typeface="Times" pitchFamily="2" charset="0"/>
                <a:ea typeface="+mn-ea"/>
                <a:cs typeface="+mn-cs"/>
              </a:rPr>
              <a:t>Names</a:t>
            </a:r>
            <a:r>
              <a:rPr lang="en-US" altLang="en-US" sz="3600" b="1" dirty="0">
                <a:latin typeface="+mn-lt"/>
              </a:rPr>
              <a:t> </a:t>
            </a:r>
            <a:r>
              <a:rPr lang="en-US" altLang="en-US" sz="3600" spc="-1" dirty="0">
                <a:solidFill>
                  <a:srgbClr val="333399"/>
                </a:solidFill>
                <a:uFill>
                  <a:solidFill>
                    <a:srgbClr val="FFFFFF"/>
                  </a:solidFill>
                </a:uFill>
                <a:latin typeface="Times" pitchFamily="2" charset="0"/>
                <a:ea typeface="+mn-ea"/>
                <a:cs typeface="+mn-cs"/>
              </a:rPr>
              <a:t>Rules</a:t>
            </a:r>
            <a:endParaRPr lang="en-US" sz="3600" spc="-1" dirty="0">
              <a:solidFill>
                <a:srgbClr val="333399"/>
              </a:solidFill>
              <a:uFill>
                <a:solidFill>
                  <a:srgbClr val="FFFFFF"/>
                </a:solidFill>
              </a:uFill>
              <a:latin typeface="Times" pitchFamily="2" charset="0"/>
              <a:ea typeface="+mn-ea"/>
              <a:cs typeface="+mn-cs"/>
            </a:endParaRPr>
          </a:p>
        </p:txBody>
      </p:sp>
      <p:cxnSp>
        <p:nvCxnSpPr>
          <p:cNvPr id="14" name="Straight Connector 13">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5" name="Content Placeholder 2">
            <a:extLst>
              <a:ext uri="{FF2B5EF4-FFF2-40B4-BE49-F238E27FC236}">
                <a16:creationId xmlns:a16="http://schemas.microsoft.com/office/drawing/2014/main" id="{0392FDFF-C6A7-6329-A704-3A9423CF7F06}"/>
              </a:ext>
            </a:extLst>
          </p:cNvPr>
          <p:cNvGraphicFramePr>
            <a:graphicFrameLocks noGrp="1"/>
          </p:cNvGraphicFramePr>
          <p:nvPr>
            <p:ph idx="1"/>
            <p:extLst>
              <p:ext uri="{D42A27DB-BD31-4B8C-83A1-F6EECF244321}">
                <p14:modId xmlns:p14="http://schemas.microsoft.com/office/powerpoint/2010/main" val="1146830527"/>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475462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D63BFA-BFE8-B6E0-BB73-873C68E6C10A}"/>
              </a:ext>
            </a:extLst>
          </p:cNvPr>
          <p:cNvSpPr>
            <a:spLocks noGrp="1"/>
          </p:cNvSpPr>
          <p:nvPr>
            <p:ph type="title"/>
          </p:nvPr>
        </p:nvSpPr>
        <p:spPr>
          <a:xfrm>
            <a:off x="840263" y="457350"/>
            <a:ext cx="10360152" cy="1139911"/>
          </a:xfrm>
        </p:spPr>
        <p:txBody>
          <a:bodyPr vert="horz" lIns="91440" tIns="45720" rIns="91440" bIns="45720" rtlCol="0">
            <a:normAutofit/>
          </a:bodyPr>
          <a:lstStyle/>
          <a:p>
            <a:pPr>
              <a:lnSpc>
                <a:spcPct val="90000"/>
              </a:lnSpc>
            </a:pPr>
            <a:r>
              <a:rPr lang="en-US" altLang="en-US" sz="3600" spc="-1" dirty="0">
                <a:solidFill>
                  <a:srgbClr val="333399"/>
                </a:solidFill>
                <a:uFill>
                  <a:solidFill>
                    <a:srgbClr val="FFFFFF"/>
                  </a:solidFill>
                </a:uFill>
                <a:latin typeface="Times" pitchFamily="2" charset="0"/>
                <a:ea typeface="+mn-ea"/>
                <a:cs typeface="+mn-cs"/>
              </a:rPr>
              <a:t>Variables</a:t>
            </a:r>
            <a:r>
              <a:rPr lang="en-US" altLang="en-US" sz="3700" dirty="0"/>
              <a:t>: </a:t>
            </a:r>
            <a:r>
              <a:rPr lang="en-US" altLang="en-US" sz="3600" spc="-1" dirty="0">
                <a:solidFill>
                  <a:srgbClr val="333399"/>
                </a:solidFill>
                <a:uFill>
                  <a:solidFill>
                    <a:srgbClr val="FFFFFF"/>
                  </a:solidFill>
                </a:uFill>
                <a:latin typeface="Times" pitchFamily="2" charset="0"/>
                <a:ea typeface="+mn-ea"/>
                <a:cs typeface="+mn-cs"/>
              </a:rPr>
              <a:t>Names</a:t>
            </a:r>
            <a:r>
              <a:rPr lang="en-US" altLang="en-US" sz="3700" dirty="0"/>
              <a:t> </a:t>
            </a:r>
            <a:r>
              <a:rPr lang="en-US" altLang="en-US" sz="3600" spc="-1" dirty="0">
                <a:solidFill>
                  <a:srgbClr val="333399"/>
                </a:solidFill>
                <a:uFill>
                  <a:solidFill>
                    <a:srgbClr val="FFFFFF"/>
                  </a:solidFill>
                </a:uFill>
                <a:latin typeface="Times" pitchFamily="2" charset="0"/>
                <a:ea typeface="+mn-ea"/>
                <a:cs typeface="+mn-cs"/>
              </a:rPr>
              <a:t>Rules</a:t>
            </a:r>
            <a:br>
              <a:rPr lang="en-US" altLang="en-US" sz="3700" dirty="0"/>
            </a:br>
            <a:r>
              <a:rPr lang="en-US" altLang="en-US" sz="3700" dirty="0"/>
              <a:t> </a:t>
            </a:r>
            <a:endParaRPr lang="en-US" sz="3700" dirty="0"/>
          </a:p>
        </p:txBody>
      </p:sp>
      <p:cxnSp>
        <p:nvCxnSpPr>
          <p:cNvPr id="22" name="Straight Connector 21">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4" name="Content Placeholder 3">
            <a:extLst>
              <a:ext uri="{FF2B5EF4-FFF2-40B4-BE49-F238E27FC236}">
                <a16:creationId xmlns:a16="http://schemas.microsoft.com/office/drawing/2014/main" id="{795EB41B-A26E-4399-E0D8-FAA8B10C5C98}"/>
              </a:ext>
            </a:extLst>
          </p:cNvPr>
          <p:cNvGraphicFramePr>
            <a:graphicFrameLocks noGrp="1"/>
          </p:cNvGraphicFramePr>
          <p:nvPr>
            <p:ph idx="1"/>
            <p:extLst>
              <p:ext uri="{D42A27DB-BD31-4B8C-83A1-F6EECF244321}">
                <p14:modId xmlns:p14="http://schemas.microsoft.com/office/powerpoint/2010/main" val="899586961"/>
              </p:ext>
            </p:extLst>
          </p:nvPr>
        </p:nvGraphicFramePr>
        <p:xfrm>
          <a:off x="1469533" y="1721736"/>
          <a:ext cx="8395685" cy="3690360"/>
        </p:xfrm>
        <a:graphic>
          <a:graphicData uri="http://schemas.openxmlformats.org/drawingml/2006/table">
            <a:tbl>
              <a:tblPr firstRow="1" bandRow="1">
                <a:tableStyleId>{5C22544A-7EE6-4342-B048-85BDC9FD1C3A}</a:tableStyleId>
              </a:tblPr>
              <a:tblGrid>
                <a:gridCol w="5396034">
                  <a:extLst>
                    <a:ext uri="{9D8B030D-6E8A-4147-A177-3AD203B41FA5}">
                      <a16:colId xmlns:a16="http://schemas.microsoft.com/office/drawing/2014/main" val="3614933705"/>
                    </a:ext>
                  </a:extLst>
                </a:gridCol>
                <a:gridCol w="2999651">
                  <a:extLst>
                    <a:ext uri="{9D8B030D-6E8A-4147-A177-3AD203B41FA5}">
                      <a16:colId xmlns:a16="http://schemas.microsoft.com/office/drawing/2014/main" val="2099194401"/>
                    </a:ext>
                  </a:extLst>
                </a:gridCol>
              </a:tblGrid>
              <a:tr h="598878">
                <a:tc>
                  <a:txBody>
                    <a:bodyPr/>
                    <a:lstStyle/>
                    <a:p>
                      <a:pPr algn="ctr"/>
                      <a:r>
                        <a:rPr lang="en-GB" sz="2600" b="0" cap="none" spc="0">
                          <a:solidFill>
                            <a:schemeClr val="tx1"/>
                          </a:solidFill>
                        </a:rPr>
                        <a:t>Variable Name</a:t>
                      </a:r>
                    </a:p>
                  </a:txBody>
                  <a:tcPr marL="0" marR="146788" marT="29357" marB="146788" anchor="b"/>
                </a:tc>
                <a:tc>
                  <a:txBody>
                    <a:bodyPr/>
                    <a:lstStyle/>
                    <a:p>
                      <a:pPr algn="ctr"/>
                      <a:r>
                        <a:rPr lang="en-GB" sz="2600" b="0" cap="none" spc="0">
                          <a:solidFill>
                            <a:schemeClr val="tx1"/>
                          </a:solidFill>
                        </a:rPr>
                        <a:t>Status</a:t>
                      </a:r>
                    </a:p>
                  </a:txBody>
                  <a:tcPr marL="0" marR="146788" marT="29357" marB="146788" anchor="b"/>
                </a:tc>
                <a:extLst>
                  <a:ext uri="{0D108BD9-81ED-4DB2-BD59-A6C34878D82A}">
                    <a16:rowId xmlns:a16="http://schemas.microsoft.com/office/drawing/2014/main" val="1461837237"/>
                  </a:ext>
                </a:extLst>
              </a:tr>
              <a:tr h="515247">
                <a:tc>
                  <a:txBody>
                    <a:bodyPr/>
                    <a:lstStyle/>
                    <a:p>
                      <a:pPr algn="l" rtl="0"/>
                      <a:r>
                        <a:rPr lang="en-GB" sz="1900" cap="none" spc="0">
                          <a:solidFill>
                            <a:schemeClr val="tx1"/>
                          </a:solidFill>
                        </a:rPr>
                        <a:t>1st_num</a:t>
                      </a:r>
                    </a:p>
                  </a:txBody>
                  <a:tcPr marL="0" marR="146788" marT="44036" marB="146788"/>
                </a:tc>
                <a:tc>
                  <a:txBody>
                    <a:bodyPr/>
                    <a:lstStyle/>
                    <a:p>
                      <a:pPr algn="ctr" rtl="0"/>
                      <a:r>
                        <a:rPr lang="en-GB" sz="1900" cap="none" spc="0">
                          <a:solidFill>
                            <a:schemeClr val="tx1"/>
                          </a:solidFill>
                        </a:rPr>
                        <a:t>x</a:t>
                      </a:r>
                    </a:p>
                  </a:txBody>
                  <a:tcPr marL="0" marR="146788" marT="44036" marB="146788"/>
                </a:tc>
                <a:extLst>
                  <a:ext uri="{0D108BD9-81ED-4DB2-BD59-A6C34878D82A}">
                    <a16:rowId xmlns:a16="http://schemas.microsoft.com/office/drawing/2014/main" val="77916135"/>
                  </a:ext>
                </a:extLst>
              </a:tr>
              <a:tr h="515247">
                <a:tc>
                  <a:txBody>
                    <a:bodyPr/>
                    <a:lstStyle/>
                    <a:p>
                      <a:pPr algn="l" rtl="0"/>
                      <a:r>
                        <a:rPr lang="en-GB" sz="1900" cap="none" spc="0" dirty="0">
                          <a:solidFill>
                            <a:schemeClr val="tx1"/>
                          </a:solidFill>
                        </a:rPr>
                        <a:t>Buffer_20</a:t>
                      </a:r>
                    </a:p>
                  </a:txBody>
                  <a:tcPr marL="0" marR="146788" marT="44036" marB="146788"/>
                </a:tc>
                <a:tc>
                  <a:txBody>
                    <a:bodyPr/>
                    <a:lstStyle/>
                    <a:p>
                      <a:pPr algn="ctr" rtl="0"/>
                      <a:r>
                        <a:rPr lang="en-GB" sz="1900" cap="none" spc="0">
                          <a:solidFill>
                            <a:schemeClr val="tx1"/>
                          </a:solidFill>
                        </a:rPr>
                        <a:t>√</a:t>
                      </a:r>
                    </a:p>
                  </a:txBody>
                  <a:tcPr marL="0" marR="146788" marT="44036" marB="146788"/>
                </a:tc>
                <a:extLst>
                  <a:ext uri="{0D108BD9-81ED-4DB2-BD59-A6C34878D82A}">
                    <a16:rowId xmlns:a16="http://schemas.microsoft.com/office/drawing/2014/main" val="1998331270"/>
                  </a:ext>
                </a:extLst>
              </a:tr>
              <a:tr h="515247">
                <a:tc>
                  <a:txBody>
                    <a:bodyPr/>
                    <a:lstStyle/>
                    <a:p>
                      <a:pPr algn="l" rtl="0"/>
                      <a:r>
                        <a:rPr lang="en-GB" sz="1900" cap="none" spc="0">
                          <a:solidFill>
                            <a:schemeClr val="tx1"/>
                          </a:solidFill>
                        </a:rPr>
                        <a:t>_city</a:t>
                      </a:r>
                    </a:p>
                  </a:txBody>
                  <a:tcPr marL="0" marR="146788" marT="44036" marB="1467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900" b="0" u="none" strike="noStrike" kern="1200" cap="none" spc="0" normalizeH="0" baseline="0" noProof="0">
                          <a:ln>
                            <a:noFill/>
                          </a:ln>
                          <a:solidFill>
                            <a:schemeClr val="tx1"/>
                          </a:solidFill>
                          <a:effectLst/>
                          <a:uLnTx/>
                          <a:uFillTx/>
                        </a:rPr>
                        <a:t>√</a:t>
                      </a:r>
                      <a:endParaRPr kumimoji="0" lang="en-GB" sz="1900" b="0" i="0" u="none" strike="noStrike" kern="1200" cap="none" spc="0" normalizeH="0" baseline="0" noProof="0">
                        <a:ln>
                          <a:noFill/>
                        </a:ln>
                        <a:solidFill>
                          <a:schemeClr val="tx1"/>
                        </a:solidFill>
                        <a:effectLst/>
                        <a:uLnTx/>
                        <a:uFillTx/>
                        <a:latin typeface="Calibri"/>
                        <a:ea typeface="+mn-ea"/>
                        <a:cs typeface="+mn-cs"/>
                      </a:endParaRPr>
                    </a:p>
                  </a:txBody>
                  <a:tcPr marL="0" marR="146788" marT="44036" marB="146788"/>
                </a:tc>
                <a:extLst>
                  <a:ext uri="{0D108BD9-81ED-4DB2-BD59-A6C34878D82A}">
                    <a16:rowId xmlns:a16="http://schemas.microsoft.com/office/drawing/2014/main" val="177574544"/>
                  </a:ext>
                </a:extLst>
              </a:tr>
              <a:tr h="515247">
                <a:tc>
                  <a:txBody>
                    <a:bodyPr/>
                    <a:lstStyle/>
                    <a:p>
                      <a:pPr algn="l" rtl="0"/>
                      <a:r>
                        <a:rPr lang="en-GB" sz="1900" cap="none" spc="0">
                          <a:solidFill>
                            <a:schemeClr val="tx1"/>
                          </a:solidFill>
                        </a:rPr>
                        <a:t>std   id:</a:t>
                      </a:r>
                    </a:p>
                  </a:txBody>
                  <a:tcPr marL="0" marR="146788" marT="44036" marB="1467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900" b="0" u="none" strike="noStrike" kern="1200" cap="none" spc="0" normalizeH="0" baseline="0" noProof="0">
                          <a:ln>
                            <a:noFill/>
                          </a:ln>
                          <a:solidFill>
                            <a:schemeClr val="tx1"/>
                          </a:solidFill>
                          <a:effectLst/>
                          <a:uLnTx/>
                          <a:uFillTx/>
                        </a:rPr>
                        <a:t>x</a:t>
                      </a:r>
                      <a:endParaRPr kumimoji="0" lang="en-GB" sz="1900" b="0" i="0" u="none" strike="noStrike" kern="1200" cap="none" spc="0" normalizeH="0" baseline="0" noProof="0">
                        <a:ln>
                          <a:noFill/>
                        </a:ln>
                        <a:solidFill>
                          <a:schemeClr val="tx1"/>
                        </a:solidFill>
                        <a:effectLst/>
                        <a:uLnTx/>
                        <a:uFillTx/>
                        <a:latin typeface="Calibri"/>
                        <a:ea typeface="+mn-ea"/>
                        <a:cs typeface="+mn-cs"/>
                      </a:endParaRPr>
                    </a:p>
                  </a:txBody>
                  <a:tcPr marL="0" marR="146788" marT="44036" marB="146788"/>
                </a:tc>
                <a:extLst>
                  <a:ext uri="{0D108BD9-81ED-4DB2-BD59-A6C34878D82A}">
                    <a16:rowId xmlns:a16="http://schemas.microsoft.com/office/drawing/2014/main" val="1619320641"/>
                  </a:ext>
                </a:extLst>
              </a:tr>
              <a:tr h="515247">
                <a:tc>
                  <a:txBody>
                    <a:bodyPr/>
                    <a:lstStyle/>
                    <a:p>
                      <a:pPr algn="l" rtl="0"/>
                      <a:r>
                        <a:rPr lang="en-GB" sz="1900" cap="none" spc="0">
                          <a:solidFill>
                            <a:schemeClr val="tx1"/>
                          </a:solidFill>
                        </a:rPr>
                        <a:t>sum&amp;avg</a:t>
                      </a:r>
                    </a:p>
                  </a:txBody>
                  <a:tcPr marL="0" marR="146788" marT="44036" marB="1467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900" b="0" u="none" strike="noStrike" kern="1200" cap="none" spc="0" normalizeH="0" baseline="0" noProof="0">
                          <a:ln>
                            <a:noFill/>
                          </a:ln>
                          <a:solidFill>
                            <a:schemeClr val="tx1"/>
                          </a:solidFill>
                          <a:effectLst/>
                          <a:uLnTx/>
                          <a:uFillTx/>
                        </a:rPr>
                        <a:t>x</a:t>
                      </a:r>
                      <a:endParaRPr kumimoji="0" lang="en-GB" sz="1900" b="0" i="0" u="none" strike="noStrike" kern="1200" cap="none" spc="0" normalizeH="0" baseline="0" noProof="0">
                        <a:ln>
                          <a:noFill/>
                        </a:ln>
                        <a:solidFill>
                          <a:schemeClr val="tx1"/>
                        </a:solidFill>
                        <a:effectLst/>
                        <a:uLnTx/>
                        <a:uFillTx/>
                        <a:latin typeface="Calibri"/>
                        <a:ea typeface="+mn-ea"/>
                        <a:cs typeface="+mn-cs"/>
                      </a:endParaRPr>
                    </a:p>
                  </a:txBody>
                  <a:tcPr marL="0" marR="146788" marT="44036" marB="146788"/>
                </a:tc>
                <a:extLst>
                  <a:ext uri="{0D108BD9-81ED-4DB2-BD59-A6C34878D82A}">
                    <a16:rowId xmlns:a16="http://schemas.microsoft.com/office/drawing/2014/main" val="2600072988"/>
                  </a:ext>
                </a:extLst>
              </a:tr>
              <a:tr h="515247">
                <a:tc>
                  <a:txBody>
                    <a:bodyPr/>
                    <a:lstStyle/>
                    <a:p>
                      <a:pPr algn="l" rtl="0"/>
                      <a:r>
                        <a:rPr lang="en-GB" sz="1900" cap="none" spc="0">
                          <a:solidFill>
                            <a:schemeClr val="tx1"/>
                          </a:solidFill>
                        </a:rPr>
                        <a:t>import</a:t>
                      </a:r>
                    </a:p>
                  </a:txBody>
                  <a:tcPr marL="0" marR="146788" marT="44036" marB="14678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900" b="0" u="none" strike="noStrike" kern="1200" cap="none" spc="0" normalizeH="0" baseline="0" noProof="0" dirty="0">
                          <a:ln>
                            <a:noFill/>
                          </a:ln>
                          <a:solidFill>
                            <a:schemeClr val="tx1"/>
                          </a:solidFill>
                          <a:effectLst/>
                          <a:uLnTx/>
                          <a:uFillTx/>
                        </a:rPr>
                        <a:t>x</a:t>
                      </a:r>
                      <a:endParaRPr kumimoji="0" lang="en-GB" sz="1900" b="0" i="0" u="none" strike="noStrike" kern="1200" cap="none" spc="0" normalizeH="0" baseline="0" noProof="0" dirty="0">
                        <a:ln>
                          <a:noFill/>
                        </a:ln>
                        <a:solidFill>
                          <a:schemeClr val="tx1"/>
                        </a:solidFill>
                        <a:effectLst/>
                        <a:uLnTx/>
                        <a:uFillTx/>
                        <a:latin typeface="Calibri"/>
                        <a:ea typeface="+mn-ea"/>
                        <a:cs typeface="+mn-cs"/>
                      </a:endParaRPr>
                    </a:p>
                  </a:txBody>
                  <a:tcPr marL="0" marR="146788" marT="44036" marB="146788"/>
                </a:tc>
                <a:extLst>
                  <a:ext uri="{0D108BD9-81ED-4DB2-BD59-A6C34878D82A}">
                    <a16:rowId xmlns:a16="http://schemas.microsoft.com/office/drawing/2014/main" val="922334795"/>
                  </a:ext>
                </a:extLst>
              </a:tr>
            </a:tbl>
          </a:graphicData>
        </a:graphic>
      </p:graphicFrame>
    </p:spTree>
    <p:extLst>
      <p:ext uri="{BB962C8B-B14F-4D97-AF65-F5344CB8AC3E}">
        <p14:creationId xmlns:p14="http://schemas.microsoft.com/office/powerpoint/2010/main" val="2167615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A44BAA-7EBC-45D0-393F-B59263C2E3F1}"/>
              </a:ext>
            </a:extLst>
          </p:cNvPr>
          <p:cNvSpPr>
            <a:spLocks noGrp="1"/>
          </p:cNvSpPr>
          <p:nvPr>
            <p:ph type="title"/>
          </p:nvPr>
        </p:nvSpPr>
        <p:spPr>
          <a:xfrm>
            <a:off x="640079" y="232676"/>
            <a:ext cx="10890929" cy="1387934"/>
          </a:xfrm>
        </p:spPr>
        <p:txBody>
          <a:bodyPr anchor="b">
            <a:normAutofit/>
          </a:bodyPr>
          <a:lstStyle/>
          <a:p>
            <a:r>
              <a:rPr lang="en-US" altLang="en-US" sz="3600" spc="-1" dirty="0">
                <a:solidFill>
                  <a:srgbClr val="333399"/>
                </a:solidFill>
                <a:uFill>
                  <a:solidFill>
                    <a:srgbClr val="FFFFFF"/>
                  </a:solidFill>
                </a:uFill>
                <a:latin typeface="Times" pitchFamily="2" charset="0"/>
                <a:ea typeface="+mn-ea"/>
                <a:cs typeface="+mn-cs"/>
              </a:rPr>
              <a:t>Constants</a:t>
            </a:r>
            <a:endParaRPr lang="en-US" sz="3600" spc="-1" dirty="0">
              <a:solidFill>
                <a:srgbClr val="333399"/>
              </a:solidFill>
              <a:uFill>
                <a:solidFill>
                  <a:srgbClr val="FFFFFF"/>
                </a:solidFill>
              </a:uFill>
              <a:latin typeface="Times" pitchFamily="2" charset="0"/>
              <a:ea typeface="+mn-ea"/>
              <a:cs typeface="+mn-cs"/>
            </a:endParaRPr>
          </a:p>
        </p:txBody>
      </p:sp>
      <p:sp>
        <p:nvSpPr>
          <p:cNvPr id="3" name="Content Placeholder 2">
            <a:extLst>
              <a:ext uri="{FF2B5EF4-FFF2-40B4-BE49-F238E27FC236}">
                <a16:creationId xmlns:a16="http://schemas.microsoft.com/office/drawing/2014/main" id="{2F05E5A9-BD22-801A-2999-A819333F8A07}"/>
              </a:ext>
            </a:extLst>
          </p:cNvPr>
          <p:cNvSpPr>
            <a:spLocks noGrp="1"/>
          </p:cNvSpPr>
          <p:nvPr>
            <p:ph idx="1"/>
          </p:nvPr>
        </p:nvSpPr>
        <p:spPr>
          <a:xfrm>
            <a:off x="640078" y="2378898"/>
            <a:ext cx="10890929" cy="3536241"/>
          </a:xfrm>
        </p:spPr>
        <p:txBody>
          <a:bodyPr>
            <a:noAutofit/>
          </a:bodyPr>
          <a:lstStyle/>
          <a:p>
            <a:pPr marL="365760" lvl="1" indent="-256032" rtl="0">
              <a:buClr>
                <a:schemeClr val="accent3">
                  <a:lumMod val="75000"/>
                </a:schemeClr>
              </a:buClr>
              <a:buFont typeface="Georgia"/>
              <a:buChar char="•"/>
              <a:defRPr/>
            </a:pPr>
            <a:r>
              <a:rPr lang="en-GB" altLang="en-US" sz="2800" dirty="0">
                <a:cs typeface="Courier New" panose="02070309020205020404" pitchFamily="49" charset="0"/>
              </a:rPr>
              <a:t>A constant is a variable whose value cannot be changed</a:t>
            </a:r>
          </a:p>
          <a:p>
            <a:pPr marL="365760" lvl="1" indent="-256032" rtl="0">
              <a:buClr>
                <a:schemeClr val="accent3">
                  <a:lumMod val="75000"/>
                </a:schemeClr>
              </a:buClr>
              <a:buFont typeface="Georgia"/>
              <a:buChar char="•"/>
              <a:defRPr/>
            </a:pPr>
            <a:r>
              <a:rPr lang="en-GB" altLang="en-US" sz="2800" dirty="0">
                <a:cs typeface="Courier New" panose="02070309020205020404" pitchFamily="49" charset="0"/>
              </a:rPr>
              <a:t>To distinguish between a variable &amp; a constant, programmes used to write constants in all capital letters and underscores separating the words</a:t>
            </a:r>
          </a:p>
          <a:p>
            <a:pPr marL="365760" lvl="1" indent="-256032" rtl="0">
              <a:buClr>
                <a:schemeClr val="accent3">
                  <a:lumMod val="75000"/>
                </a:schemeClr>
              </a:buClr>
              <a:buFont typeface="Georgia"/>
              <a:buChar char="•"/>
              <a:defRPr/>
            </a:pPr>
            <a:r>
              <a:rPr lang="en-GB" altLang="en-US" sz="2800" dirty="0">
                <a:cs typeface="Courier New" panose="02070309020205020404" pitchFamily="49" charset="0"/>
              </a:rPr>
              <a:t>Constants follow the same naming rules of variables</a:t>
            </a:r>
          </a:p>
          <a:p>
            <a:pPr marL="365760" lvl="1" indent="-256032" rtl="0">
              <a:buClr>
                <a:schemeClr val="accent3">
                  <a:lumMod val="75000"/>
                </a:schemeClr>
              </a:buClr>
              <a:buFont typeface="Georgia"/>
              <a:buChar char="•"/>
              <a:defRPr/>
            </a:pPr>
            <a:r>
              <a:rPr lang="en-GB" altLang="en-US" sz="2800" b="1" dirty="0">
                <a:cs typeface="Courier New" panose="02070309020205020404" pitchFamily="49" charset="0"/>
              </a:rPr>
              <a:t>Syntax:</a:t>
            </a:r>
          </a:p>
          <a:p>
            <a:pPr marL="361950" lvl="1" indent="0" rtl="0">
              <a:buClr>
                <a:schemeClr val="accent3">
                  <a:lumMod val="75000"/>
                </a:schemeClr>
              </a:buClr>
              <a:buNone/>
              <a:defRPr/>
            </a:pPr>
            <a:r>
              <a:rPr lang="en-GB" altLang="en-US" sz="2800" dirty="0">
                <a:cs typeface="Courier New" panose="02070309020205020404" pitchFamily="49" charset="0"/>
              </a:rPr>
              <a:t>CONSTANT_NAME = value</a:t>
            </a:r>
            <a:endParaRPr lang="en-US" sz="2800" dirty="0"/>
          </a:p>
        </p:txBody>
      </p:sp>
      <p:cxnSp>
        <p:nvCxnSpPr>
          <p:cNvPr id="10" name="Straight Connector 9">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8359748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E729B0-83B6-A019-3715-A7DFD38ADA34}"/>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2DD7A0-8113-53C4-C258-8116EFF867F5}"/>
              </a:ext>
            </a:extLst>
          </p:cNvPr>
          <p:cNvSpPr>
            <a:spLocks noGrp="1"/>
          </p:cNvSpPr>
          <p:nvPr>
            <p:ph type="title"/>
          </p:nvPr>
        </p:nvSpPr>
        <p:spPr>
          <a:xfrm>
            <a:off x="640080" y="1371600"/>
            <a:ext cx="5737859" cy="1097280"/>
          </a:xfrm>
        </p:spPr>
        <p:txBody>
          <a:bodyPr>
            <a:normAutofit/>
          </a:bodyPr>
          <a:lstStyle/>
          <a:p>
            <a:r>
              <a:rPr lang="en-US" altLang="en-US" b="1">
                <a:latin typeface="+mn-lt"/>
              </a:rPr>
              <a:t>Constants</a:t>
            </a:r>
            <a:endParaRPr lang="en-US" dirty="0"/>
          </a:p>
        </p:txBody>
      </p:sp>
      <p:cxnSp>
        <p:nvCxnSpPr>
          <p:cNvPr id="18" name="Straight Connector 17">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BFE0435-3111-19C5-7463-80ADAB523FCD}"/>
              </a:ext>
            </a:extLst>
          </p:cNvPr>
          <p:cNvSpPr>
            <a:spLocks noGrp="1"/>
          </p:cNvSpPr>
          <p:nvPr>
            <p:ph idx="1"/>
          </p:nvPr>
        </p:nvSpPr>
        <p:spPr>
          <a:xfrm>
            <a:off x="640080" y="2633236"/>
            <a:ext cx="5737860" cy="3666980"/>
          </a:xfrm>
        </p:spPr>
        <p:txBody>
          <a:bodyPr>
            <a:normAutofit/>
          </a:bodyPr>
          <a:lstStyle/>
          <a:p>
            <a:pPr marL="365760" lvl="1" indent="-256032" rtl="0">
              <a:buClr>
                <a:schemeClr val="accent3">
                  <a:lumMod val="75000"/>
                </a:schemeClr>
              </a:buClr>
              <a:buFont typeface="Georgia"/>
              <a:buChar char="•"/>
              <a:defRPr/>
            </a:pPr>
            <a:r>
              <a:rPr lang="en-GB" altLang="en-US" b="1" dirty="0">
                <a:cs typeface="Courier New" panose="02070309020205020404" pitchFamily="49" charset="0"/>
              </a:rPr>
              <a:t>In the following table, which constant names violate/conform to the naming rules &amp; programmers style</a:t>
            </a:r>
          </a:p>
          <a:p>
            <a:pPr marL="365760" lvl="1" indent="-256032" rtl="0">
              <a:buClr>
                <a:schemeClr val="accent3">
                  <a:lumMod val="75000"/>
                </a:schemeClr>
              </a:buClr>
              <a:buFont typeface="Georgia"/>
              <a:buChar char="•"/>
              <a:defRPr/>
            </a:pPr>
            <a:endParaRPr lang="en-GB" altLang="en-US" b="1" dirty="0">
              <a:cs typeface="Courier New" panose="02070309020205020404" pitchFamily="49" charset="0"/>
            </a:endParaRPr>
          </a:p>
        </p:txBody>
      </p:sp>
      <p:graphicFrame>
        <p:nvGraphicFramePr>
          <p:cNvPr id="4" name="Table 3">
            <a:extLst>
              <a:ext uri="{FF2B5EF4-FFF2-40B4-BE49-F238E27FC236}">
                <a16:creationId xmlns:a16="http://schemas.microsoft.com/office/drawing/2014/main" id="{3A392D60-81DF-2EB1-0BC9-28070CC12B97}"/>
              </a:ext>
            </a:extLst>
          </p:cNvPr>
          <p:cNvGraphicFramePr>
            <a:graphicFrameLocks noGrp="1"/>
          </p:cNvGraphicFramePr>
          <p:nvPr>
            <p:extLst>
              <p:ext uri="{D42A27DB-BD31-4B8C-83A1-F6EECF244321}">
                <p14:modId xmlns:p14="http://schemas.microsoft.com/office/powerpoint/2010/main" val="3159092158"/>
              </p:ext>
            </p:extLst>
          </p:nvPr>
        </p:nvGraphicFramePr>
        <p:xfrm>
          <a:off x="6586538" y="1539856"/>
          <a:ext cx="4944471" cy="4575192"/>
        </p:xfrm>
        <a:graphic>
          <a:graphicData uri="http://schemas.openxmlformats.org/drawingml/2006/table">
            <a:tbl>
              <a:tblPr firstRow="1" bandRow="1">
                <a:tableStyleId>{5C22544A-7EE6-4342-B048-85BDC9FD1C3A}</a:tableStyleId>
              </a:tblPr>
              <a:tblGrid>
                <a:gridCol w="3242313">
                  <a:extLst>
                    <a:ext uri="{9D8B030D-6E8A-4147-A177-3AD203B41FA5}">
                      <a16:colId xmlns:a16="http://schemas.microsoft.com/office/drawing/2014/main" val="3614933705"/>
                    </a:ext>
                  </a:extLst>
                </a:gridCol>
                <a:gridCol w="1702158">
                  <a:extLst>
                    <a:ext uri="{9D8B030D-6E8A-4147-A177-3AD203B41FA5}">
                      <a16:colId xmlns:a16="http://schemas.microsoft.com/office/drawing/2014/main" val="2099194401"/>
                    </a:ext>
                  </a:extLst>
                </a:gridCol>
              </a:tblGrid>
              <a:tr h="784806">
                <a:tc>
                  <a:txBody>
                    <a:bodyPr/>
                    <a:lstStyle/>
                    <a:p>
                      <a:pPr algn="ctr"/>
                      <a:r>
                        <a:rPr lang="en-GB" sz="1700" b="1" cap="all" spc="60">
                          <a:solidFill>
                            <a:schemeClr val="tx1"/>
                          </a:solidFill>
                        </a:rPr>
                        <a:t>Constant Name</a:t>
                      </a:r>
                    </a:p>
                  </a:txBody>
                  <a:tcPr marL="197023" marR="197023" marT="197023" marB="197023" anchor="b"/>
                </a:tc>
                <a:tc>
                  <a:txBody>
                    <a:bodyPr/>
                    <a:lstStyle/>
                    <a:p>
                      <a:pPr algn="ctr"/>
                      <a:r>
                        <a:rPr lang="en-GB" sz="1700" b="1" cap="all" spc="60">
                          <a:solidFill>
                            <a:schemeClr val="tx1"/>
                          </a:solidFill>
                        </a:rPr>
                        <a:t>Status</a:t>
                      </a:r>
                    </a:p>
                  </a:txBody>
                  <a:tcPr marL="197023" marR="197023" marT="197023" marB="197023" anchor="b"/>
                </a:tc>
                <a:extLst>
                  <a:ext uri="{0D108BD9-81ED-4DB2-BD59-A6C34878D82A}">
                    <a16:rowId xmlns:a16="http://schemas.microsoft.com/office/drawing/2014/main" val="1461837237"/>
                  </a:ext>
                </a:extLst>
              </a:tr>
              <a:tr h="631731">
                <a:tc>
                  <a:txBody>
                    <a:bodyPr/>
                    <a:lstStyle/>
                    <a:p>
                      <a:pPr algn="l" rtl="0"/>
                      <a:r>
                        <a:rPr lang="en-GB" sz="2300" cap="none" spc="0" dirty="0">
                          <a:solidFill>
                            <a:schemeClr val="tx1"/>
                          </a:solidFill>
                        </a:rPr>
                        <a:t>1st_num</a:t>
                      </a:r>
                    </a:p>
                  </a:txBody>
                  <a:tcPr marL="128757" marR="183939" marT="36787" marB="131348"/>
                </a:tc>
                <a:tc>
                  <a:txBody>
                    <a:bodyPr/>
                    <a:lstStyle/>
                    <a:p>
                      <a:pPr algn="ctr" rtl="0"/>
                      <a:r>
                        <a:rPr lang="en-GB" sz="2300" cap="none" spc="0">
                          <a:solidFill>
                            <a:schemeClr val="tx1"/>
                          </a:solidFill>
                        </a:rPr>
                        <a:t>x</a:t>
                      </a:r>
                    </a:p>
                  </a:txBody>
                  <a:tcPr marL="128757" marR="183939" marT="36787" marB="131348"/>
                </a:tc>
                <a:extLst>
                  <a:ext uri="{0D108BD9-81ED-4DB2-BD59-A6C34878D82A}">
                    <a16:rowId xmlns:a16="http://schemas.microsoft.com/office/drawing/2014/main" val="77916135"/>
                  </a:ext>
                </a:extLst>
              </a:tr>
              <a:tr h="631731">
                <a:tc>
                  <a:txBody>
                    <a:bodyPr/>
                    <a:lstStyle/>
                    <a:p>
                      <a:pPr algn="l" rtl="0"/>
                      <a:r>
                        <a:rPr lang="en-GB" sz="2300" cap="none" spc="0">
                          <a:solidFill>
                            <a:schemeClr val="tx1"/>
                          </a:solidFill>
                        </a:rPr>
                        <a:t>BUFFER-20</a:t>
                      </a:r>
                    </a:p>
                  </a:txBody>
                  <a:tcPr marL="128757" marR="183939" marT="36787" marB="131348"/>
                </a:tc>
                <a:tc>
                  <a:txBody>
                    <a:bodyPr/>
                    <a:lstStyle/>
                    <a:p>
                      <a:pPr algn="ctr" rtl="0"/>
                      <a:r>
                        <a:rPr lang="en-GB" sz="2300" cap="none" spc="0">
                          <a:solidFill>
                            <a:schemeClr val="tx1"/>
                          </a:solidFill>
                        </a:rPr>
                        <a:t>x</a:t>
                      </a:r>
                    </a:p>
                  </a:txBody>
                  <a:tcPr marL="128757" marR="183939" marT="36787" marB="131348"/>
                </a:tc>
                <a:extLst>
                  <a:ext uri="{0D108BD9-81ED-4DB2-BD59-A6C34878D82A}">
                    <a16:rowId xmlns:a16="http://schemas.microsoft.com/office/drawing/2014/main" val="1998331270"/>
                  </a:ext>
                </a:extLst>
              </a:tr>
              <a:tr h="631731">
                <a:tc>
                  <a:txBody>
                    <a:bodyPr/>
                    <a:lstStyle/>
                    <a:p>
                      <a:pPr algn="l" rtl="0"/>
                      <a:r>
                        <a:rPr lang="en-GB" sz="2300" cap="none" spc="0">
                          <a:solidFill>
                            <a:schemeClr val="tx1"/>
                          </a:solidFill>
                        </a:rPr>
                        <a:t>_CITY</a:t>
                      </a:r>
                    </a:p>
                  </a:txBody>
                  <a:tcPr marL="128757" marR="183939" marT="36787" marB="131348"/>
                </a:tc>
                <a:tc>
                  <a:txBody>
                    <a:bodyPr/>
                    <a:lstStyle/>
                    <a:p>
                      <a:pPr algn="ctr" rtl="0"/>
                      <a:r>
                        <a:rPr lang="en-GB" sz="2300" cap="none" spc="0">
                          <a:solidFill>
                            <a:schemeClr val="tx1"/>
                          </a:solidFill>
                        </a:rPr>
                        <a:t>√</a:t>
                      </a:r>
                    </a:p>
                  </a:txBody>
                  <a:tcPr marL="128757" marR="183939" marT="36787" marB="131348"/>
                </a:tc>
                <a:extLst>
                  <a:ext uri="{0D108BD9-81ED-4DB2-BD59-A6C34878D82A}">
                    <a16:rowId xmlns:a16="http://schemas.microsoft.com/office/drawing/2014/main" val="177574544"/>
                  </a:ext>
                </a:extLst>
              </a:tr>
              <a:tr h="631731">
                <a:tc>
                  <a:txBody>
                    <a:bodyPr/>
                    <a:lstStyle/>
                    <a:p>
                      <a:pPr algn="l" rtl="0"/>
                      <a:r>
                        <a:rPr lang="en-GB" sz="2300" cap="none" spc="0">
                          <a:solidFill>
                            <a:schemeClr val="tx1"/>
                          </a:solidFill>
                        </a:rPr>
                        <a:t>STUDENT_NAME</a:t>
                      </a:r>
                    </a:p>
                  </a:txBody>
                  <a:tcPr marL="128757" marR="183939" marT="36787" marB="13134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300" cap="none" spc="0">
                          <a:solidFill>
                            <a:schemeClr val="tx1"/>
                          </a:solidFill>
                        </a:rPr>
                        <a:t>√</a:t>
                      </a:r>
                    </a:p>
                  </a:txBody>
                  <a:tcPr marL="128757" marR="183939" marT="36787" marB="131348"/>
                </a:tc>
                <a:extLst>
                  <a:ext uri="{0D108BD9-81ED-4DB2-BD59-A6C34878D82A}">
                    <a16:rowId xmlns:a16="http://schemas.microsoft.com/office/drawing/2014/main" val="1619320641"/>
                  </a:ext>
                </a:extLst>
              </a:tr>
              <a:tr h="631731">
                <a:tc>
                  <a:txBody>
                    <a:bodyPr/>
                    <a:lstStyle/>
                    <a:p>
                      <a:pPr algn="l" rtl="0"/>
                      <a:r>
                        <a:rPr lang="en-GB" sz="2300" cap="none" spc="0" dirty="0">
                          <a:solidFill>
                            <a:schemeClr val="tx1"/>
                          </a:solidFill>
                        </a:rPr>
                        <a:t>SUM&amp;AVG</a:t>
                      </a:r>
                    </a:p>
                  </a:txBody>
                  <a:tcPr marL="128757" marR="183939" marT="36787" marB="13134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300" cap="none" spc="0">
                          <a:solidFill>
                            <a:schemeClr val="tx1"/>
                          </a:solidFill>
                        </a:rPr>
                        <a:t>x</a:t>
                      </a:r>
                    </a:p>
                  </a:txBody>
                  <a:tcPr marL="128757" marR="183939" marT="36787" marB="131348"/>
                </a:tc>
                <a:extLst>
                  <a:ext uri="{0D108BD9-81ED-4DB2-BD59-A6C34878D82A}">
                    <a16:rowId xmlns:a16="http://schemas.microsoft.com/office/drawing/2014/main" val="2600072988"/>
                  </a:ext>
                </a:extLst>
              </a:tr>
              <a:tr h="631731">
                <a:tc>
                  <a:txBody>
                    <a:bodyPr/>
                    <a:lstStyle/>
                    <a:p>
                      <a:pPr algn="l" rtl="0"/>
                      <a:r>
                        <a:rPr lang="en-GB" sz="2300" cap="none" spc="0">
                          <a:solidFill>
                            <a:schemeClr val="tx1"/>
                          </a:solidFill>
                        </a:rPr>
                        <a:t>RATE</a:t>
                      </a:r>
                    </a:p>
                  </a:txBody>
                  <a:tcPr marL="128757" marR="183939" marT="36787" marB="131348"/>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2300" cap="none" spc="0" dirty="0">
                          <a:solidFill>
                            <a:schemeClr val="tx1"/>
                          </a:solidFill>
                        </a:rPr>
                        <a:t>√</a:t>
                      </a:r>
                    </a:p>
                  </a:txBody>
                  <a:tcPr marL="128757" marR="183939" marT="36787" marB="131348"/>
                </a:tc>
                <a:extLst>
                  <a:ext uri="{0D108BD9-81ED-4DB2-BD59-A6C34878D82A}">
                    <a16:rowId xmlns:a16="http://schemas.microsoft.com/office/drawing/2014/main" val="4045486171"/>
                  </a:ext>
                </a:extLst>
              </a:tr>
            </a:tbl>
          </a:graphicData>
        </a:graphic>
      </p:graphicFrame>
    </p:spTree>
    <p:extLst>
      <p:ext uri="{BB962C8B-B14F-4D97-AF65-F5344CB8AC3E}">
        <p14:creationId xmlns:p14="http://schemas.microsoft.com/office/powerpoint/2010/main" val="27539841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CA902-AA58-03F0-090C-E27E6F34D8DE}"/>
              </a:ext>
            </a:extLst>
          </p:cNvPr>
          <p:cNvSpPr>
            <a:spLocks noGrp="1"/>
          </p:cNvSpPr>
          <p:nvPr>
            <p:ph type="title"/>
          </p:nvPr>
        </p:nvSpPr>
        <p:spPr>
          <a:xfrm>
            <a:off x="640216" y="140335"/>
            <a:ext cx="10890929" cy="1097280"/>
          </a:xfrm>
        </p:spPr>
        <p:txBody>
          <a:bodyPr/>
          <a:lstStyle/>
          <a:p>
            <a:r>
              <a:rPr lang="en-US" sz="3600" spc="-1" dirty="0">
                <a:solidFill>
                  <a:srgbClr val="333399"/>
                </a:solidFill>
                <a:uFill>
                  <a:solidFill>
                    <a:srgbClr val="FFFFFF"/>
                  </a:solidFill>
                </a:uFill>
                <a:latin typeface="Times" pitchFamily="2" charset="0"/>
                <a:ea typeface="+mn-ea"/>
                <a:cs typeface="+mn-cs"/>
              </a:rPr>
              <a:t>Keywords</a:t>
            </a:r>
          </a:p>
        </p:txBody>
      </p:sp>
      <p:pic>
        <p:nvPicPr>
          <p:cNvPr id="8" name="Content Placeholder 7" descr="A screenshot of a computer&#10;&#10;Description automatically generated">
            <a:extLst>
              <a:ext uri="{FF2B5EF4-FFF2-40B4-BE49-F238E27FC236}">
                <a16:creationId xmlns:a16="http://schemas.microsoft.com/office/drawing/2014/main" id="{0CC94DA7-E76C-8CAD-5BBB-0A19A5B078EA}"/>
              </a:ext>
            </a:extLst>
          </p:cNvPr>
          <p:cNvPicPr>
            <a:picLocks noGrp="1" noChangeAspect="1"/>
          </p:cNvPicPr>
          <p:nvPr>
            <p:ph idx="1"/>
          </p:nvPr>
        </p:nvPicPr>
        <p:blipFill>
          <a:blip r:embed="rId2">
            <a:duotone>
              <a:prstClr val="black"/>
              <a:schemeClr val="accent1">
                <a:tint val="45000"/>
                <a:satMod val="400000"/>
              </a:schemeClr>
            </a:duotone>
          </a:blip>
          <a:stretch>
            <a:fillRect/>
          </a:stretch>
        </p:blipFill>
        <p:spPr>
          <a:xfrm>
            <a:off x="1513680" y="2300919"/>
            <a:ext cx="8686800" cy="3505200"/>
          </a:xfrm>
        </p:spPr>
      </p:pic>
      <p:sp>
        <p:nvSpPr>
          <p:cNvPr id="10" name="TextBox 9">
            <a:extLst>
              <a:ext uri="{FF2B5EF4-FFF2-40B4-BE49-F238E27FC236}">
                <a16:creationId xmlns:a16="http://schemas.microsoft.com/office/drawing/2014/main" id="{8D94DB7E-5771-A7D6-9C12-50426C0CDE80}"/>
              </a:ext>
            </a:extLst>
          </p:cNvPr>
          <p:cNvSpPr txBox="1"/>
          <p:nvPr/>
        </p:nvSpPr>
        <p:spPr>
          <a:xfrm>
            <a:off x="864394" y="1307602"/>
            <a:ext cx="9594056" cy="923330"/>
          </a:xfrm>
          <a:prstGeom prst="rect">
            <a:avLst/>
          </a:prstGeom>
          <a:noFill/>
        </p:spPr>
        <p:txBody>
          <a:bodyPr wrap="square">
            <a:spAutoFit/>
          </a:bodyPr>
          <a:lstStyle/>
          <a:p>
            <a:pPr marL="743040" lvl="1" indent="-285480">
              <a:buClr>
                <a:srgbClr val="FF0000"/>
              </a:buClr>
              <a:buSzPct val="55000"/>
              <a:buFont typeface="Wingdings" charset="2"/>
              <a:buChar char=""/>
            </a:pPr>
            <a:r>
              <a:rPr lang="en-US" sz="1800" spc="-1" dirty="0">
                <a:solidFill>
                  <a:srgbClr val="000000"/>
                </a:solidFill>
                <a:uFill>
                  <a:solidFill>
                    <a:srgbClr val="FFFFFF"/>
                  </a:solidFill>
                </a:uFill>
                <a:latin typeface="Times" pitchFamily="2" charset="0"/>
              </a:rPr>
              <a:t>Some identifiers are part of Python itself. These identifiers are known as </a:t>
            </a:r>
            <a:r>
              <a:rPr lang="en-US" sz="1800" i="1" spc="-1" dirty="0">
                <a:solidFill>
                  <a:srgbClr val="000000"/>
                </a:solidFill>
                <a:uFill>
                  <a:solidFill>
                    <a:srgbClr val="FFFFFF"/>
                  </a:solidFill>
                </a:uFill>
                <a:latin typeface="Times" pitchFamily="2" charset="0"/>
              </a:rPr>
              <a:t>reserved words </a:t>
            </a:r>
            <a:r>
              <a:rPr lang="en-US" sz="1800" spc="-1" dirty="0">
                <a:solidFill>
                  <a:srgbClr val="000000"/>
                </a:solidFill>
                <a:uFill>
                  <a:solidFill>
                    <a:srgbClr val="FFFFFF"/>
                  </a:solidFill>
                </a:uFill>
                <a:latin typeface="Times" pitchFamily="2" charset="0"/>
              </a:rPr>
              <a:t>(or </a:t>
            </a:r>
            <a:r>
              <a:rPr lang="en-US" sz="1800" i="1" spc="-1" dirty="0">
                <a:solidFill>
                  <a:srgbClr val="000000"/>
                </a:solidFill>
                <a:uFill>
                  <a:solidFill>
                    <a:srgbClr val="FFFFFF"/>
                  </a:solidFill>
                </a:uFill>
                <a:latin typeface="Times" pitchFamily="2" charset="0"/>
              </a:rPr>
              <a:t>keywords</a:t>
            </a:r>
            <a:r>
              <a:rPr lang="en-US" sz="1800" spc="-1" dirty="0">
                <a:solidFill>
                  <a:srgbClr val="000000"/>
                </a:solidFill>
                <a:uFill>
                  <a:solidFill>
                    <a:srgbClr val="FFFFFF"/>
                  </a:solidFill>
                </a:uFill>
                <a:latin typeface="Times" pitchFamily="2" charset="0"/>
              </a:rPr>
              <a:t>). This means they are not available for you to use as a name for a variable, etc. in your program.</a:t>
            </a:r>
            <a:endParaRPr lang="en-US" sz="1600" spc="-1" dirty="0">
              <a:solidFill>
                <a:srgbClr val="000000"/>
              </a:solidFill>
              <a:uFill>
                <a:solidFill>
                  <a:srgbClr val="FFFFFF"/>
                </a:solidFill>
              </a:uFill>
              <a:latin typeface="Times" pitchFamily="2" charset="0"/>
            </a:endParaRPr>
          </a:p>
        </p:txBody>
      </p:sp>
    </p:spTree>
    <p:extLst>
      <p:ext uri="{BB962C8B-B14F-4D97-AF65-F5344CB8AC3E}">
        <p14:creationId xmlns:p14="http://schemas.microsoft.com/office/powerpoint/2010/main" val="28320736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01FB08-0D9A-744A-A038-1F1CE70734E6}"/>
              </a:ext>
            </a:extLst>
          </p:cNvPr>
          <p:cNvSpPr>
            <a:spLocks noGrp="1"/>
          </p:cNvSpPr>
          <p:nvPr>
            <p:ph idx="1"/>
          </p:nvPr>
        </p:nvSpPr>
        <p:spPr>
          <a:xfrm>
            <a:off x="838200" y="1825625"/>
            <a:ext cx="10515600" cy="4693708"/>
          </a:xfrm>
        </p:spPr>
        <p:txBody>
          <a:bodyPr>
            <a:normAutofit/>
          </a:bodyPr>
          <a:lstStyle/>
          <a:p>
            <a:pPr marL="0" indent="0">
              <a:buNone/>
            </a:pPr>
            <a:r>
              <a:rPr lang="en-US" b="1" dirty="0">
                <a:latin typeface="Times" pitchFamily="2" charset="0"/>
              </a:rPr>
              <a:t>You can produce new data (numeric or text) values in your program using </a:t>
            </a:r>
            <a:r>
              <a:rPr lang="en-US" b="1" i="1" dirty="0">
                <a:latin typeface="Times" pitchFamily="2" charset="0"/>
              </a:rPr>
              <a:t>expressions</a:t>
            </a:r>
            <a:r>
              <a:rPr lang="en-US" b="1" dirty="0">
                <a:latin typeface="Times" pitchFamily="2" charset="0"/>
              </a:rPr>
              <a:t> </a:t>
            </a:r>
          </a:p>
          <a:p>
            <a:endParaRPr lang="en-US" b="1" dirty="0">
              <a:latin typeface="Times" pitchFamily="2" charset="0"/>
            </a:endParaRPr>
          </a:p>
          <a:p>
            <a:endParaRPr lang="en-US" dirty="0"/>
          </a:p>
          <a:p>
            <a:pPr lvl="1"/>
            <a:endParaRPr lang="en-US" dirty="0"/>
          </a:p>
          <a:p>
            <a:endParaRPr lang="en-US" dirty="0"/>
          </a:p>
          <a:p>
            <a:pPr lvl="1"/>
            <a:endParaRPr lang="en-US" sz="2000" dirty="0"/>
          </a:p>
          <a:p>
            <a:pPr lvl="1"/>
            <a:endParaRPr lang="en-US" sz="2000" dirty="0"/>
          </a:p>
          <a:p>
            <a:endParaRPr lang="en-US" dirty="0"/>
          </a:p>
        </p:txBody>
      </p:sp>
      <p:sp>
        <p:nvSpPr>
          <p:cNvPr id="2" name="Title 1">
            <a:extLst>
              <a:ext uri="{FF2B5EF4-FFF2-40B4-BE49-F238E27FC236}">
                <a16:creationId xmlns:a16="http://schemas.microsoft.com/office/drawing/2014/main" id="{7384959B-1AF6-6242-9059-A58077684C69}"/>
              </a:ext>
            </a:extLst>
          </p:cNvPr>
          <p:cNvSpPr>
            <a:spLocks noGrp="1"/>
          </p:cNvSpPr>
          <p:nvPr>
            <p:ph type="title"/>
          </p:nvPr>
        </p:nvSpPr>
        <p:spPr>
          <a:xfrm>
            <a:off x="355789" y="241109"/>
            <a:ext cx="10890929" cy="1097280"/>
          </a:xfrm>
        </p:spPr>
        <p:txBody>
          <a:bodyPr/>
          <a:lstStyle/>
          <a:p>
            <a:r>
              <a:rPr lang="en-US" sz="3600" spc="-1" dirty="0">
                <a:solidFill>
                  <a:srgbClr val="333399"/>
                </a:solidFill>
                <a:uFill>
                  <a:solidFill>
                    <a:srgbClr val="FFFFFF"/>
                  </a:solidFill>
                </a:uFill>
                <a:latin typeface="Times" pitchFamily="2" charset="0"/>
                <a:ea typeface="+mn-ea"/>
                <a:cs typeface="+mn-cs"/>
              </a:rPr>
              <a:t>Expressions</a:t>
            </a:r>
          </a:p>
        </p:txBody>
      </p:sp>
      <p:sp>
        <p:nvSpPr>
          <p:cNvPr id="7" name="TextBox 6">
            <a:extLst>
              <a:ext uri="{FF2B5EF4-FFF2-40B4-BE49-F238E27FC236}">
                <a16:creationId xmlns:a16="http://schemas.microsoft.com/office/drawing/2014/main" id="{B8293BC0-D39E-6646-8F67-D91227DC65B3}"/>
              </a:ext>
            </a:extLst>
          </p:cNvPr>
          <p:cNvSpPr txBox="1"/>
          <p:nvPr/>
        </p:nvSpPr>
        <p:spPr>
          <a:xfrm>
            <a:off x="7452140" y="2697983"/>
            <a:ext cx="4265783" cy="2677656"/>
          </a:xfrm>
          <a:prstGeom prst="rect">
            <a:avLst/>
          </a:prstGeom>
          <a:noFill/>
          <a:ln>
            <a:solidFill>
              <a:srgbClr val="0070C0"/>
            </a:solidFill>
          </a:ln>
        </p:spPr>
        <p:txBody>
          <a:bodyPr wrap="square" rtlCol="0">
            <a:spAutoFit/>
          </a:bodyPr>
          <a:lstStyle/>
          <a:p>
            <a:r>
              <a:rPr lang="en-US" sz="2400" dirty="0"/>
              <a:t>x = 2 </a:t>
            </a:r>
            <a:r>
              <a:rPr lang="en-US" sz="2400" b="1" dirty="0">
                <a:solidFill>
                  <a:srgbClr val="FF0000"/>
                </a:solidFill>
              </a:rPr>
              <a:t>+</a:t>
            </a:r>
            <a:r>
              <a:rPr lang="en-US" sz="2400" dirty="0"/>
              <a:t> 3</a:t>
            </a:r>
          </a:p>
          <a:p>
            <a:r>
              <a:rPr lang="en-US" sz="2400" dirty="0"/>
              <a:t>print(x)</a:t>
            </a:r>
          </a:p>
          <a:p>
            <a:r>
              <a:rPr lang="en-US" sz="2400" dirty="0"/>
              <a:t>5</a:t>
            </a:r>
          </a:p>
          <a:p>
            <a:r>
              <a:rPr lang="en-US" sz="2400" dirty="0"/>
              <a:t>print(5 </a:t>
            </a:r>
            <a:r>
              <a:rPr lang="en-US" sz="2400" b="1" dirty="0">
                <a:solidFill>
                  <a:srgbClr val="FF0000"/>
                </a:solidFill>
              </a:rPr>
              <a:t>*</a:t>
            </a:r>
            <a:r>
              <a:rPr lang="en-US" sz="2400" dirty="0"/>
              <a:t> 7)</a:t>
            </a:r>
          </a:p>
          <a:p>
            <a:r>
              <a:rPr lang="en-US" sz="2400" dirty="0"/>
              <a:t>35</a:t>
            </a:r>
          </a:p>
          <a:p>
            <a:r>
              <a:rPr lang="en-US" sz="2400" dirty="0"/>
              <a:t>print("5" </a:t>
            </a:r>
            <a:r>
              <a:rPr lang="en-US" sz="2400" b="1" dirty="0">
                <a:solidFill>
                  <a:srgbClr val="FF0000"/>
                </a:solidFill>
              </a:rPr>
              <a:t>+</a:t>
            </a:r>
            <a:r>
              <a:rPr lang="en-US" sz="2400" dirty="0"/>
              <a:t> "7")</a:t>
            </a:r>
          </a:p>
          <a:p>
            <a:r>
              <a:rPr lang="en-US" sz="2400" dirty="0"/>
              <a:t>57</a:t>
            </a:r>
          </a:p>
        </p:txBody>
      </p:sp>
      <p:cxnSp>
        <p:nvCxnSpPr>
          <p:cNvPr id="5" name="Straight Arrow Connector 4">
            <a:extLst>
              <a:ext uri="{FF2B5EF4-FFF2-40B4-BE49-F238E27FC236}">
                <a16:creationId xmlns:a16="http://schemas.microsoft.com/office/drawing/2014/main" id="{8DB0859A-D2AF-3145-97B1-A60E06DC7EE5}"/>
              </a:ext>
            </a:extLst>
          </p:cNvPr>
          <p:cNvCxnSpPr>
            <a:cxnSpLocks/>
            <a:stCxn id="6" idx="2"/>
          </p:cNvCxnSpPr>
          <p:nvPr/>
        </p:nvCxnSpPr>
        <p:spPr>
          <a:xfrm flipH="1">
            <a:off x="5801254" y="2931218"/>
            <a:ext cx="2241966" cy="444137"/>
          </a:xfrm>
          <a:prstGeom prst="straightConnector1">
            <a:avLst/>
          </a:prstGeom>
          <a:ln>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65603DB3-6C66-7A4C-ADF9-6C5A324043A8}"/>
              </a:ext>
            </a:extLst>
          </p:cNvPr>
          <p:cNvSpPr/>
          <p:nvPr/>
        </p:nvSpPr>
        <p:spPr>
          <a:xfrm>
            <a:off x="8043220" y="2697400"/>
            <a:ext cx="728247" cy="467636"/>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sp>
        <p:nvSpPr>
          <p:cNvPr id="8" name="TextBox 7">
            <a:extLst>
              <a:ext uri="{FF2B5EF4-FFF2-40B4-BE49-F238E27FC236}">
                <a16:creationId xmlns:a16="http://schemas.microsoft.com/office/drawing/2014/main" id="{73901CAD-E355-B04C-A3BE-F89C4F060CDE}"/>
              </a:ext>
            </a:extLst>
          </p:cNvPr>
          <p:cNvSpPr txBox="1"/>
          <p:nvPr/>
        </p:nvSpPr>
        <p:spPr>
          <a:xfrm>
            <a:off x="853047" y="3010555"/>
            <a:ext cx="6277681" cy="3785652"/>
          </a:xfrm>
          <a:prstGeom prst="rect">
            <a:avLst/>
          </a:prstGeom>
          <a:noFill/>
          <a:ln>
            <a:noFill/>
          </a:ln>
        </p:spPr>
        <p:txBody>
          <a:bodyPr wrap="none" rtlCol="0">
            <a:spAutoFit/>
          </a:bodyPr>
          <a:lstStyle/>
          <a:p>
            <a:pPr marL="342900" indent="-342900">
              <a:buFont typeface="Wingdings" pitchFamily="2" charset="2"/>
              <a:buChar char="§"/>
            </a:pPr>
            <a:r>
              <a:rPr lang="en-US" sz="2400" dirty="0">
                <a:latin typeface="Times" pitchFamily="2" charset="0"/>
              </a:rPr>
              <a:t>This is an expression that uses the </a:t>
            </a:r>
            <a:br>
              <a:rPr lang="en-US" sz="2400" dirty="0">
                <a:solidFill>
                  <a:srgbClr val="00B050"/>
                </a:solidFill>
                <a:latin typeface="Times" pitchFamily="2" charset="0"/>
              </a:rPr>
            </a:br>
            <a:r>
              <a:rPr lang="en-US" sz="2400" i="1" dirty="0">
                <a:solidFill>
                  <a:srgbClr val="FF0000"/>
                </a:solidFill>
                <a:latin typeface="Times" pitchFamily="2" charset="0"/>
              </a:rPr>
              <a:t>addition</a:t>
            </a:r>
            <a:r>
              <a:rPr lang="en-US" sz="2400" dirty="0">
                <a:solidFill>
                  <a:srgbClr val="00B050"/>
                </a:solidFill>
                <a:latin typeface="Times" pitchFamily="2" charset="0"/>
              </a:rPr>
              <a:t> </a:t>
            </a:r>
            <a:r>
              <a:rPr lang="en-US" sz="2400" i="1" dirty="0">
                <a:latin typeface="Times" pitchFamily="2" charset="0"/>
              </a:rPr>
              <a:t>operator</a:t>
            </a:r>
          </a:p>
          <a:p>
            <a:pPr marL="342900" indent="-342900">
              <a:buFont typeface="Wingdings" pitchFamily="2" charset="2"/>
              <a:buChar char="§"/>
            </a:pPr>
            <a:endParaRPr lang="en-US" sz="2400" i="1" dirty="0">
              <a:solidFill>
                <a:srgbClr val="00B050"/>
              </a:solidFill>
              <a:latin typeface="Times" pitchFamily="2" charset="0"/>
            </a:endParaRPr>
          </a:p>
          <a:p>
            <a:pPr marL="342900" indent="-342900">
              <a:buFont typeface="Wingdings" pitchFamily="2" charset="2"/>
              <a:buChar char="§"/>
            </a:pPr>
            <a:r>
              <a:rPr lang="en-US" sz="2400" dirty="0">
                <a:latin typeface="Times" pitchFamily="2" charset="0"/>
              </a:rPr>
              <a:t>This is another expression that uses the </a:t>
            </a:r>
            <a:br>
              <a:rPr lang="en-US" sz="2400" dirty="0">
                <a:solidFill>
                  <a:srgbClr val="00B050"/>
                </a:solidFill>
                <a:latin typeface="Times" pitchFamily="2" charset="0"/>
              </a:rPr>
            </a:br>
            <a:r>
              <a:rPr lang="en-US" sz="2400" i="1" dirty="0">
                <a:solidFill>
                  <a:srgbClr val="FF0000"/>
                </a:solidFill>
                <a:latin typeface="Times" pitchFamily="2" charset="0"/>
              </a:rPr>
              <a:t>multiplication</a:t>
            </a:r>
            <a:r>
              <a:rPr lang="en-US" sz="2400" dirty="0">
                <a:solidFill>
                  <a:srgbClr val="00B050"/>
                </a:solidFill>
                <a:latin typeface="Times" pitchFamily="2" charset="0"/>
              </a:rPr>
              <a:t> </a:t>
            </a:r>
            <a:r>
              <a:rPr lang="en-US" sz="2400" i="1" dirty="0">
                <a:latin typeface="Times" pitchFamily="2" charset="0"/>
              </a:rPr>
              <a:t>operator</a:t>
            </a:r>
          </a:p>
          <a:p>
            <a:pPr marL="342900" indent="-342900">
              <a:buFont typeface="Wingdings" pitchFamily="2" charset="2"/>
              <a:buChar char="§"/>
            </a:pPr>
            <a:endParaRPr lang="en-US" sz="2400" dirty="0">
              <a:solidFill>
                <a:srgbClr val="00B050"/>
              </a:solidFill>
              <a:latin typeface="Times" pitchFamily="2" charset="0"/>
            </a:endParaRPr>
          </a:p>
          <a:p>
            <a:pPr marL="342900" indent="-342900">
              <a:buFont typeface="Wingdings" pitchFamily="2" charset="2"/>
              <a:buChar char="§"/>
            </a:pPr>
            <a:r>
              <a:rPr lang="en-US" sz="2400" dirty="0">
                <a:latin typeface="Times" pitchFamily="2" charset="0"/>
              </a:rPr>
              <a:t>This is yet another expression that uses the </a:t>
            </a:r>
            <a:br>
              <a:rPr lang="en-US" sz="2400" dirty="0">
                <a:solidFill>
                  <a:srgbClr val="00B050"/>
                </a:solidFill>
                <a:latin typeface="Times" pitchFamily="2" charset="0"/>
              </a:rPr>
            </a:br>
            <a:r>
              <a:rPr lang="en-US" sz="2400" i="1" dirty="0">
                <a:solidFill>
                  <a:srgbClr val="FF0000"/>
                </a:solidFill>
                <a:latin typeface="Times" pitchFamily="2" charset="0"/>
              </a:rPr>
              <a:t>addition</a:t>
            </a:r>
            <a:r>
              <a:rPr lang="en-US" sz="2400" i="1" dirty="0">
                <a:solidFill>
                  <a:srgbClr val="00B050"/>
                </a:solidFill>
                <a:latin typeface="Times" pitchFamily="2" charset="0"/>
              </a:rPr>
              <a:t> </a:t>
            </a:r>
            <a:r>
              <a:rPr lang="en-US" sz="2400" i="1" dirty="0">
                <a:latin typeface="Times" pitchFamily="2" charset="0"/>
              </a:rPr>
              <a:t>operator </a:t>
            </a:r>
            <a:r>
              <a:rPr lang="en-US" sz="2400" dirty="0">
                <a:latin typeface="Times" pitchFamily="2" charset="0"/>
              </a:rPr>
              <a:t>but</a:t>
            </a:r>
            <a:r>
              <a:rPr lang="en-US" sz="2400" i="1" dirty="0">
                <a:latin typeface="Times" pitchFamily="2" charset="0"/>
              </a:rPr>
              <a:t> </a:t>
            </a:r>
            <a:r>
              <a:rPr lang="en-US" sz="2400" dirty="0">
                <a:latin typeface="Times" pitchFamily="2" charset="0"/>
              </a:rPr>
              <a:t>to </a:t>
            </a:r>
            <a:r>
              <a:rPr lang="en-US" sz="2400" i="1" dirty="0">
                <a:latin typeface="Times" pitchFamily="2" charset="0"/>
              </a:rPr>
              <a:t>concatenate</a:t>
            </a:r>
            <a:r>
              <a:rPr lang="en-US" sz="2400" dirty="0">
                <a:latin typeface="Times" pitchFamily="2" charset="0"/>
              </a:rPr>
              <a:t> (or glue) </a:t>
            </a:r>
            <a:br>
              <a:rPr lang="en-US" sz="2400" dirty="0">
                <a:latin typeface="Times" pitchFamily="2" charset="0"/>
              </a:rPr>
            </a:br>
            <a:r>
              <a:rPr lang="en-US" sz="2400" dirty="0">
                <a:latin typeface="Times" pitchFamily="2" charset="0"/>
              </a:rPr>
              <a:t>strings together</a:t>
            </a:r>
          </a:p>
          <a:p>
            <a:endParaRPr lang="en-US" sz="2400" dirty="0">
              <a:solidFill>
                <a:srgbClr val="00B050"/>
              </a:solidFill>
            </a:endParaRPr>
          </a:p>
        </p:txBody>
      </p:sp>
      <p:sp>
        <p:nvSpPr>
          <p:cNvPr id="10" name="Oval 9">
            <a:extLst>
              <a:ext uri="{FF2B5EF4-FFF2-40B4-BE49-F238E27FC236}">
                <a16:creationId xmlns:a16="http://schemas.microsoft.com/office/drawing/2014/main" id="{17579E51-9A7C-B94A-A6CF-8A6AF126CEE3}"/>
              </a:ext>
            </a:extLst>
          </p:cNvPr>
          <p:cNvSpPr/>
          <p:nvPr/>
        </p:nvSpPr>
        <p:spPr>
          <a:xfrm>
            <a:off x="8307216" y="3803194"/>
            <a:ext cx="728247" cy="467636"/>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cxnSp>
        <p:nvCxnSpPr>
          <p:cNvPr id="12" name="Straight Arrow Connector 11">
            <a:extLst>
              <a:ext uri="{FF2B5EF4-FFF2-40B4-BE49-F238E27FC236}">
                <a16:creationId xmlns:a16="http://schemas.microsoft.com/office/drawing/2014/main" id="{8B6E3C8B-A0E9-8C47-8F00-F027C4E1C1AC}"/>
              </a:ext>
            </a:extLst>
          </p:cNvPr>
          <p:cNvCxnSpPr>
            <a:cxnSpLocks/>
            <a:stCxn id="10" idx="2"/>
          </p:cNvCxnSpPr>
          <p:nvPr/>
        </p:nvCxnSpPr>
        <p:spPr>
          <a:xfrm flipH="1">
            <a:off x="6449380" y="4037012"/>
            <a:ext cx="1857836" cy="365655"/>
          </a:xfrm>
          <a:prstGeom prst="straightConnector1">
            <a:avLst/>
          </a:prstGeom>
          <a:ln>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748FF88D-9206-BC46-8792-0744095D88B2}"/>
              </a:ext>
            </a:extLst>
          </p:cNvPr>
          <p:cNvSpPr/>
          <p:nvPr/>
        </p:nvSpPr>
        <p:spPr>
          <a:xfrm>
            <a:off x="8366539" y="4444452"/>
            <a:ext cx="1149994" cy="715870"/>
          </a:xfrm>
          <a:prstGeom prst="ellipse">
            <a:avLst/>
          </a:prstGeom>
          <a:noFill/>
          <a:ln>
            <a:solidFill>
              <a:srgbClr val="00B05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B050"/>
              </a:solidFill>
            </a:endParaRPr>
          </a:p>
        </p:txBody>
      </p:sp>
      <p:cxnSp>
        <p:nvCxnSpPr>
          <p:cNvPr id="13" name="Straight Arrow Connector 12">
            <a:extLst>
              <a:ext uri="{FF2B5EF4-FFF2-40B4-BE49-F238E27FC236}">
                <a16:creationId xmlns:a16="http://schemas.microsoft.com/office/drawing/2014/main" id="{FD58C270-1FDB-4D44-BA3B-FE672F0A688F}"/>
              </a:ext>
            </a:extLst>
          </p:cNvPr>
          <p:cNvCxnSpPr>
            <a:cxnSpLocks/>
            <a:stCxn id="11" idx="2"/>
          </p:cNvCxnSpPr>
          <p:nvPr/>
        </p:nvCxnSpPr>
        <p:spPr>
          <a:xfrm flipH="1">
            <a:off x="6449380" y="4802387"/>
            <a:ext cx="1917159" cy="357935"/>
          </a:xfrm>
          <a:prstGeom prst="straightConnector1">
            <a:avLst/>
          </a:prstGeom>
          <a:ln>
            <a:solidFill>
              <a:srgbClr val="00B050"/>
            </a:solidFill>
            <a:prstDash val="sys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31715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53EE035-37EF-1096-9BE7-2DC4028FA8C5}"/>
              </a:ext>
            </a:extLst>
          </p:cNvPr>
          <p:cNvSpPr>
            <a:spLocks noGrp="1"/>
          </p:cNvSpPr>
          <p:nvPr>
            <p:ph type="title"/>
          </p:nvPr>
        </p:nvSpPr>
        <p:spPr>
          <a:xfrm>
            <a:off x="640080" y="914399"/>
            <a:ext cx="10847494" cy="1171069"/>
          </a:xfrm>
        </p:spPr>
        <p:txBody>
          <a:bodyPr anchor="t">
            <a:normAutofit/>
          </a:bodyPr>
          <a:lstStyle/>
          <a:p>
            <a:r>
              <a:rPr lang="en-US" spc="-1" dirty="0">
                <a:solidFill>
                  <a:srgbClr val="333399"/>
                </a:solidFill>
                <a:uFill>
                  <a:solidFill>
                    <a:srgbClr val="FFFFFF"/>
                  </a:solidFill>
                </a:uFill>
                <a:latin typeface="Times" pitchFamily="2" charset="0"/>
                <a:ea typeface="+mn-ea"/>
                <a:cs typeface="+mn-cs"/>
              </a:rPr>
              <a:t>Data types: integers, floats, and strings</a:t>
            </a:r>
          </a:p>
        </p:txBody>
      </p:sp>
      <p:sp>
        <p:nvSpPr>
          <p:cNvPr id="3" name="Content Placeholder 2">
            <a:extLst>
              <a:ext uri="{FF2B5EF4-FFF2-40B4-BE49-F238E27FC236}">
                <a16:creationId xmlns:a16="http://schemas.microsoft.com/office/drawing/2014/main" id="{F89ECA39-CC12-87D8-9C0C-7FAF86F84700}"/>
              </a:ext>
            </a:extLst>
          </p:cNvPr>
          <p:cNvSpPr>
            <a:spLocks noGrp="1"/>
          </p:cNvSpPr>
          <p:nvPr>
            <p:ph idx="1"/>
          </p:nvPr>
        </p:nvSpPr>
        <p:spPr>
          <a:xfrm>
            <a:off x="6915150" y="2256287"/>
            <a:ext cx="4563618" cy="3760459"/>
          </a:xfrm>
        </p:spPr>
        <p:txBody>
          <a:bodyPr anchor="t">
            <a:normAutofit/>
          </a:bodyPr>
          <a:lstStyle/>
          <a:p>
            <a:pPr marL="0" indent="0">
              <a:buNone/>
            </a:pPr>
            <a:endParaRPr lang="en-US" dirty="0">
              <a:highlight>
                <a:srgbClr val="FFFF00"/>
              </a:highlight>
            </a:endParaRPr>
          </a:p>
          <a:p>
            <a:endParaRPr lang="en-US" dirty="0"/>
          </a:p>
        </p:txBody>
      </p:sp>
      <p:cxnSp>
        <p:nvCxnSpPr>
          <p:cNvPr id="11" name="Straight Connector 10">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4" name="Content Placeholder 6">
            <a:extLst>
              <a:ext uri="{FF2B5EF4-FFF2-40B4-BE49-F238E27FC236}">
                <a16:creationId xmlns:a16="http://schemas.microsoft.com/office/drawing/2014/main" id="{9587C651-BCB3-D566-246F-3AB730B61B91}"/>
              </a:ext>
            </a:extLst>
          </p:cNvPr>
          <p:cNvGraphicFramePr>
            <a:graphicFrameLocks/>
          </p:cNvGraphicFramePr>
          <p:nvPr>
            <p:extLst>
              <p:ext uri="{D42A27DB-BD31-4B8C-83A1-F6EECF244321}">
                <p14:modId xmlns:p14="http://schemas.microsoft.com/office/powerpoint/2010/main" val="1112628337"/>
              </p:ext>
            </p:extLst>
          </p:nvPr>
        </p:nvGraphicFramePr>
        <p:xfrm>
          <a:off x="1541907" y="1902727"/>
          <a:ext cx="5648194" cy="3052545"/>
        </p:xfrm>
        <a:graphic>
          <a:graphicData uri="http://schemas.openxmlformats.org/drawingml/2006/table">
            <a:tbl>
              <a:tblPr firstRow="1" bandRow="1">
                <a:tableStyleId>{5C22544A-7EE6-4342-B048-85BDC9FD1C3A}</a:tableStyleId>
              </a:tblPr>
              <a:tblGrid>
                <a:gridCol w="1616022">
                  <a:extLst>
                    <a:ext uri="{9D8B030D-6E8A-4147-A177-3AD203B41FA5}">
                      <a16:colId xmlns:a16="http://schemas.microsoft.com/office/drawing/2014/main" val="3225297474"/>
                    </a:ext>
                  </a:extLst>
                </a:gridCol>
                <a:gridCol w="4032172">
                  <a:extLst>
                    <a:ext uri="{9D8B030D-6E8A-4147-A177-3AD203B41FA5}">
                      <a16:colId xmlns:a16="http://schemas.microsoft.com/office/drawing/2014/main" val="216506508"/>
                    </a:ext>
                  </a:extLst>
                </a:gridCol>
              </a:tblGrid>
              <a:tr h="610509">
                <a:tc>
                  <a:txBody>
                    <a:bodyPr/>
                    <a:lstStyle/>
                    <a:p>
                      <a:pPr algn="ctr"/>
                      <a:r>
                        <a:rPr lang="en-GB" sz="2000" b="0" cap="none" spc="0">
                          <a:solidFill>
                            <a:schemeClr val="bg1"/>
                          </a:solidFill>
                        </a:rPr>
                        <a:t>Data Type</a:t>
                      </a:r>
                    </a:p>
                  </a:txBody>
                  <a:tcPr marL="167675" marR="128981" marT="128981" marB="128981" anchor="ctr"/>
                </a:tc>
                <a:tc>
                  <a:txBody>
                    <a:bodyPr/>
                    <a:lstStyle/>
                    <a:p>
                      <a:pPr algn="ctr"/>
                      <a:r>
                        <a:rPr lang="en-GB" sz="2000" b="0" cap="none" spc="0" dirty="0">
                          <a:solidFill>
                            <a:schemeClr val="bg1"/>
                          </a:solidFill>
                        </a:rPr>
                        <a:t>Example</a:t>
                      </a:r>
                    </a:p>
                  </a:txBody>
                  <a:tcPr marL="167675" marR="128981" marT="128981" marB="128981" anchor="ctr"/>
                </a:tc>
                <a:extLst>
                  <a:ext uri="{0D108BD9-81ED-4DB2-BD59-A6C34878D82A}">
                    <a16:rowId xmlns:a16="http://schemas.microsoft.com/office/drawing/2014/main" val="3681194440"/>
                  </a:ext>
                </a:extLst>
              </a:tr>
              <a:tr h="610509">
                <a:tc>
                  <a:txBody>
                    <a:bodyPr/>
                    <a:lstStyle/>
                    <a:p>
                      <a:pPr algn="r"/>
                      <a:r>
                        <a:rPr lang="en-GB" sz="2000" cap="none" spc="0">
                          <a:solidFill>
                            <a:schemeClr val="tx1"/>
                          </a:solidFill>
                        </a:rPr>
                        <a:t>Integers</a:t>
                      </a:r>
                    </a:p>
                  </a:txBody>
                  <a:tcPr marL="167675" marR="128981" marT="128981" marB="128981"/>
                </a:tc>
                <a:tc>
                  <a:txBody>
                    <a:bodyPr/>
                    <a:lstStyle/>
                    <a:p>
                      <a:pPr algn="l"/>
                      <a:r>
                        <a:rPr lang="en-GB" sz="2000" cap="none" spc="0">
                          <a:solidFill>
                            <a:schemeClr val="tx1"/>
                          </a:solidFill>
                        </a:rPr>
                        <a:t>12</a:t>
                      </a:r>
                    </a:p>
                  </a:txBody>
                  <a:tcPr marL="167675" marR="128981" marT="128981" marB="128981"/>
                </a:tc>
                <a:extLst>
                  <a:ext uri="{0D108BD9-81ED-4DB2-BD59-A6C34878D82A}">
                    <a16:rowId xmlns:a16="http://schemas.microsoft.com/office/drawing/2014/main" val="3909392351"/>
                  </a:ext>
                </a:extLst>
              </a:tr>
              <a:tr h="610509">
                <a:tc>
                  <a:txBody>
                    <a:bodyPr/>
                    <a:lstStyle/>
                    <a:p>
                      <a:pPr algn="r"/>
                      <a:r>
                        <a:rPr lang="en-GB" sz="2000" cap="none" spc="0">
                          <a:solidFill>
                            <a:schemeClr val="tx1"/>
                          </a:solidFill>
                        </a:rPr>
                        <a:t>Floats</a:t>
                      </a:r>
                    </a:p>
                  </a:txBody>
                  <a:tcPr marL="167675" marR="128981" marT="128981" marB="128981"/>
                </a:tc>
                <a:tc>
                  <a:txBody>
                    <a:bodyPr/>
                    <a:lstStyle/>
                    <a:p>
                      <a:pPr algn="l"/>
                      <a:r>
                        <a:rPr lang="en-GB" sz="2000" cap="none" spc="0">
                          <a:solidFill>
                            <a:schemeClr val="tx1"/>
                          </a:solidFill>
                        </a:rPr>
                        <a:t>2.75</a:t>
                      </a:r>
                    </a:p>
                  </a:txBody>
                  <a:tcPr marL="167675" marR="128981" marT="128981" marB="128981"/>
                </a:tc>
                <a:extLst>
                  <a:ext uri="{0D108BD9-81ED-4DB2-BD59-A6C34878D82A}">
                    <a16:rowId xmlns:a16="http://schemas.microsoft.com/office/drawing/2014/main" val="860541947"/>
                  </a:ext>
                </a:extLst>
              </a:tr>
              <a:tr h="610509">
                <a:tc>
                  <a:txBody>
                    <a:bodyPr/>
                    <a:lstStyle/>
                    <a:p>
                      <a:pPr algn="r"/>
                      <a:r>
                        <a:rPr lang="en-GB" sz="2000" cap="none" spc="0">
                          <a:solidFill>
                            <a:schemeClr val="tx1"/>
                          </a:solidFill>
                        </a:rPr>
                        <a:t>Strings</a:t>
                      </a:r>
                    </a:p>
                  </a:txBody>
                  <a:tcPr marL="167675" marR="128981" marT="128981" marB="128981"/>
                </a:tc>
                <a:tc>
                  <a:txBody>
                    <a:bodyPr/>
                    <a:lstStyle/>
                    <a:p>
                      <a:pPr algn="l"/>
                      <a:r>
                        <a:rPr lang="en-GB" sz="2000" cap="none" spc="0">
                          <a:solidFill>
                            <a:schemeClr val="tx1"/>
                          </a:solidFill>
                        </a:rPr>
                        <a:t>Hello friends</a:t>
                      </a:r>
                    </a:p>
                  </a:txBody>
                  <a:tcPr marL="167675" marR="128981" marT="128981" marB="128981"/>
                </a:tc>
                <a:extLst>
                  <a:ext uri="{0D108BD9-81ED-4DB2-BD59-A6C34878D82A}">
                    <a16:rowId xmlns:a16="http://schemas.microsoft.com/office/drawing/2014/main" val="1121274581"/>
                  </a:ext>
                </a:extLst>
              </a:tr>
              <a:tr h="610509">
                <a:tc>
                  <a:txBody>
                    <a:bodyPr/>
                    <a:lstStyle/>
                    <a:p>
                      <a:pPr algn="r"/>
                      <a:r>
                        <a:rPr lang="en-GB" sz="2000" cap="none" spc="0">
                          <a:solidFill>
                            <a:schemeClr val="tx1"/>
                          </a:solidFill>
                        </a:rPr>
                        <a:t>Booleans</a:t>
                      </a:r>
                    </a:p>
                  </a:txBody>
                  <a:tcPr marL="167675" marR="128981" marT="128981" marB="128981"/>
                </a:tc>
                <a:tc>
                  <a:txBody>
                    <a:bodyPr/>
                    <a:lstStyle/>
                    <a:p>
                      <a:pPr algn="l"/>
                      <a:r>
                        <a:rPr lang="en-GB" sz="2000" cap="none" spc="0" dirty="0">
                          <a:solidFill>
                            <a:schemeClr val="tx1"/>
                          </a:solidFill>
                        </a:rPr>
                        <a:t>one of two values: True or False</a:t>
                      </a:r>
                    </a:p>
                  </a:txBody>
                  <a:tcPr marL="167675" marR="128981" marT="128981" marB="128981"/>
                </a:tc>
                <a:extLst>
                  <a:ext uri="{0D108BD9-81ED-4DB2-BD59-A6C34878D82A}">
                    <a16:rowId xmlns:a16="http://schemas.microsoft.com/office/drawing/2014/main" val="4258031428"/>
                  </a:ext>
                </a:extLst>
              </a:tr>
            </a:tbl>
          </a:graphicData>
        </a:graphic>
      </p:graphicFrame>
    </p:spTree>
    <p:extLst>
      <p:ext uri="{BB962C8B-B14F-4D97-AF65-F5344CB8AC3E}">
        <p14:creationId xmlns:p14="http://schemas.microsoft.com/office/powerpoint/2010/main" val="17708719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A7E07-4C08-3C10-4638-1A906F93A577}"/>
              </a:ext>
            </a:extLst>
          </p:cNvPr>
          <p:cNvSpPr>
            <a:spLocks noGrp="1"/>
          </p:cNvSpPr>
          <p:nvPr>
            <p:ph type="title"/>
          </p:nvPr>
        </p:nvSpPr>
        <p:spPr>
          <a:xfrm>
            <a:off x="650535" y="228601"/>
            <a:ext cx="10890929" cy="1097280"/>
          </a:xfrm>
        </p:spPr>
        <p:txBody>
          <a:bodyPr>
            <a:normAutofit fontScale="90000"/>
          </a:bodyPr>
          <a:lstStyle/>
          <a:p>
            <a:r>
              <a:rPr lang="en-US" sz="3600" spc="-1" dirty="0">
                <a:solidFill>
                  <a:srgbClr val="333399"/>
                </a:solidFill>
                <a:uFill>
                  <a:solidFill>
                    <a:srgbClr val="FFFFFF"/>
                  </a:solidFill>
                </a:uFill>
                <a:latin typeface="Times" pitchFamily="2" charset="0"/>
                <a:ea typeface="+mn-ea"/>
                <a:cs typeface="+mn-cs"/>
              </a:rPr>
              <a:t>input/output (print, input)</a:t>
            </a:r>
            <a:br>
              <a:rPr lang="en-US" sz="3600" spc="-1" dirty="0">
                <a:solidFill>
                  <a:srgbClr val="333399"/>
                </a:solidFill>
                <a:uFill>
                  <a:solidFill>
                    <a:srgbClr val="FFFFFF"/>
                  </a:solidFill>
                </a:uFill>
                <a:latin typeface="Times" pitchFamily="2" charset="0"/>
                <a:ea typeface="+mn-ea"/>
                <a:cs typeface="+mn-cs"/>
              </a:rPr>
            </a:br>
            <a:endParaRPr lang="en-US" sz="3600" spc="-1" dirty="0">
              <a:solidFill>
                <a:srgbClr val="333399"/>
              </a:solidFill>
              <a:uFill>
                <a:solidFill>
                  <a:srgbClr val="FFFFFF"/>
                </a:solidFill>
              </a:uFill>
              <a:latin typeface="Times" pitchFamily="2" charset="0"/>
              <a:ea typeface="+mn-ea"/>
              <a:cs typeface="+mn-cs"/>
            </a:endParaRPr>
          </a:p>
        </p:txBody>
      </p:sp>
      <p:sp>
        <p:nvSpPr>
          <p:cNvPr id="3" name="Content Placeholder 2">
            <a:extLst>
              <a:ext uri="{FF2B5EF4-FFF2-40B4-BE49-F238E27FC236}">
                <a16:creationId xmlns:a16="http://schemas.microsoft.com/office/drawing/2014/main" id="{73127B44-E459-D702-0268-1681FB71439E}"/>
              </a:ext>
            </a:extLst>
          </p:cNvPr>
          <p:cNvSpPr>
            <a:spLocks noGrp="1"/>
          </p:cNvSpPr>
          <p:nvPr>
            <p:ph idx="1"/>
          </p:nvPr>
        </p:nvSpPr>
        <p:spPr>
          <a:xfrm>
            <a:off x="650535" y="1213745"/>
            <a:ext cx="10890928" cy="3566160"/>
          </a:xfrm>
        </p:spPr>
        <p:txBody>
          <a:bodyPr>
            <a:noAutofit/>
          </a:bodyPr>
          <a:lstStyle/>
          <a:p>
            <a:pPr marL="109728" lvl="1" indent="0" algn="l" rtl="0">
              <a:lnSpc>
                <a:spcPct val="150000"/>
              </a:lnSpc>
              <a:buClr>
                <a:schemeClr val="accent3">
                  <a:lumMod val="75000"/>
                </a:schemeClr>
              </a:buClr>
              <a:buNone/>
              <a:defRPr/>
            </a:pPr>
            <a:r>
              <a:rPr lang="en-GB" altLang="en-US" sz="2400" dirty="0">
                <a:latin typeface="Times" pitchFamily="2" charset="0"/>
                <a:cs typeface="Courier New" panose="02070309020205020404" pitchFamily="49" charset="0"/>
              </a:rPr>
              <a:t>The </a:t>
            </a:r>
            <a:r>
              <a:rPr lang="en-GB" altLang="en-US" sz="2400" b="1" dirty="0">
                <a:latin typeface="Times" pitchFamily="2" charset="0"/>
                <a:cs typeface="Courier New" panose="02070309020205020404" pitchFamily="49" charset="0"/>
              </a:rPr>
              <a:t>input() </a:t>
            </a:r>
            <a:r>
              <a:rPr lang="en-GB" altLang="en-US" sz="2400" dirty="0">
                <a:latin typeface="Times" pitchFamily="2" charset="0"/>
                <a:cs typeface="Courier New" panose="02070309020205020404" pitchFamily="49" charset="0"/>
              </a:rPr>
              <a:t>method asks the user for input and returns it</a:t>
            </a:r>
          </a:p>
          <a:p>
            <a:pPr marL="365760" lvl="1" indent="-256032" algn="l" rtl="0">
              <a:lnSpc>
                <a:spcPct val="150000"/>
              </a:lnSpc>
              <a:buClr>
                <a:schemeClr val="accent3">
                  <a:lumMod val="75000"/>
                </a:schemeClr>
              </a:buClr>
              <a:buFont typeface="Georgia"/>
              <a:buChar char="•"/>
              <a:defRPr/>
            </a:pPr>
            <a:r>
              <a:rPr lang="en-GB" altLang="en-US" sz="2400" dirty="0">
                <a:latin typeface="Times" pitchFamily="2" charset="0"/>
                <a:cs typeface="Courier New" panose="02070309020205020404" pitchFamily="49" charset="0"/>
              </a:rPr>
              <a:t>Its important to assign the </a:t>
            </a:r>
            <a:r>
              <a:rPr lang="en-GB" altLang="en-US" sz="2400" b="1" dirty="0">
                <a:latin typeface="Times" pitchFamily="2" charset="0"/>
                <a:cs typeface="Courier New" panose="02070309020205020404" pitchFamily="49" charset="0"/>
              </a:rPr>
              <a:t>input() </a:t>
            </a:r>
            <a:r>
              <a:rPr lang="en-GB" altLang="en-US" sz="2400" dirty="0">
                <a:latin typeface="Times" pitchFamily="2" charset="0"/>
                <a:cs typeface="Courier New" panose="02070309020205020404" pitchFamily="49" charset="0"/>
              </a:rPr>
              <a:t>method to a variable to store the input data</a:t>
            </a:r>
          </a:p>
          <a:p>
            <a:pPr marL="365760" lvl="1" indent="-256032" algn="l" rtl="0">
              <a:lnSpc>
                <a:spcPct val="150000"/>
              </a:lnSpc>
              <a:buClr>
                <a:schemeClr val="accent3">
                  <a:lumMod val="75000"/>
                </a:schemeClr>
              </a:buClr>
              <a:buFont typeface="Georgia"/>
              <a:buChar char="•"/>
              <a:defRPr/>
            </a:pPr>
            <a:r>
              <a:rPr lang="en-GB" altLang="en-US" sz="2400" dirty="0">
                <a:latin typeface="Times" pitchFamily="2" charset="0"/>
                <a:cs typeface="Courier New" panose="02070309020205020404" pitchFamily="49" charset="0"/>
              </a:rPr>
              <a:t>The </a:t>
            </a:r>
            <a:r>
              <a:rPr lang="en-GB" altLang="en-US" sz="2400" b="1" dirty="0">
                <a:latin typeface="Times" pitchFamily="2" charset="0"/>
                <a:cs typeface="Courier New" panose="02070309020205020404" pitchFamily="49" charset="0"/>
              </a:rPr>
              <a:t>print() </a:t>
            </a:r>
            <a:r>
              <a:rPr lang="en-GB" altLang="en-US" sz="2400" dirty="0">
                <a:latin typeface="Times" pitchFamily="2" charset="0"/>
                <a:cs typeface="Courier New" panose="02070309020205020404" pitchFamily="49" charset="0"/>
              </a:rPr>
              <a:t>function prints the specified message to a standard output device</a:t>
            </a:r>
          </a:p>
          <a:p>
            <a:pPr marL="365760" lvl="1" indent="-256032" algn="l" rtl="0">
              <a:lnSpc>
                <a:spcPct val="150000"/>
              </a:lnSpc>
              <a:buClr>
                <a:schemeClr val="accent3">
                  <a:lumMod val="75000"/>
                </a:schemeClr>
              </a:buClr>
              <a:buFont typeface="Georgia"/>
              <a:buChar char="•"/>
              <a:defRPr/>
            </a:pPr>
            <a:r>
              <a:rPr lang="en-US" altLang="en-US" sz="2400" dirty="0">
                <a:latin typeface="Times" pitchFamily="2" charset="0"/>
                <a:cs typeface="Courier New" panose="02070309020205020404" pitchFamily="49" charset="0"/>
              </a:rPr>
              <a:t>The </a:t>
            </a:r>
            <a:r>
              <a:rPr lang="en-US" altLang="en-US" sz="2400" b="1" dirty="0">
                <a:latin typeface="Times" pitchFamily="2" charset="0"/>
                <a:cs typeface="Courier New" panose="02070309020205020404" pitchFamily="49" charset="0"/>
              </a:rPr>
              <a:t>print() </a:t>
            </a:r>
            <a:r>
              <a:rPr lang="en-US" altLang="en-US" sz="2400" dirty="0">
                <a:latin typeface="Times" pitchFamily="2" charset="0"/>
                <a:cs typeface="Courier New" panose="02070309020205020404" pitchFamily="49" charset="0"/>
              </a:rPr>
              <a:t>uses the comma ( </a:t>
            </a:r>
            <a:r>
              <a:rPr lang="en-US" altLang="en-US" sz="2400" b="1" dirty="0">
                <a:latin typeface="Times" pitchFamily="2" charset="0"/>
                <a:cs typeface="Courier New" panose="02070309020205020404" pitchFamily="49" charset="0"/>
              </a:rPr>
              <a:t>,</a:t>
            </a:r>
            <a:r>
              <a:rPr lang="en-US" altLang="en-US" sz="2400" dirty="0">
                <a:latin typeface="Times" pitchFamily="2" charset="0"/>
                <a:cs typeface="Courier New" panose="02070309020205020404" pitchFamily="49" charset="0"/>
              </a:rPr>
              <a:t> ) to concatenate separate arguments passed to it, and it inserts a single space between them so that you don’t end up with a squashed message</a:t>
            </a:r>
          </a:p>
          <a:p>
            <a:pPr marL="109728" lvl="1" indent="0" algn="l" rtl="0">
              <a:lnSpc>
                <a:spcPct val="150000"/>
              </a:lnSpc>
              <a:buClr>
                <a:schemeClr val="accent3">
                  <a:lumMod val="75000"/>
                </a:schemeClr>
              </a:buClr>
              <a:buNone/>
              <a:defRPr/>
            </a:pPr>
            <a:r>
              <a:rPr lang="en-US" altLang="en-US" sz="2400" dirty="0">
                <a:latin typeface="Times" pitchFamily="2" charset="0"/>
                <a:cs typeface="Courier New" panose="02070309020205020404" pitchFamily="49" charset="0"/>
              </a:rPr>
              <a:t>Syntax:</a:t>
            </a:r>
          </a:p>
          <a:p>
            <a:pPr marL="365760" lvl="1" indent="-256032" algn="l" rtl="0">
              <a:lnSpc>
                <a:spcPct val="150000"/>
              </a:lnSpc>
              <a:buClr>
                <a:schemeClr val="accent3">
                  <a:lumMod val="75000"/>
                </a:schemeClr>
              </a:buClr>
              <a:buFont typeface="Georgia"/>
              <a:buChar char="•"/>
              <a:defRPr/>
            </a:pPr>
            <a:r>
              <a:rPr lang="en-US" altLang="en-US" sz="2400" dirty="0" err="1">
                <a:latin typeface="Times" pitchFamily="2" charset="0"/>
                <a:cs typeface="Courier New" panose="02070309020205020404" pitchFamily="49" charset="0"/>
              </a:rPr>
              <a:t>Variable_name</a:t>
            </a:r>
            <a:r>
              <a:rPr lang="en-US" altLang="en-US" sz="2400" dirty="0">
                <a:latin typeface="Times" pitchFamily="2" charset="0"/>
                <a:cs typeface="Courier New" panose="02070309020205020404" pitchFamily="49" charset="0"/>
              </a:rPr>
              <a:t> = input(“prompt message”)</a:t>
            </a:r>
            <a:endParaRPr lang="en-US" sz="2400" dirty="0">
              <a:latin typeface="Times" pitchFamily="2" charset="0"/>
            </a:endParaRPr>
          </a:p>
        </p:txBody>
      </p:sp>
    </p:spTree>
    <p:extLst>
      <p:ext uri="{BB962C8B-B14F-4D97-AF65-F5344CB8AC3E}">
        <p14:creationId xmlns:p14="http://schemas.microsoft.com/office/powerpoint/2010/main" val="192881625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B6699D-E2C8-2C67-F551-1A149C3E3637}"/>
              </a:ext>
            </a:extLst>
          </p:cNvPr>
          <p:cNvSpPr>
            <a:spLocks noGrp="1"/>
          </p:cNvSpPr>
          <p:nvPr>
            <p:ph type="title"/>
          </p:nvPr>
        </p:nvSpPr>
        <p:spPr>
          <a:xfrm>
            <a:off x="555858" y="288759"/>
            <a:ext cx="10890929" cy="1097280"/>
          </a:xfrm>
        </p:spPr>
        <p:txBody>
          <a:bodyPr>
            <a:normAutofit/>
          </a:bodyPr>
          <a:lstStyle/>
          <a:p>
            <a:r>
              <a:rPr lang="en-US" sz="3600" spc="-1" dirty="0">
                <a:solidFill>
                  <a:srgbClr val="333399"/>
                </a:solidFill>
                <a:uFill>
                  <a:solidFill>
                    <a:srgbClr val="FFFFFF"/>
                  </a:solidFill>
                </a:uFill>
                <a:latin typeface="Times" pitchFamily="2" charset="0"/>
                <a:ea typeface="+mn-ea"/>
                <a:cs typeface="+mn-cs"/>
              </a:rPr>
              <a:t>input</a:t>
            </a:r>
            <a:r>
              <a:rPr lang="en-US" sz="3600" dirty="0">
                <a:latin typeface="Times" pitchFamily="2" charset="0"/>
              </a:rPr>
              <a:t> (</a:t>
            </a:r>
            <a:r>
              <a:rPr lang="en-US" sz="3600" spc="-1" dirty="0">
                <a:solidFill>
                  <a:srgbClr val="333399"/>
                </a:solidFill>
                <a:uFill>
                  <a:solidFill>
                    <a:srgbClr val="FFFFFF"/>
                  </a:solidFill>
                </a:uFill>
                <a:latin typeface="Times" pitchFamily="2" charset="0"/>
                <a:ea typeface="+mn-ea"/>
                <a:cs typeface="+mn-cs"/>
              </a:rPr>
              <a:t>input</a:t>
            </a:r>
            <a:r>
              <a:rPr lang="en-US" sz="3600" dirty="0">
                <a:latin typeface="Times" pitchFamily="2" charset="0"/>
              </a:rPr>
              <a:t>)</a:t>
            </a:r>
          </a:p>
        </p:txBody>
      </p:sp>
      <p:sp>
        <p:nvSpPr>
          <p:cNvPr id="4" name="Content Placeholder 3">
            <a:extLst>
              <a:ext uri="{FF2B5EF4-FFF2-40B4-BE49-F238E27FC236}">
                <a16:creationId xmlns:a16="http://schemas.microsoft.com/office/drawing/2014/main" id="{F9C7EE4B-939D-7270-7CA9-6DF39FD5FB91}"/>
              </a:ext>
            </a:extLst>
          </p:cNvPr>
          <p:cNvSpPr>
            <a:spLocks noGrp="1"/>
          </p:cNvSpPr>
          <p:nvPr>
            <p:ph idx="1"/>
          </p:nvPr>
        </p:nvSpPr>
        <p:spPr>
          <a:xfrm>
            <a:off x="640080" y="1386039"/>
            <a:ext cx="10890928" cy="4813593"/>
          </a:xfrm>
        </p:spPr>
        <p:txBody>
          <a:bodyPr>
            <a:normAutofit/>
          </a:bodyPr>
          <a:lstStyle/>
          <a:p>
            <a:r>
              <a:rPr lang="en-GB" dirty="0"/>
              <a:t>Prints whatever is in the quotes </a:t>
            </a:r>
          </a:p>
          <a:p>
            <a:r>
              <a:rPr lang="en-GB" dirty="0"/>
              <a:t>User types in something and hits enter</a:t>
            </a:r>
          </a:p>
          <a:p>
            <a:r>
              <a:rPr lang="en-GB" dirty="0"/>
              <a:t>Binds that value to a variable</a:t>
            </a:r>
          </a:p>
          <a:p>
            <a:pPr lvl="8"/>
            <a:r>
              <a:rPr lang="en-GB" dirty="0"/>
              <a:t>                                   # output</a:t>
            </a:r>
          </a:p>
          <a:p>
            <a:endParaRPr lang="en-GB" dirty="0"/>
          </a:p>
          <a:p>
            <a:r>
              <a:rPr lang="en-GB" dirty="0"/>
              <a:t>`input` gives you a string, so must cast if working with numbers</a:t>
            </a:r>
          </a:p>
          <a:p>
            <a:pPr marL="0" indent="0">
              <a:buNone/>
            </a:pPr>
            <a:r>
              <a:rPr lang="en-GB" dirty="0"/>
              <a:t>						      # output</a:t>
            </a:r>
          </a:p>
        </p:txBody>
      </p:sp>
      <p:pic>
        <p:nvPicPr>
          <p:cNvPr id="12" name="Picture 11">
            <a:extLst>
              <a:ext uri="{FF2B5EF4-FFF2-40B4-BE49-F238E27FC236}">
                <a16:creationId xmlns:a16="http://schemas.microsoft.com/office/drawing/2014/main" id="{EC6F2A35-FBDE-59C1-89DE-2EEA58F9D1D4}"/>
              </a:ext>
            </a:extLst>
          </p:cNvPr>
          <p:cNvPicPr>
            <a:picLocks noChangeAspect="1"/>
          </p:cNvPicPr>
          <p:nvPr/>
        </p:nvPicPr>
        <p:blipFill>
          <a:blip r:embed="rId2"/>
          <a:srcRect r="13400" b="25915"/>
          <a:stretch>
            <a:fillRect/>
          </a:stretch>
        </p:blipFill>
        <p:spPr>
          <a:xfrm>
            <a:off x="1028627" y="2812774"/>
            <a:ext cx="5556418" cy="913066"/>
          </a:xfrm>
          <a:prstGeom prst="rect">
            <a:avLst/>
          </a:prstGeom>
        </p:spPr>
      </p:pic>
      <p:pic>
        <p:nvPicPr>
          <p:cNvPr id="14" name="Picture 13">
            <a:extLst>
              <a:ext uri="{FF2B5EF4-FFF2-40B4-BE49-F238E27FC236}">
                <a16:creationId xmlns:a16="http://schemas.microsoft.com/office/drawing/2014/main" id="{528DAFB4-C1F1-110F-79C9-84C75C4917D2}"/>
              </a:ext>
            </a:extLst>
          </p:cNvPr>
          <p:cNvPicPr>
            <a:picLocks noChangeAspect="1"/>
          </p:cNvPicPr>
          <p:nvPr/>
        </p:nvPicPr>
        <p:blipFill>
          <a:blip r:embed="rId3"/>
          <a:stretch>
            <a:fillRect/>
          </a:stretch>
        </p:blipFill>
        <p:spPr>
          <a:xfrm>
            <a:off x="1028627" y="4195681"/>
            <a:ext cx="5556418" cy="956894"/>
          </a:xfrm>
          <a:prstGeom prst="rect">
            <a:avLst/>
          </a:prstGeom>
        </p:spPr>
      </p:pic>
      <p:pic>
        <p:nvPicPr>
          <p:cNvPr id="16" name="Picture 15">
            <a:extLst>
              <a:ext uri="{FF2B5EF4-FFF2-40B4-BE49-F238E27FC236}">
                <a16:creationId xmlns:a16="http://schemas.microsoft.com/office/drawing/2014/main" id="{EEB7DBBB-33E0-A00B-C387-0C2B38444985}"/>
              </a:ext>
            </a:extLst>
          </p:cNvPr>
          <p:cNvPicPr>
            <a:picLocks noChangeAspect="1"/>
          </p:cNvPicPr>
          <p:nvPr/>
        </p:nvPicPr>
        <p:blipFill>
          <a:blip r:embed="rId4"/>
          <a:srcRect r="41806"/>
          <a:stretch>
            <a:fillRect/>
          </a:stretch>
        </p:blipFill>
        <p:spPr>
          <a:xfrm>
            <a:off x="6669267" y="3095647"/>
            <a:ext cx="2845877" cy="630194"/>
          </a:xfrm>
          <a:prstGeom prst="rect">
            <a:avLst/>
          </a:prstGeom>
        </p:spPr>
      </p:pic>
      <p:pic>
        <p:nvPicPr>
          <p:cNvPr id="18" name="Picture 17">
            <a:extLst>
              <a:ext uri="{FF2B5EF4-FFF2-40B4-BE49-F238E27FC236}">
                <a16:creationId xmlns:a16="http://schemas.microsoft.com/office/drawing/2014/main" id="{FED400D6-2AD4-42C7-0B54-754042608168}"/>
              </a:ext>
            </a:extLst>
          </p:cNvPr>
          <p:cNvPicPr>
            <a:picLocks noChangeAspect="1"/>
          </p:cNvPicPr>
          <p:nvPr/>
        </p:nvPicPr>
        <p:blipFill>
          <a:blip r:embed="rId5"/>
          <a:stretch>
            <a:fillRect/>
          </a:stretch>
        </p:blipFill>
        <p:spPr>
          <a:xfrm>
            <a:off x="6669267" y="4513810"/>
            <a:ext cx="2845877" cy="653020"/>
          </a:xfrm>
          <a:prstGeom prst="rect">
            <a:avLst/>
          </a:prstGeom>
        </p:spPr>
      </p:pic>
    </p:spTree>
    <p:extLst>
      <p:ext uri="{BB962C8B-B14F-4D97-AF65-F5344CB8AC3E}">
        <p14:creationId xmlns:p14="http://schemas.microsoft.com/office/powerpoint/2010/main" val="1958796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4569E2-DE3F-BB70-793C-9D25F27CF49F}"/>
              </a:ext>
            </a:extLst>
          </p:cNvPr>
          <p:cNvSpPr>
            <a:spLocks noGrp="1"/>
          </p:cNvSpPr>
          <p:nvPr>
            <p:ph type="title"/>
          </p:nvPr>
        </p:nvSpPr>
        <p:spPr>
          <a:xfrm>
            <a:off x="650535" y="312822"/>
            <a:ext cx="10890929" cy="1097280"/>
          </a:xfrm>
        </p:spPr>
        <p:txBody>
          <a:bodyPr>
            <a:normAutofit fontScale="90000"/>
          </a:bodyPr>
          <a:lstStyle/>
          <a:p>
            <a:r>
              <a:rPr lang="en-US" dirty="0">
                <a:latin typeface="Times" pitchFamily="2" charset="0"/>
              </a:rPr>
              <a:t>Output (</a:t>
            </a:r>
            <a:r>
              <a:rPr lang="en-US" spc="-1" dirty="0">
                <a:solidFill>
                  <a:srgbClr val="333399"/>
                </a:solidFill>
                <a:uFill>
                  <a:solidFill>
                    <a:srgbClr val="FFFFFF"/>
                  </a:solidFill>
                </a:uFill>
                <a:latin typeface="Times" pitchFamily="2" charset="0"/>
                <a:ea typeface="+mn-ea"/>
                <a:cs typeface="+mn-cs"/>
              </a:rPr>
              <a:t>print</a:t>
            </a:r>
            <a:r>
              <a:rPr lang="en-US" dirty="0">
                <a:latin typeface="Times" pitchFamily="2" charset="0"/>
              </a:rPr>
              <a:t>)</a:t>
            </a:r>
            <a:br>
              <a:rPr lang="en-US" dirty="0">
                <a:highlight>
                  <a:srgbClr val="FFFF00"/>
                </a:highlight>
              </a:rPr>
            </a:br>
            <a:endParaRPr lang="en-US" dirty="0"/>
          </a:p>
        </p:txBody>
      </p:sp>
      <p:sp>
        <p:nvSpPr>
          <p:cNvPr id="4" name="Content Placeholder 3">
            <a:extLst>
              <a:ext uri="{FF2B5EF4-FFF2-40B4-BE49-F238E27FC236}">
                <a16:creationId xmlns:a16="http://schemas.microsoft.com/office/drawing/2014/main" id="{918BC6C0-89C0-9E57-E802-2330ABEB069B}"/>
              </a:ext>
            </a:extLst>
          </p:cNvPr>
          <p:cNvSpPr>
            <a:spLocks noGrp="1"/>
          </p:cNvSpPr>
          <p:nvPr>
            <p:ph idx="1"/>
          </p:nvPr>
        </p:nvSpPr>
        <p:spPr>
          <a:xfrm>
            <a:off x="640080" y="1344304"/>
            <a:ext cx="10890928" cy="4855328"/>
          </a:xfrm>
        </p:spPr>
        <p:txBody>
          <a:bodyPr/>
          <a:lstStyle/>
          <a:p>
            <a:r>
              <a:rPr lang="en-GB" dirty="0"/>
              <a:t>Used to output stuff to console</a:t>
            </a:r>
          </a:p>
          <a:p>
            <a:r>
              <a:rPr lang="en-GB" dirty="0"/>
              <a:t>keyword is print</a:t>
            </a:r>
          </a:p>
          <a:p>
            <a:endParaRPr lang="en-GB" dirty="0"/>
          </a:p>
          <a:p>
            <a:pPr lvl="8"/>
            <a:r>
              <a:rPr lang="en-GB" dirty="0"/>
              <a:t>                                                            #output</a:t>
            </a:r>
          </a:p>
          <a:p>
            <a:endParaRPr lang="en-GB" dirty="0"/>
          </a:p>
        </p:txBody>
      </p:sp>
      <p:pic>
        <p:nvPicPr>
          <p:cNvPr id="10" name="Picture 9">
            <a:extLst>
              <a:ext uri="{FF2B5EF4-FFF2-40B4-BE49-F238E27FC236}">
                <a16:creationId xmlns:a16="http://schemas.microsoft.com/office/drawing/2014/main" id="{5B596C44-626A-A079-0686-30CB0CD24C27}"/>
              </a:ext>
            </a:extLst>
          </p:cNvPr>
          <p:cNvPicPr>
            <a:picLocks noChangeAspect="1"/>
          </p:cNvPicPr>
          <p:nvPr/>
        </p:nvPicPr>
        <p:blipFill>
          <a:blip r:embed="rId2"/>
          <a:stretch>
            <a:fillRect/>
          </a:stretch>
        </p:blipFill>
        <p:spPr>
          <a:xfrm>
            <a:off x="902218" y="2369859"/>
            <a:ext cx="7315433" cy="2829938"/>
          </a:xfrm>
          <a:prstGeom prst="rect">
            <a:avLst/>
          </a:prstGeom>
        </p:spPr>
      </p:pic>
      <p:pic>
        <p:nvPicPr>
          <p:cNvPr id="12" name="Picture 11">
            <a:extLst>
              <a:ext uri="{FF2B5EF4-FFF2-40B4-BE49-F238E27FC236}">
                <a16:creationId xmlns:a16="http://schemas.microsoft.com/office/drawing/2014/main" id="{5B8D5420-5D27-E12F-0F2A-9D67F65DE289}"/>
              </a:ext>
            </a:extLst>
          </p:cNvPr>
          <p:cNvPicPr>
            <a:picLocks noChangeAspect="1"/>
          </p:cNvPicPr>
          <p:nvPr/>
        </p:nvPicPr>
        <p:blipFill>
          <a:blip r:embed="rId3"/>
          <a:srcRect r="14724"/>
          <a:stretch>
            <a:fillRect/>
          </a:stretch>
        </p:blipFill>
        <p:spPr>
          <a:xfrm>
            <a:off x="8339427" y="3223761"/>
            <a:ext cx="3663780" cy="1162212"/>
          </a:xfrm>
          <a:prstGeom prst="rect">
            <a:avLst/>
          </a:prstGeom>
        </p:spPr>
      </p:pic>
    </p:spTree>
    <p:extLst>
      <p:ext uri="{BB962C8B-B14F-4D97-AF65-F5344CB8AC3E}">
        <p14:creationId xmlns:p14="http://schemas.microsoft.com/office/powerpoint/2010/main" val="7800063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0" name="Straight Connector 1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22" name="Rectangle 2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037921-5102-9950-E5CE-8BD1FD3AFBFC}"/>
              </a:ext>
            </a:extLst>
          </p:cNvPr>
          <p:cNvSpPr>
            <a:spLocks noGrp="1"/>
          </p:cNvSpPr>
          <p:nvPr>
            <p:ph type="title"/>
          </p:nvPr>
        </p:nvSpPr>
        <p:spPr>
          <a:xfrm>
            <a:off x="713232" y="408108"/>
            <a:ext cx="7769031" cy="819113"/>
          </a:xfrm>
        </p:spPr>
        <p:txBody>
          <a:bodyPr vert="horz" lIns="91440" tIns="45720" rIns="91440" bIns="45720" rtlCol="0" anchor="t">
            <a:normAutofit fontScale="90000"/>
          </a:bodyPr>
          <a:lstStyle/>
          <a:p>
            <a:r>
              <a:rPr lang="en-US" altLang="en-US" spc="-1" dirty="0">
                <a:solidFill>
                  <a:srgbClr val="333399"/>
                </a:solidFill>
                <a:uFill>
                  <a:solidFill>
                    <a:srgbClr val="FFFFFF"/>
                  </a:solidFill>
                </a:uFill>
                <a:latin typeface="Times" pitchFamily="2" charset="0"/>
                <a:ea typeface="+mn-ea"/>
                <a:cs typeface="+mn-cs"/>
              </a:rPr>
              <a:t>Example</a:t>
            </a:r>
            <a:br>
              <a:rPr lang="en-US" altLang="en-US" sz="4400" dirty="0"/>
            </a:br>
            <a:endParaRPr lang="en-US" sz="4400" dirty="0"/>
          </a:p>
        </p:txBody>
      </p:sp>
      <p:sp>
        <p:nvSpPr>
          <p:cNvPr id="6" name="TextBox 5">
            <a:extLst>
              <a:ext uri="{FF2B5EF4-FFF2-40B4-BE49-F238E27FC236}">
                <a16:creationId xmlns:a16="http://schemas.microsoft.com/office/drawing/2014/main" id="{8C008379-0789-80AC-03A1-28290E460AFE}"/>
              </a:ext>
            </a:extLst>
          </p:cNvPr>
          <p:cNvSpPr txBox="1"/>
          <p:nvPr/>
        </p:nvSpPr>
        <p:spPr>
          <a:xfrm>
            <a:off x="1528762" y="1396046"/>
            <a:ext cx="8358188" cy="1160231"/>
          </a:xfrm>
          <a:prstGeom prst="rect">
            <a:avLst/>
          </a:prstGeom>
        </p:spPr>
        <p:txBody>
          <a:bodyPr vert="horz" lIns="91440" tIns="45720" rIns="91440" bIns="45720" rtlCol="0" anchor="b">
            <a:normAutofit/>
          </a:bodyPr>
          <a:lstStyle/>
          <a:p>
            <a:pPr>
              <a:lnSpc>
                <a:spcPct val="130000"/>
              </a:lnSpc>
              <a:spcBef>
                <a:spcPts val="1000"/>
              </a:spcBef>
              <a:buSzPct val="87000"/>
            </a:pPr>
            <a:r>
              <a:rPr lang="en-US" altLang="en-US" b="1" cap="all" spc="300" dirty="0"/>
              <a:t>Ask for the user's name and print it</a:t>
            </a:r>
            <a:endParaRPr lang="en-US" b="1" cap="all" spc="300" dirty="0"/>
          </a:p>
        </p:txBody>
      </p:sp>
      <p:pic>
        <p:nvPicPr>
          <p:cNvPr id="4" name="Content Placeholder 3">
            <a:extLst>
              <a:ext uri="{FF2B5EF4-FFF2-40B4-BE49-F238E27FC236}">
                <a16:creationId xmlns:a16="http://schemas.microsoft.com/office/drawing/2014/main" id="{D77FAF22-803B-6D12-F8D1-6EB2E8C00084}"/>
              </a:ext>
            </a:extLst>
          </p:cNvPr>
          <p:cNvPicPr>
            <a:picLocks noGrp="1" noChangeAspect="1"/>
          </p:cNvPicPr>
          <p:nvPr>
            <p:ph idx="1"/>
          </p:nvPr>
        </p:nvPicPr>
        <p:blipFill rotWithShape="1">
          <a:blip r:embed="rId2"/>
          <a:srcRect l="19928" t="19693" r="52143" b="76510"/>
          <a:stretch/>
        </p:blipFill>
        <p:spPr>
          <a:xfrm>
            <a:off x="1843087" y="3021084"/>
            <a:ext cx="7290648" cy="557532"/>
          </a:xfrm>
          <a:prstGeom prst="rect">
            <a:avLst/>
          </a:prstGeom>
        </p:spPr>
      </p:pic>
      <p:cxnSp>
        <p:nvCxnSpPr>
          <p:cNvPr id="24" name="Straight Connector 23">
            <a:extLst>
              <a:ext uri="{FF2B5EF4-FFF2-40B4-BE49-F238E27FC236}">
                <a16:creationId xmlns:a16="http://schemas.microsoft.com/office/drawing/2014/main" id="{426B4E86-32C4-273A-1ADF-6B44243549D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0664652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69D9A6-6D52-A96D-E1E9-94900859ACCD}"/>
              </a:ext>
            </a:extLst>
          </p:cNvPr>
          <p:cNvSpPr>
            <a:spLocks noGrp="1"/>
          </p:cNvSpPr>
          <p:nvPr>
            <p:ph type="title"/>
          </p:nvPr>
        </p:nvSpPr>
        <p:spPr>
          <a:xfrm>
            <a:off x="650535" y="336885"/>
            <a:ext cx="10890929" cy="1097280"/>
          </a:xfrm>
        </p:spPr>
        <p:txBody>
          <a:bodyPr>
            <a:normAutofit fontScale="90000"/>
          </a:bodyPr>
          <a:lstStyle/>
          <a:p>
            <a:r>
              <a:rPr lang="en-US" altLang="en-US" spc="-1" dirty="0">
                <a:solidFill>
                  <a:srgbClr val="333399"/>
                </a:solidFill>
                <a:uFill>
                  <a:solidFill>
                    <a:srgbClr val="FFFFFF"/>
                  </a:solidFill>
                </a:uFill>
                <a:latin typeface="Times" pitchFamily="2" charset="0"/>
                <a:ea typeface="+mn-ea"/>
                <a:cs typeface="+mn-cs"/>
              </a:rPr>
              <a:t>Conversion</a:t>
            </a:r>
            <a:r>
              <a:rPr lang="en-US" altLang="en-US" sz="4000" b="1" dirty="0">
                <a:latin typeface="Times" pitchFamily="2" charset="0"/>
              </a:rPr>
              <a:t> </a:t>
            </a:r>
            <a:r>
              <a:rPr lang="en-US" altLang="en-US" spc="-1" dirty="0">
                <a:solidFill>
                  <a:srgbClr val="333399"/>
                </a:solidFill>
                <a:uFill>
                  <a:solidFill>
                    <a:srgbClr val="FFFFFF"/>
                  </a:solidFill>
                </a:uFill>
                <a:latin typeface="Times" pitchFamily="2" charset="0"/>
                <a:ea typeface="+mn-ea"/>
                <a:cs typeface="+mn-cs"/>
              </a:rPr>
              <a:t>Functions: int(), float()</a:t>
            </a:r>
            <a:br>
              <a:rPr lang="en-US" altLang="en-US" sz="4000" b="1" dirty="0">
                <a:solidFill>
                  <a:schemeClr val="accent2"/>
                </a:solidFill>
                <a:latin typeface="+mn-lt"/>
              </a:rPr>
            </a:br>
            <a:endParaRPr lang="en-US" dirty="0"/>
          </a:p>
        </p:txBody>
      </p:sp>
      <p:sp>
        <p:nvSpPr>
          <p:cNvPr id="3" name="Content Placeholder 2">
            <a:extLst>
              <a:ext uri="{FF2B5EF4-FFF2-40B4-BE49-F238E27FC236}">
                <a16:creationId xmlns:a16="http://schemas.microsoft.com/office/drawing/2014/main" id="{26B16303-F581-FF12-5066-3B73AF9ECBFA}"/>
              </a:ext>
            </a:extLst>
          </p:cNvPr>
          <p:cNvSpPr>
            <a:spLocks noGrp="1"/>
          </p:cNvSpPr>
          <p:nvPr>
            <p:ph idx="1"/>
          </p:nvPr>
        </p:nvSpPr>
        <p:spPr>
          <a:xfrm>
            <a:off x="650536" y="1434165"/>
            <a:ext cx="10890928" cy="3566160"/>
          </a:xfrm>
        </p:spPr>
        <p:txBody>
          <a:bodyPr/>
          <a:lstStyle/>
          <a:p>
            <a:pPr marL="365760" lvl="1" indent="-256032" algn="l" rtl="0">
              <a:lnSpc>
                <a:spcPct val="150000"/>
              </a:lnSpc>
              <a:buClr>
                <a:schemeClr val="accent3">
                  <a:lumMod val="75000"/>
                </a:schemeClr>
              </a:buClr>
              <a:buFont typeface="Georgia"/>
              <a:buChar char="•"/>
              <a:defRPr/>
            </a:pPr>
            <a:r>
              <a:rPr lang="en-GB" altLang="en-US" sz="2000" b="1" dirty="0">
                <a:latin typeface="Times" pitchFamily="2" charset="0"/>
                <a:cs typeface="Courier New" panose="02070309020205020404" pitchFamily="49" charset="0"/>
              </a:rPr>
              <a:t>int() </a:t>
            </a:r>
            <a:r>
              <a:rPr lang="en-GB" altLang="en-US" sz="2000" dirty="0">
                <a:latin typeface="Times" pitchFamily="2" charset="0"/>
                <a:cs typeface="Courier New" panose="02070309020205020404" pitchFamily="49" charset="0"/>
              </a:rPr>
              <a:t>function: converts from a string (or a float) to an integer</a:t>
            </a:r>
          </a:p>
          <a:p>
            <a:pPr marL="365760" lvl="1" indent="-256032" algn="l" rtl="0">
              <a:lnSpc>
                <a:spcPct val="150000"/>
              </a:lnSpc>
              <a:buClr>
                <a:schemeClr val="accent3">
                  <a:lumMod val="75000"/>
                </a:schemeClr>
              </a:buClr>
              <a:buFont typeface="Georgia"/>
              <a:buChar char="•"/>
              <a:defRPr/>
            </a:pPr>
            <a:r>
              <a:rPr lang="en-GB" altLang="en-US" sz="2000" b="1" dirty="0">
                <a:latin typeface="Times" pitchFamily="2" charset="0"/>
                <a:cs typeface="Courier New" panose="02070309020205020404" pitchFamily="49" charset="0"/>
              </a:rPr>
              <a:t>float() </a:t>
            </a:r>
            <a:r>
              <a:rPr lang="en-GB" altLang="en-US" sz="2000" dirty="0">
                <a:latin typeface="Times" pitchFamily="2" charset="0"/>
                <a:cs typeface="Courier New" panose="02070309020205020404" pitchFamily="49" charset="0"/>
              </a:rPr>
              <a:t>function: converts from a string (or an integer) to a float</a:t>
            </a:r>
          </a:p>
          <a:p>
            <a:pPr marL="365760" lvl="1" indent="-256032" algn="l" rtl="0">
              <a:lnSpc>
                <a:spcPct val="150000"/>
              </a:lnSpc>
              <a:buClr>
                <a:schemeClr val="accent3">
                  <a:lumMod val="75000"/>
                </a:schemeClr>
              </a:buClr>
              <a:buFont typeface="Georgia"/>
              <a:buChar char="•"/>
              <a:defRPr/>
            </a:pPr>
            <a:r>
              <a:rPr lang="en-GB" altLang="en-US" sz="2000" dirty="0">
                <a:latin typeface="Times" pitchFamily="2" charset="0"/>
                <a:cs typeface="Courier New" panose="02070309020205020404" pitchFamily="49" charset="0"/>
              </a:rPr>
              <a:t>These functions are very useful with the </a:t>
            </a:r>
            <a:r>
              <a:rPr lang="en-GB" altLang="en-US" sz="2000" b="1" dirty="0">
                <a:latin typeface="Times" pitchFamily="2" charset="0"/>
                <a:cs typeface="Courier New" panose="02070309020205020404" pitchFamily="49" charset="0"/>
              </a:rPr>
              <a:t>input() </a:t>
            </a:r>
            <a:r>
              <a:rPr lang="en-GB" altLang="en-US" sz="2000" dirty="0">
                <a:latin typeface="Times" pitchFamily="2" charset="0"/>
                <a:cs typeface="Courier New" panose="02070309020205020404" pitchFamily="49" charset="0"/>
              </a:rPr>
              <a:t>method. The input() method returns the user input as string even if the data are numbers. Thus, use float() or int() after entering numeric data</a:t>
            </a:r>
          </a:p>
          <a:p>
            <a:endParaRPr lang="en-US" dirty="0"/>
          </a:p>
        </p:txBody>
      </p:sp>
    </p:spTree>
    <p:extLst>
      <p:ext uri="{BB962C8B-B14F-4D97-AF65-F5344CB8AC3E}">
        <p14:creationId xmlns:p14="http://schemas.microsoft.com/office/powerpoint/2010/main" val="33138573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16C00E12-0492-2B50-3701-2AFE26B2576F}"/>
              </a:ext>
            </a:extLst>
          </p:cNvPr>
          <p:cNvSpPr>
            <a:spLocks noGrp="1"/>
          </p:cNvSpPr>
          <p:nvPr>
            <p:ph type="title"/>
          </p:nvPr>
        </p:nvSpPr>
        <p:spPr>
          <a:xfrm>
            <a:off x="66675" y="409576"/>
            <a:ext cx="12058650" cy="857249"/>
          </a:xfrm>
          <a:noFill/>
        </p:spPr>
        <p:txBody>
          <a:bodyPr>
            <a:noAutofit/>
          </a:bodyPr>
          <a:lstStyle/>
          <a:p>
            <a:pPr rtl="0"/>
            <a:r>
              <a:rPr lang="en-US" altLang="en-US" sz="3600" spc="-1" dirty="0">
                <a:solidFill>
                  <a:srgbClr val="333399"/>
                </a:solidFill>
                <a:uFill>
                  <a:solidFill>
                    <a:srgbClr val="FFFFFF"/>
                  </a:solidFill>
                </a:uFill>
                <a:latin typeface="Times" pitchFamily="2" charset="0"/>
                <a:ea typeface="+mn-ea"/>
                <a:cs typeface="+mn-cs"/>
              </a:rPr>
              <a:t>Example</a:t>
            </a:r>
            <a:br>
              <a:rPr lang="en-US" altLang="en-US" sz="3000" b="1" dirty="0">
                <a:solidFill>
                  <a:schemeClr val="accent2"/>
                </a:solidFill>
                <a:latin typeface="+mn-lt"/>
              </a:rPr>
            </a:br>
            <a:endParaRPr lang="en-US" sz="3000" b="1" dirty="0">
              <a:solidFill>
                <a:schemeClr val="accent2"/>
              </a:solidFill>
              <a:latin typeface="+mn-lt"/>
            </a:endParaRPr>
          </a:p>
        </p:txBody>
      </p:sp>
      <p:sp>
        <p:nvSpPr>
          <p:cNvPr id="5" name="Slide Number Placeholder 3">
            <a:extLst>
              <a:ext uri="{FF2B5EF4-FFF2-40B4-BE49-F238E27FC236}">
                <a16:creationId xmlns:a16="http://schemas.microsoft.com/office/drawing/2014/main" id="{4E065CFC-B3E7-32A3-F9F8-6DBC894D4C1B}"/>
              </a:ext>
            </a:extLst>
          </p:cNvPr>
          <p:cNvSpPr>
            <a:spLocks noGrp="1"/>
          </p:cNvSpPr>
          <p:nvPr>
            <p:ph type="sldNum" sz="quarter" idx="12"/>
          </p:nvPr>
        </p:nvSpPr>
        <p:spPr>
          <a:xfrm>
            <a:off x="10899648" y="2272"/>
            <a:ext cx="1016000" cy="365760"/>
          </a:xfrm>
        </p:spPr>
        <p:txBody>
          <a:bodyPr/>
          <a:lstStyle/>
          <a:p>
            <a:fld id="{401CF334-2D5C-4859-84A6-CA7E6E43FAEB}" type="slidenum">
              <a:rPr lang="en-US" smtClean="0"/>
              <a:t>37</a:t>
            </a:fld>
            <a:endParaRPr lang="en-US"/>
          </a:p>
        </p:txBody>
      </p:sp>
      <p:sp>
        <p:nvSpPr>
          <p:cNvPr id="6" name="Content Placeholder 2">
            <a:extLst>
              <a:ext uri="{FF2B5EF4-FFF2-40B4-BE49-F238E27FC236}">
                <a16:creationId xmlns:a16="http://schemas.microsoft.com/office/drawing/2014/main" id="{B458FB16-9248-B5A1-13B4-F6E0B24F860B}"/>
              </a:ext>
            </a:extLst>
          </p:cNvPr>
          <p:cNvSpPr>
            <a:spLocks noGrp="1"/>
          </p:cNvSpPr>
          <p:nvPr>
            <p:ph idx="1"/>
          </p:nvPr>
        </p:nvSpPr>
        <p:spPr>
          <a:xfrm>
            <a:off x="66675" y="1266825"/>
            <a:ext cx="12058650" cy="5524500"/>
          </a:xfrm>
          <a:noFill/>
        </p:spPr>
        <p:txBody>
          <a:bodyPr>
            <a:noAutofit/>
          </a:bodyPr>
          <a:lstStyle/>
          <a:p>
            <a:pPr marL="365760" lvl="1" indent="-256032" algn="l" rtl="0">
              <a:lnSpc>
                <a:spcPct val="150000"/>
              </a:lnSpc>
              <a:buClr>
                <a:schemeClr val="accent3">
                  <a:lumMod val="75000"/>
                </a:schemeClr>
              </a:buClr>
              <a:buFont typeface="Georgia"/>
              <a:buChar char="•"/>
              <a:defRPr/>
            </a:pPr>
            <a:r>
              <a:rPr lang="en-US" altLang="en-US" sz="2500" b="1" dirty="0">
                <a:cs typeface="Courier New" panose="02070309020205020404" pitchFamily="49" charset="0"/>
              </a:rPr>
              <a:t>Add two numbers and print the result</a:t>
            </a:r>
            <a:endParaRPr lang="en-GB" altLang="en-US" sz="2500" b="1" dirty="0">
              <a:cs typeface="Courier New" panose="02070309020205020404" pitchFamily="49" charset="0"/>
            </a:endParaRPr>
          </a:p>
        </p:txBody>
      </p:sp>
      <p:pic>
        <p:nvPicPr>
          <p:cNvPr id="7" name="Picture 6">
            <a:extLst>
              <a:ext uri="{FF2B5EF4-FFF2-40B4-BE49-F238E27FC236}">
                <a16:creationId xmlns:a16="http://schemas.microsoft.com/office/drawing/2014/main" id="{1E57E71A-78E3-AAA7-303B-B154E00D0723}"/>
              </a:ext>
            </a:extLst>
          </p:cNvPr>
          <p:cNvPicPr>
            <a:picLocks noChangeAspect="1"/>
          </p:cNvPicPr>
          <p:nvPr/>
        </p:nvPicPr>
        <p:blipFill rotWithShape="1">
          <a:blip r:embed="rId2"/>
          <a:srcRect l="19856" t="19078" r="49143" b="72444"/>
          <a:stretch/>
        </p:blipFill>
        <p:spPr>
          <a:xfrm>
            <a:off x="781169" y="2797535"/>
            <a:ext cx="10629662" cy="1635128"/>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6957328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186E9D8-0D0F-4977-A652-0B09D61F592C}"/>
              </a:ext>
            </a:extLst>
          </p:cNvPr>
          <p:cNvSpPr>
            <a:spLocks noGrp="1"/>
          </p:cNvSpPr>
          <p:nvPr>
            <p:ph type="title"/>
          </p:nvPr>
        </p:nvSpPr>
        <p:spPr>
          <a:xfrm>
            <a:off x="66675" y="409576"/>
            <a:ext cx="12058650" cy="857249"/>
          </a:xfrm>
          <a:noFill/>
        </p:spPr>
        <p:txBody>
          <a:bodyPr>
            <a:noAutofit/>
          </a:bodyPr>
          <a:lstStyle/>
          <a:p>
            <a:pPr rtl="0"/>
            <a:r>
              <a:rPr lang="en-US" altLang="en-US" sz="3600" spc="-1" dirty="0">
                <a:solidFill>
                  <a:srgbClr val="333399"/>
                </a:solidFill>
                <a:uFill>
                  <a:solidFill>
                    <a:srgbClr val="FFFFFF"/>
                  </a:solidFill>
                </a:uFill>
                <a:latin typeface="Times" pitchFamily="2" charset="0"/>
                <a:ea typeface="+mn-ea"/>
                <a:cs typeface="+mn-cs"/>
              </a:rPr>
              <a:t>Example</a:t>
            </a:r>
            <a:r>
              <a:rPr lang="en-US" altLang="en-US" sz="3200" b="1" dirty="0">
                <a:latin typeface="Times" pitchFamily="2" charset="0"/>
              </a:rPr>
              <a:t> </a:t>
            </a:r>
            <a:br>
              <a:rPr lang="en-US" altLang="en-US" sz="3000" b="1" dirty="0">
                <a:solidFill>
                  <a:schemeClr val="accent2"/>
                </a:solidFill>
                <a:latin typeface="+mn-lt"/>
              </a:rPr>
            </a:br>
            <a:endParaRPr lang="en-US" sz="3000" b="1" dirty="0">
              <a:solidFill>
                <a:schemeClr val="accent2"/>
              </a:solidFill>
              <a:latin typeface="+mn-lt"/>
            </a:endParaRPr>
          </a:p>
        </p:txBody>
      </p:sp>
      <p:sp>
        <p:nvSpPr>
          <p:cNvPr id="5" name="Slide Number Placeholder 3">
            <a:extLst>
              <a:ext uri="{FF2B5EF4-FFF2-40B4-BE49-F238E27FC236}">
                <a16:creationId xmlns:a16="http://schemas.microsoft.com/office/drawing/2014/main" id="{6B9A8D70-ECA5-3256-1334-F4D321FD8AB1}"/>
              </a:ext>
            </a:extLst>
          </p:cNvPr>
          <p:cNvSpPr>
            <a:spLocks noGrp="1"/>
          </p:cNvSpPr>
          <p:nvPr>
            <p:ph type="sldNum" sz="quarter" idx="12"/>
          </p:nvPr>
        </p:nvSpPr>
        <p:spPr>
          <a:xfrm>
            <a:off x="10899648" y="2272"/>
            <a:ext cx="1016000" cy="365760"/>
          </a:xfrm>
        </p:spPr>
        <p:txBody>
          <a:bodyPr/>
          <a:lstStyle/>
          <a:p>
            <a:fld id="{401CF334-2D5C-4859-84A6-CA7E6E43FAEB}" type="slidenum">
              <a:rPr lang="en-US" smtClean="0"/>
              <a:t>38</a:t>
            </a:fld>
            <a:endParaRPr lang="en-US"/>
          </a:p>
        </p:txBody>
      </p:sp>
      <p:sp>
        <p:nvSpPr>
          <p:cNvPr id="6" name="Content Placeholder 2">
            <a:extLst>
              <a:ext uri="{FF2B5EF4-FFF2-40B4-BE49-F238E27FC236}">
                <a16:creationId xmlns:a16="http://schemas.microsoft.com/office/drawing/2014/main" id="{2E4C723F-AD91-E4F4-4337-C5A2C513AE6D}"/>
              </a:ext>
            </a:extLst>
          </p:cNvPr>
          <p:cNvSpPr>
            <a:spLocks noGrp="1"/>
          </p:cNvSpPr>
          <p:nvPr>
            <p:ph idx="1"/>
          </p:nvPr>
        </p:nvSpPr>
        <p:spPr>
          <a:xfrm>
            <a:off x="66675" y="1266825"/>
            <a:ext cx="12058650" cy="5524500"/>
          </a:xfrm>
          <a:noFill/>
        </p:spPr>
        <p:txBody>
          <a:bodyPr>
            <a:noAutofit/>
          </a:bodyPr>
          <a:lstStyle/>
          <a:p>
            <a:pPr marL="365760" lvl="1" indent="-256032" algn="l" rtl="0">
              <a:lnSpc>
                <a:spcPct val="150000"/>
              </a:lnSpc>
              <a:buClr>
                <a:schemeClr val="accent3">
                  <a:lumMod val="75000"/>
                </a:schemeClr>
              </a:buClr>
              <a:buFont typeface="Georgia"/>
              <a:buChar char="•"/>
              <a:defRPr/>
            </a:pPr>
            <a:r>
              <a:rPr lang="en-US" altLang="en-US" sz="2500" b="1" dirty="0">
                <a:cs typeface="Courier New" panose="02070309020205020404" pitchFamily="49" charset="0"/>
              </a:rPr>
              <a:t>Ask for the user's name, age, weight and print it</a:t>
            </a:r>
            <a:endParaRPr lang="en-GB" altLang="en-US" sz="2500" b="1" dirty="0">
              <a:cs typeface="Courier New" panose="02070309020205020404" pitchFamily="49" charset="0"/>
            </a:endParaRPr>
          </a:p>
        </p:txBody>
      </p:sp>
      <p:pic>
        <p:nvPicPr>
          <p:cNvPr id="7" name="Picture 6">
            <a:extLst>
              <a:ext uri="{FF2B5EF4-FFF2-40B4-BE49-F238E27FC236}">
                <a16:creationId xmlns:a16="http://schemas.microsoft.com/office/drawing/2014/main" id="{16BACF74-D1A2-DFA6-EC79-37F321987DCC}"/>
              </a:ext>
            </a:extLst>
          </p:cNvPr>
          <p:cNvPicPr>
            <a:picLocks noChangeAspect="1"/>
          </p:cNvPicPr>
          <p:nvPr/>
        </p:nvPicPr>
        <p:blipFill rotWithShape="1">
          <a:blip r:embed="rId2"/>
          <a:srcRect l="19786" t="19444" r="40500" b="72191"/>
          <a:stretch/>
        </p:blipFill>
        <p:spPr>
          <a:xfrm>
            <a:off x="916194" y="2782068"/>
            <a:ext cx="10359612" cy="1227413"/>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576435421"/>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690</TotalTime>
  <Words>1710</Words>
  <Application>Microsoft Office PowerPoint</Application>
  <PresentationFormat>Widescreen</PresentationFormat>
  <Paragraphs>259</Paragraphs>
  <Slides>38</Slides>
  <Notes>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38</vt:i4>
      </vt:variant>
    </vt:vector>
  </HeadingPairs>
  <TitlesOfParts>
    <vt:vector size="49" baseType="lpstr">
      <vt:lpstr>Aptos</vt:lpstr>
      <vt:lpstr>Arial</vt:lpstr>
      <vt:lpstr>Calibri</vt:lpstr>
      <vt:lpstr>Courier New</vt:lpstr>
      <vt:lpstr>Georgia</vt:lpstr>
      <vt:lpstr>Grandview Display</vt:lpstr>
      <vt:lpstr>Tahoma</vt:lpstr>
      <vt:lpstr>Times</vt:lpstr>
      <vt:lpstr>Times New Roman</vt:lpstr>
      <vt:lpstr>Wingdings</vt:lpstr>
      <vt:lpstr>DashVTI</vt:lpstr>
      <vt:lpstr>CS1011  Computer Programming in Python  </vt:lpstr>
      <vt:lpstr>Essential References </vt:lpstr>
      <vt:lpstr>Assessment</vt:lpstr>
      <vt:lpstr>Objectives </vt:lpstr>
      <vt:lpstr>What is Computational Thinking (CT)?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is Python? </vt:lpstr>
      <vt:lpstr>Why Python?</vt:lpstr>
      <vt:lpstr>Python Components</vt:lpstr>
      <vt:lpstr>Mathematical Operations  </vt:lpstr>
      <vt:lpstr>Variables </vt:lpstr>
      <vt:lpstr>Variables </vt:lpstr>
      <vt:lpstr>Variables: Names Rules</vt:lpstr>
      <vt:lpstr>Variables: Names Rules  </vt:lpstr>
      <vt:lpstr>Constants</vt:lpstr>
      <vt:lpstr>Constants</vt:lpstr>
      <vt:lpstr>Keywords</vt:lpstr>
      <vt:lpstr>Expressions</vt:lpstr>
      <vt:lpstr>Data types: integers, floats, and strings</vt:lpstr>
      <vt:lpstr>input/output (print, input) </vt:lpstr>
      <vt:lpstr>input (input)</vt:lpstr>
      <vt:lpstr>Output (print) </vt:lpstr>
      <vt:lpstr>Example </vt:lpstr>
      <vt:lpstr>Conversion Functions: int(), float() </vt:lpstr>
      <vt:lpstr>Example </vt:lpstr>
      <vt:lpstr>Example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Ebtesam A. Alghamdi</dc:creator>
  <cp:lastModifiedBy>eman alharbi</cp:lastModifiedBy>
  <cp:revision>46</cp:revision>
  <dcterms:created xsi:type="dcterms:W3CDTF">2025-08-29T11:32:31Z</dcterms:created>
  <dcterms:modified xsi:type="dcterms:W3CDTF">2025-08-30T12:54:04Z</dcterms:modified>
</cp:coreProperties>
</file>